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7" r:id="rId2"/>
    <p:sldId id="481" r:id="rId3"/>
    <p:sldId id="483" r:id="rId4"/>
    <p:sldId id="509" r:id="rId5"/>
    <p:sldId id="290" r:id="rId6"/>
    <p:sldId id="494" r:id="rId7"/>
    <p:sldId id="495" r:id="rId8"/>
    <p:sldId id="4665" r:id="rId9"/>
    <p:sldId id="496" r:id="rId10"/>
    <p:sldId id="499" r:id="rId11"/>
    <p:sldId id="4666" r:id="rId12"/>
    <p:sldId id="4667" r:id="rId13"/>
    <p:sldId id="497" r:id="rId14"/>
    <p:sldId id="540" r:id="rId15"/>
    <p:sldId id="594" r:id="rId16"/>
    <p:sldId id="597" r:id="rId17"/>
    <p:sldId id="598" r:id="rId18"/>
    <p:sldId id="4663" r:id="rId19"/>
    <p:sldId id="596" r:id="rId20"/>
    <p:sldId id="552" r:id="rId21"/>
    <p:sldId id="577" r:id="rId22"/>
    <p:sldId id="534" r:id="rId23"/>
    <p:sldId id="600" r:id="rId24"/>
    <p:sldId id="4664" r:id="rId25"/>
  </p:sldIdLst>
  <p:sldSz cx="12192000" cy="6858000"/>
  <p:notesSz cx="6858000" cy="9144000"/>
  <p:defaultText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88"/>
    <p:restoredTop sz="94658"/>
  </p:normalViewPr>
  <p:slideViewPr>
    <p:cSldViewPr snapToGrid="0">
      <p:cViewPr varScale="1">
        <p:scale>
          <a:sx n="120" d="100"/>
          <a:sy n="120" d="100"/>
        </p:scale>
        <p:origin x="504" y="18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49748F-0FE7-C64C-B0B9-9306A54D4824}" type="datetimeFigureOut">
              <a:rPr lang="en-CL" smtClean="0"/>
              <a:t>04-08-26</a:t>
            </a:fld>
            <a:endParaRPr lang="en-C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36E6B2-EC45-1147-8496-DFA2586CC8C4}" type="slidenum">
              <a:rPr lang="en-CL" smtClean="0"/>
              <a:t>‹#›</a:t>
            </a:fld>
            <a:endParaRPr lang="en-CL"/>
          </a:p>
        </p:txBody>
      </p:sp>
    </p:spTree>
    <p:extLst>
      <p:ext uri="{BB962C8B-B14F-4D97-AF65-F5344CB8AC3E}">
        <p14:creationId xmlns:p14="http://schemas.microsoft.com/office/powerpoint/2010/main" val="303457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E8FD062D-3B2E-8A41-9873-26D975095FBE}" type="slidenum">
              <a:rPr lang="en-US"/>
              <a:pPr/>
              <a:t>2</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1602680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5A2240F7-6F1E-9F4C-9E07-A7340A9556CF}" type="slidenum">
              <a:rPr lang="en-US"/>
              <a:pPr/>
              <a:t>3</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s-ES">
              <a:latin typeface="Arial" charset="0"/>
            </a:endParaRPr>
          </a:p>
        </p:txBody>
      </p:sp>
    </p:spTree>
    <p:extLst>
      <p:ext uri="{BB962C8B-B14F-4D97-AF65-F5344CB8AC3E}">
        <p14:creationId xmlns:p14="http://schemas.microsoft.com/office/powerpoint/2010/main" val="368754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5A2240F7-6F1E-9F4C-9E07-A7340A9556CF}" type="slidenum">
              <a:rPr lang="en-US"/>
              <a:pPr/>
              <a:t>4</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s-ES">
              <a:latin typeface="Arial" charset="0"/>
            </a:endParaRPr>
          </a:p>
        </p:txBody>
      </p:sp>
    </p:spTree>
    <p:extLst>
      <p:ext uri="{BB962C8B-B14F-4D97-AF65-F5344CB8AC3E}">
        <p14:creationId xmlns:p14="http://schemas.microsoft.com/office/powerpoint/2010/main" val="11529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09AE7BC3-F9F8-6E4C-ADBA-62FC91F8CFD3}" type="slidenum">
              <a:rPr lang="en-US"/>
              <a:pPr/>
              <a:t>6</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s-ES">
              <a:latin typeface="Arial" charset="0"/>
            </a:endParaRPr>
          </a:p>
        </p:txBody>
      </p:sp>
    </p:spTree>
    <p:extLst>
      <p:ext uri="{BB962C8B-B14F-4D97-AF65-F5344CB8AC3E}">
        <p14:creationId xmlns:p14="http://schemas.microsoft.com/office/powerpoint/2010/main" val="1109344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36AB4ACC-898F-094F-890C-FD5BBBEB5189}" type="slidenum">
              <a:rPr lang="en-US"/>
              <a:pPr/>
              <a:t>7</a:t>
            </a:fld>
            <a:endParaRPr 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97332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66C18-F249-8C35-980B-28CE85EB8A30}"/>
            </a:ext>
          </a:extLst>
        </p:cNvPr>
        <p:cNvGrpSpPr/>
        <p:nvPr/>
      </p:nvGrpSpPr>
      <p:grpSpPr>
        <a:xfrm>
          <a:off x="0" y="0"/>
          <a:ext cx="0" cy="0"/>
          <a:chOff x="0" y="0"/>
          <a:chExt cx="0" cy="0"/>
        </a:xfrm>
      </p:grpSpPr>
      <p:sp>
        <p:nvSpPr>
          <p:cNvPr id="45058" name="Rectangle 7">
            <a:extLst>
              <a:ext uri="{FF2B5EF4-FFF2-40B4-BE49-F238E27FC236}">
                <a16:creationId xmlns:a16="http://schemas.microsoft.com/office/drawing/2014/main" id="{0682013C-746B-AB7B-3FBD-4577917368AA}"/>
              </a:ext>
            </a:extLst>
          </p:cNvPr>
          <p:cNvSpPr>
            <a:spLocks noGrp="1" noChangeArrowheads="1"/>
          </p:cNvSpPr>
          <p:nvPr>
            <p:ph type="sldNum" sz="quarter" idx="5"/>
          </p:nvPr>
        </p:nvSpPr>
        <p:spPr>
          <a:noFill/>
        </p:spPr>
        <p:txBody>
          <a:bodyPr/>
          <a:lstStyle/>
          <a:p>
            <a:fld id="{36AB4ACC-898F-094F-890C-FD5BBBEB5189}" type="slidenum">
              <a:rPr lang="en-US"/>
              <a:pPr/>
              <a:t>8</a:t>
            </a:fld>
            <a:endParaRPr lang="en-US"/>
          </a:p>
        </p:txBody>
      </p:sp>
      <p:sp>
        <p:nvSpPr>
          <p:cNvPr id="45059" name="Rectangle 2">
            <a:extLst>
              <a:ext uri="{FF2B5EF4-FFF2-40B4-BE49-F238E27FC236}">
                <a16:creationId xmlns:a16="http://schemas.microsoft.com/office/drawing/2014/main" id="{C3A4F909-6D52-0193-12CB-453CD064ECCE}"/>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76E72522-155B-1456-307D-A6F2A339A9DF}"/>
              </a:ext>
            </a:extLst>
          </p:cNvPr>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830647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CE623B0D-C2BC-E742-94BB-E3F3E8EB397C}" type="slidenum">
              <a:rPr lang="en-US"/>
              <a:pPr/>
              <a:t>9</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s-ES">
              <a:latin typeface="Arial" charset="0"/>
            </a:endParaRPr>
          </a:p>
        </p:txBody>
      </p:sp>
    </p:spTree>
    <p:extLst>
      <p:ext uri="{BB962C8B-B14F-4D97-AF65-F5344CB8AC3E}">
        <p14:creationId xmlns:p14="http://schemas.microsoft.com/office/powerpoint/2010/main" val="76914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467CBDD7-73D8-9B43-BD1F-1839DCE59A40}" type="slidenum">
              <a:rPr lang="en-US"/>
              <a:pPr/>
              <a:t>10</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1732658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F0C5-E66B-AD71-9371-CF6ED08F1B36}"/>
            </a:ext>
          </a:extLst>
        </p:cNvPr>
        <p:cNvGrpSpPr/>
        <p:nvPr/>
      </p:nvGrpSpPr>
      <p:grpSpPr>
        <a:xfrm>
          <a:off x="0" y="0"/>
          <a:ext cx="0" cy="0"/>
          <a:chOff x="0" y="0"/>
          <a:chExt cx="0" cy="0"/>
        </a:xfrm>
      </p:grpSpPr>
      <p:sp>
        <p:nvSpPr>
          <p:cNvPr id="48130" name="Rectangle 7">
            <a:extLst>
              <a:ext uri="{FF2B5EF4-FFF2-40B4-BE49-F238E27FC236}">
                <a16:creationId xmlns:a16="http://schemas.microsoft.com/office/drawing/2014/main" id="{F3526352-92FC-9722-049F-F6D91C61B3AD}"/>
              </a:ext>
            </a:extLst>
          </p:cNvPr>
          <p:cNvSpPr>
            <a:spLocks noGrp="1" noChangeArrowheads="1"/>
          </p:cNvSpPr>
          <p:nvPr>
            <p:ph type="sldNum" sz="quarter" idx="5"/>
          </p:nvPr>
        </p:nvSpPr>
        <p:spPr>
          <a:noFill/>
        </p:spPr>
        <p:txBody>
          <a:bodyPr/>
          <a:lstStyle/>
          <a:p>
            <a:fld id="{467CBDD7-73D8-9B43-BD1F-1839DCE59A40}" type="slidenum">
              <a:rPr lang="en-US"/>
              <a:pPr/>
              <a:t>11</a:t>
            </a:fld>
            <a:endParaRPr lang="en-US"/>
          </a:p>
        </p:txBody>
      </p:sp>
      <p:sp>
        <p:nvSpPr>
          <p:cNvPr id="48131" name="Rectangle 2">
            <a:extLst>
              <a:ext uri="{FF2B5EF4-FFF2-40B4-BE49-F238E27FC236}">
                <a16:creationId xmlns:a16="http://schemas.microsoft.com/office/drawing/2014/main" id="{F1A2A55C-7C39-E6CD-7A58-B705BCCA1CE2}"/>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02F22295-B493-CAD1-7568-CDFE0ACC9923}"/>
              </a:ext>
            </a:extLst>
          </p:cNvPr>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419597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FAFA9-F19D-F258-A073-283E5B4D12B9}"/>
            </a:ext>
          </a:extLst>
        </p:cNvPr>
        <p:cNvGrpSpPr/>
        <p:nvPr/>
      </p:nvGrpSpPr>
      <p:grpSpPr>
        <a:xfrm>
          <a:off x="0" y="0"/>
          <a:ext cx="0" cy="0"/>
          <a:chOff x="0" y="0"/>
          <a:chExt cx="0" cy="0"/>
        </a:xfrm>
      </p:grpSpPr>
      <p:sp>
        <p:nvSpPr>
          <p:cNvPr id="48130" name="Rectangle 7">
            <a:extLst>
              <a:ext uri="{FF2B5EF4-FFF2-40B4-BE49-F238E27FC236}">
                <a16:creationId xmlns:a16="http://schemas.microsoft.com/office/drawing/2014/main" id="{EC5A5914-89E8-231F-0DEC-65DB63CC8CE0}"/>
              </a:ext>
            </a:extLst>
          </p:cNvPr>
          <p:cNvSpPr>
            <a:spLocks noGrp="1" noChangeArrowheads="1"/>
          </p:cNvSpPr>
          <p:nvPr>
            <p:ph type="sldNum" sz="quarter" idx="5"/>
          </p:nvPr>
        </p:nvSpPr>
        <p:spPr>
          <a:noFill/>
        </p:spPr>
        <p:txBody>
          <a:bodyPr/>
          <a:lstStyle/>
          <a:p>
            <a:fld id="{467CBDD7-73D8-9B43-BD1F-1839DCE59A40}" type="slidenum">
              <a:rPr lang="en-US"/>
              <a:pPr/>
              <a:t>12</a:t>
            </a:fld>
            <a:endParaRPr lang="en-US"/>
          </a:p>
        </p:txBody>
      </p:sp>
      <p:sp>
        <p:nvSpPr>
          <p:cNvPr id="48131" name="Rectangle 2">
            <a:extLst>
              <a:ext uri="{FF2B5EF4-FFF2-40B4-BE49-F238E27FC236}">
                <a16:creationId xmlns:a16="http://schemas.microsoft.com/office/drawing/2014/main" id="{D2C71209-E1B8-1ACF-0DF2-8CF1BB5C9233}"/>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0BC4EB6E-96C2-4FD1-B8BE-66DCA426AC5B}"/>
              </a:ext>
            </a:extLst>
          </p:cNvPr>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3769752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632ACF5-D53C-164B-A5FB-68C4E461EBF3}" type="slidenum">
              <a:rPr lang="en-US"/>
              <a:pPr/>
              <a:t>13</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915173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L" dirty="0"/>
          </a:p>
        </p:txBody>
      </p:sp>
      <p:sp>
        <p:nvSpPr>
          <p:cNvPr id="4" name="Slide Number Placeholder 3"/>
          <p:cNvSpPr>
            <a:spLocks noGrp="1"/>
          </p:cNvSpPr>
          <p:nvPr>
            <p:ph type="sldNum" sz="quarter" idx="5"/>
          </p:nvPr>
        </p:nvSpPr>
        <p:spPr/>
        <p:txBody>
          <a:bodyPr/>
          <a:lstStyle/>
          <a:p>
            <a:fld id="{21E492AF-BD28-844A-9AE6-7501834C0083}" type="slidenum">
              <a:rPr lang="en-US" smtClean="0"/>
              <a:pPr/>
              <a:t>15</a:t>
            </a:fld>
            <a:endParaRPr lang="en-US"/>
          </a:p>
        </p:txBody>
      </p:sp>
    </p:spTree>
    <p:extLst>
      <p:ext uri="{BB962C8B-B14F-4D97-AF65-F5344CB8AC3E}">
        <p14:creationId xmlns:p14="http://schemas.microsoft.com/office/powerpoint/2010/main" val="2732349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L" dirty="0"/>
          </a:p>
        </p:txBody>
      </p:sp>
      <p:sp>
        <p:nvSpPr>
          <p:cNvPr id="4" name="Slide Number Placeholder 3"/>
          <p:cNvSpPr>
            <a:spLocks noGrp="1"/>
          </p:cNvSpPr>
          <p:nvPr>
            <p:ph type="sldNum" sz="quarter" idx="5"/>
          </p:nvPr>
        </p:nvSpPr>
        <p:spPr/>
        <p:txBody>
          <a:bodyPr/>
          <a:lstStyle/>
          <a:p>
            <a:fld id="{21E492AF-BD28-844A-9AE6-7501834C0083}" type="slidenum">
              <a:rPr lang="en-US" smtClean="0"/>
              <a:pPr/>
              <a:t>17</a:t>
            </a:fld>
            <a:endParaRPr lang="en-US" dirty="0"/>
          </a:p>
        </p:txBody>
      </p:sp>
    </p:spTree>
    <p:extLst>
      <p:ext uri="{BB962C8B-B14F-4D97-AF65-F5344CB8AC3E}">
        <p14:creationId xmlns:p14="http://schemas.microsoft.com/office/powerpoint/2010/main" val="2310774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632ACF5-D53C-164B-A5FB-68C4E461EBF3}" type="slidenum">
              <a:rPr lang="en-US"/>
              <a:pPr/>
              <a:t>20</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449021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632ACF5-D53C-164B-A5FB-68C4E461EBF3}" type="slidenum">
              <a:rPr lang="en-US"/>
              <a:pPr/>
              <a:t>21</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385207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L" dirty="0"/>
          </a:p>
        </p:txBody>
      </p:sp>
      <p:sp>
        <p:nvSpPr>
          <p:cNvPr id="4" name="Slide Number Placeholder 3"/>
          <p:cNvSpPr>
            <a:spLocks noGrp="1"/>
          </p:cNvSpPr>
          <p:nvPr>
            <p:ph type="sldNum" sz="quarter" idx="5"/>
          </p:nvPr>
        </p:nvSpPr>
        <p:spPr/>
        <p:txBody>
          <a:bodyPr/>
          <a:lstStyle/>
          <a:p>
            <a:fld id="{21E492AF-BD28-844A-9AE6-7501834C0083}" type="slidenum">
              <a:rPr lang="en-US" smtClean="0"/>
              <a:pPr/>
              <a:t>22</a:t>
            </a:fld>
            <a:endParaRPr lang="en-US"/>
          </a:p>
        </p:txBody>
      </p:sp>
    </p:spTree>
    <p:extLst>
      <p:ext uri="{BB962C8B-B14F-4D97-AF65-F5344CB8AC3E}">
        <p14:creationId xmlns:p14="http://schemas.microsoft.com/office/powerpoint/2010/main" val="4108146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902F1-DD15-4FF7-88A2-CC447A475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D4703-E691-FD99-6EBE-5EF0E4A28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D624E-E8C7-E4FF-3862-A9FB984DC477}"/>
              </a:ext>
            </a:extLst>
          </p:cNvPr>
          <p:cNvSpPr>
            <a:spLocks noGrp="1"/>
          </p:cNvSpPr>
          <p:nvPr>
            <p:ph type="body" idx="1"/>
          </p:nvPr>
        </p:nvSpPr>
        <p:spPr/>
        <p:txBody>
          <a:bodyPr/>
          <a:lstStyle/>
          <a:p>
            <a:endParaRPr lang="en-CL" dirty="0"/>
          </a:p>
        </p:txBody>
      </p:sp>
      <p:sp>
        <p:nvSpPr>
          <p:cNvPr id="4" name="Slide Number Placeholder 3">
            <a:extLst>
              <a:ext uri="{FF2B5EF4-FFF2-40B4-BE49-F238E27FC236}">
                <a16:creationId xmlns:a16="http://schemas.microsoft.com/office/drawing/2014/main" id="{433DC2B4-DEC3-C83A-8852-328E6EFA9180}"/>
              </a:ext>
            </a:extLst>
          </p:cNvPr>
          <p:cNvSpPr>
            <a:spLocks noGrp="1"/>
          </p:cNvSpPr>
          <p:nvPr>
            <p:ph type="sldNum" sz="quarter" idx="5"/>
          </p:nvPr>
        </p:nvSpPr>
        <p:spPr/>
        <p:txBody>
          <a:bodyPr/>
          <a:lstStyle/>
          <a:p>
            <a:fld id="{21E492AF-BD28-844A-9AE6-7501834C0083}" type="slidenum">
              <a:rPr lang="en-US" smtClean="0"/>
              <a:pPr/>
              <a:t>23</a:t>
            </a:fld>
            <a:endParaRPr lang="en-US"/>
          </a:p>
        </p:txBody>
      </p:sp>
    </p:spTree>
    <p:extLst>
      <p:ext uri="{BB962C8B-B14F-4D97-AF65-F5344CB8AC3E}">
        <p14:creationId xmlns:p14="http://schemas.microsoft.com/office/powerpoint/2010/main" val="1276270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6A47-EAE9-1F6B-8FCB-0AE66FE94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5511A-ECDA-524F-3F07-552B7799DF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896A6F-FAFA-245F-028F-B85076D62A18}"/>
              </a:ext>
            </a:extLst>
          </p:cNvPr>
          <p:cNvSpPr>
            <a:spLocks noGrp="1"/>
          </p:cNvSpPr>
          <p:nvPr>
            <p:ph type="body" idx="1"/>
          </p:nvPr>
        </p:nvSpPr>
        <p:spPr/>
        <p:txBody>
          <a:bodyPr/>
          <a:lstStyle/>
          <a:p>
            <a:endParaRPr lang="en-CL" dirty="0"/>
          </a:p>
        </p:txBody>
      </p:sp>
      <p:sp>
        <p:nvSpPr>
          <p:cNvPr id="4" name="Slide Number Placeholder 3">
            <a:extLst>
              <a:ext uri="{FF2B5EF4-FFF2-40B4-BE49-F238E27FC236}">
                <a16:creationId xmlns:a16="http://schemas.microsoft.com/office/drawing/2014/main" id="{5D6A0A14-C6EE-D313-E3C6-3ABFFDF878C3}"/>
              </a:ext>
            </a:extLst>
          </p:cNvPr>
          <p:cNvSpPr>
            <a:spLocks noGrp="1"/>
          </p:cNvSpPr>
          <p:nvPr>
            <p:ph type="sldNum" sz="quarter" idx="5"/>
          </p:nvPr>
        </p:nvSpPr>
        <p:spPr/>
        <p:txBody>
          <a:bodyPr/>
          <a:lstStyle/>
          <a:p>
            <a:fld id="{21E492AF-BD28-844A-9AE6-7501834C0083}" type="slidenum">
              <a:rPr lang="en-US" smtClean="0"/>
              <a:pPr/>
              <a:t>24</a:t>
            </a:fld>
            <a:endParaRPr lang="en-US"/>
          </a:p>
        </p:txBody>
      </p:sp>
    </p:spTree>
    <p:extLst>
      <p:ext uri="{BB962C8B-B14F-4D97-AF65-F5344CB8AC3E}">
        <p14:creationId xmlns:p14="http://schemas.microsoft.com/office/powerpoint/2010/main" val="1127994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B8DC0-3787-B971-5D00-8727CB18C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L"/>
          </a:p>
        </p:txBody>
      </p:sp>
      <p:sp>
        <p:nvSpPr>
          <p:cNvPr id="3" name="Subtitle 2">
            <a:extLst>
              <a:ext uri="{FF2B5EF4-FFF2-40B4-BE49-F238E27FC236}">
                <a16:creationId xmlns:a16="http://schemas.microsoft.com/office/drawing/2014/main" id="{084A3FB4-AFDF-6CFB-84FB-E0438C517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L"/>
          </a:p>
        </p:txBody>
      </p:sp>
      <p:sp>
        <p:nvSpPr>
          <p:cNvPr id="4" name="Date Placeholder 3">
            <a:extLst>
              <a:ext uri="{FF2B5EF4-FFF2-40B4-BE49-F238E27FC236}">
                <a16:creationId xmlns:a16="http://schemas.microsoft.com/office/drawing/2014/main" id="{C32F51BE-7742-8427-323B-6746C927646C}"/>
              </a:ext>
            </a:extLst>
          </p:cNvPr>
          <p:cNvSpPr>
            <a:spLocks noGrp="1"/>
          </p:cNvSpPr>
          <p:nvPr>
            <p:ph type="dt" sz="half" idx="10"/>
          </p:nvPr>
        </p:nvSpPr>
        <p:spPr/>
        <p:txBody>
          <a:bodyPr/>
          <a:lstStyle/>
          <a:p>
            <a:r>
              <a:rPr lang="en-US"/>
              <a:t>(c) D.Mery - PR00</a:t>
            </a:r>
            <a:endParaRPr lang="en-CL"/>
          </a:p>
        </p:txBody>
      </p:sp>
      <p:sp>
        <p:nvSpPr>
          <p:cNvPr id="5" name="Footer Placeholder 4">
            <a:extLst>
              <a:ext uri="{FF2B5EF4-FFF2-40B4-BE49-F238E27FC236}">
                <a16:creationId xmlns:a16="http://schemas.microsoft.com/office/drawing/2014/main" id="{6317082A-B0F6-05B3-4148-6F125B3BECC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C935BB3A-30A8-1717-EEEF-CCDD19DE170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40187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5084-85EB-0ADC-D7F0-0DA592CEDEB0}"/>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0EA50CEA-EC43-5349-1EBB-8F562F4E7D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7A6EC922-A7D2-9731-7041-D7AC6FB838AD}"/>
              </a:ext>
            </a:extLst>
          </p:cNvPr>
          <p:cNvSpPr>
            <a:spLocks noGrp="1"/>
          </p:cNvSpPr>
          <p:nvPr>
            <p:ph type="dt" sz="half" idx="10"/>
          </p:nvPr>
        </p:nvSpPr>
        <p:spPr/>
        <p:txBody>
          <a:bodyPr/>
          <a:lstStyle/>
          <a:p>
            <a:r>
              <a:rPr lang="en-US"/>
              <a:t>(c) D.Mery - PR00</a:t>
            </a:r>
            <a:endParaRPr lang="en-CL"/>
          </a:p>
        </p:txBody>
      </p:sp>
      <p:sp>
        <p:nvSpPr>
          <p:cNvPr id="5" name="Footer Placeholder 4">
            <a:extLst>
              <a:ext uri="{FF2B5EF4-FFF2-40B4-BE49-F238E27FC236}">
                <a16:creationId xmlns:a16="http://schemas.microsoft.com/office/drawing/2014/main" id="{5B7AEC05-6729-F167-4DA1-FB23E0490BAE}"/>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46505FA-C70E-C130-A20D-DB301157A75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7885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4697-BA84-150B-4C2D-F847137962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L"/>
          </a:p>
        </p:txBody>
      </p:sp>
      <p:sp>
        <p:nvSpPr>
          <p:cNvPr id="3" name="Text Placeholder 2">
            <a:extLst>
              <a:ext uri="{FF2B5EF4-FFF2-40B4-BE49-F238E27FC236}">
                <a16:creationId xmlns:a16="http://schemas.microsoft.com/office/drawing/2014/main" id="{AB49B2F4-202A-2BB1-535C-1A428E58FC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0EE603-A515-38A5-01CB-993F9D3E6C11}"/>
              </a:ext>
            </a:extLst>
          </p:cNvPr>
          <p:cNvSpPr>
            <a:spLocks noGrp="1"/>
          </p:cNvSpPr>
          <p:nvPr>
            <p:ph type="dt" sz="half" idx="10"/>
          </p:nvPr>
        </p:nvSpPr>
        <p:spPr/>
        <p:txBody>
          <a:bodyPr/>
          <a:lstStyle/>
          <a:p>
            <a:r>
              <a:rPr lang="en-US"/>
              <a:t>(c) D.Mery - PR00</a:t>
            </a:r>
            <a:endParaRPr lang="en-CL"/>
          </a:p>
        </p:txBody>
      </p:sp>
      <p:sp>
        <p:nvSpPr>
          <p:cNvPr id="5" name="Footer Placeholder 4">
            <a:extLst>
              <a:ext uri="{FF2B5EF4-FFF2-40B4-BE49-F238E27FC236}">
                <a16:creationId xmlns:a16="http://schemas.microsoft.com/office/drawing/2014/main" id="{EC6D1643-6231-F3E2-610F-D775A2BB96F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FD27DCF5-082A-FB09-50BE-837F0ACE123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2326779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9F8F-3D31-5054-B98B-32951A347397}"/>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28C103B9-D8C0-4B32-EE45-9BD12EF747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Content Placeholder 3">
            <a:extLst>
              <a:ext uri="{FF2B5EF4-FFF2-40B4-BE49-F238E27FC236}">
                <a16:creationId xmlns:a16="http://schemas.microsoft.com/office/drawing/2014/main" id="{7652F047-75A3-523A-D879-40B2EDA8D1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Date Placeholder 4">
            <a:extLst>
              <a:ext uri="{FF2B5EF4-FFF2-40B4-BE49-F238E27FC236}">
                <a16:creationId xmlns:a16="http://schemas.microsoft.com/office/drawing/2014/main" id="{8E9FB8B8-5B4E-1775-617E-5E75D094A47B}"/>
              </a:ext>
            </a:extLst>
          </p:cNvPr>
          <p:cNvSpPr>
            <a:spLocks noGrp="1"/>
          </p:cNvSpPr>
          <p:nvPr>
            <p:ph type="dt" sz="half" idx="10"/>
          </p:nvPr>
        </p:nvSpPr>
        <p:spPr/>
        <p:txBody>
          <a:bodyPr/>
          <a:lstStyle/>
          <a:p>
            <a:r>
              <a:rPr lang="en-US"/>
              <a:t>(c) D.Mery - PR00</a:t>
            </a:r>
            <a:endParaRPr lang="en-CL"/>
          </a:p>
        </p:txBody>
      </p:sp>
      <p:sp>
        <p:nvSpPr>
          <p:cNvPr id="6" name="Footer Placeholder 5">
            <a:extLst>
              <a:ext uri="{FF2B5EF4-FFF2-40B4-BE49-F238E27FC236}">
                <a16:creationId xmlns:a16="http://schemas.microsoft.com/office/drawing/2014/main" id="{0CB9D2B7-35C0-0726-D40B-546E245F6FDA}"/>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DC310F33-EF19-5FAC-1C0C-CC049E95FBB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6502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2880C-73E3-54CD-F870-565E8A1B15FC}"/>
              </a:ext>
            </a:extLst>
          </p:cNvPr>
          <p:cNvSpPr>
            <a:spLocks noGrp="1"/>
          </p:cNvSpPr>
          <p:nvPr>
            <p:ph type="title"/>
          </p:nvPr>
        </p:nvSpPr>
        <p:spPr>
          <a:xfrm>
            <a:off x="839788" y="365125"/>
            <a:ext cx="10515600" cy="1325563"/>
          </a:xfrm>
        </p:spPr>
        <p:txBody>
          <a:bodyPr/>
          <a:lstStyle/>
          <a:p>
            <a:r>
              <a:rPr lang="en-US"/>
              <a:t>Click to edit Master title style</a:t>
            </a:r>
            <a:endParaRPr lang="en-CL"/>
          </a:p>
        </p:txBody>
      </p:sp>
      <p:sp>
        <p:nvSpPr>
          <p:cNvPr id="3" name="Text Placeholder 2">
            <a:extLst>
              <a:ext uri="{FF2B5EF4-FFF2-40B4-BE49-F238E27FC236}">
                <a16:creationId xmlns:a16="http://schemas.microsoft.com/office/drawing/2014/main" id="{FA35B4E4-4FDE-76FD-67FE-AC9066C11E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CE05A7-4548-3D67-22C7-AE2D1FA325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Text Placeholder 4">
            <a:extLst>
              <a:ext uri="{FF2B5EF4-FFF2-40B4-BE49-F238E27FC236}">
                <a16:creationId xmlns:a16="http://schemas.microsoft.com/office/drawing/2014/main" id="{B123D907-7359-B8EC-9C20-35EBC1A8C6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E90DD8-E513-9D1B-B62B-8CD564AF8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7" name="Date Placeholder 6">
            <a:extLst>
              <a:ext uri="{FF2B5EF4-FFF2-40B4-BE49-F238E27FC236}">
                <a16:creationId xmlns:a16="http://schemas.microsoft.com/office/drawing/2014/main" id="{7B7A1F58-D509-1FFB-BFE0-0B0A48435D6B}"/>
              </a:ext>
            </a:extLst>
          </p:cNvPr>
          <p:cNvSpPr>
            <a:spLocks noGrp="1"/>
          </p:cNvSpPr>
          <p:nvPr>
            <p:ph type="dt" sz="half" idx="10"/>
          </p:nvPr>
        </p:nvSpPr>
        <p:spPr/>
        <p:txBody>
          <a:bodyPr/>
          <a:lstStyle/>
          <a:p>
            <a:r>
              <a:rPr lang="en-US"/>
              <a:t>(c) D.Mery - PR00</a:t>
            </a:r>
            <a:endParaRPr lang="en-CL"/>
          </a:p>
        </p:txBody>
      </p:sp>
      <p:sp>
        <p:nvSpPr>
          <p:cNvPr id="8" name="Footer Placeholder 7">
            <a:extLst>
              <a:ext uri="{FF2B5EF4-FFF2-40B4-BE49-F238E27FC236}">
                <a16:creationId xmlns:a16="http://schemas.microsoft.com/office/drawing/2014/main" id="{F61A7296-B85D-0D25-EB6E-7FAF5D12D145}"/>
              </a:ext>
            </a:extLst>
          </p:cNvPr>
          <p:cNvSpPr>
            <a:spLocks noGrp="1"/>
          </p:cNvSpPr>
          <p:nvPr>
            <p:ph type="ftr" sz="quarter" idx="11"/>
          </p:nvPr>
        </p:nvSpPr>
        <p:spPr/>
        <p:txBody>
          <a:bodyPr/>
          <a:lstStyle/>
          <a:p>
            <a:endParaRPr lang="en-CL"/>
          </a:p>
        </p:txBody>
      </p:sp>
      <p:sp>
        <p:nvSpPr>
          <p:cNvPr id="9" name="Slide Number Placeholder 8">
            <a:extLst>
              <a:ext uri="{FF2B5EF4-FFF2-40B4-BE49-F238E27FC236}">
                <a16:creationId xmlns:a16="http://schemas.microsoft.com/office/drawing/2014/main" id="{7531504A-0C9E-5FD4-88B8-34EEA657446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40050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930F-82FE-3339-6D9E-1DCC65EE1D2C}"/>
              </a:ext>
            </a:extLst>
          </p:cNvPr>
          <p:cNvSpPr>
            <a:spLocks noGrp="1"/>
          </p:cNvSpPr>
          <p:nvPr>
            <p:ph type="title"/>
          </p:nvPr>
        </p:nvSpPr>
        <p:spPr/>
        <p:txBody>
          <a:bodyPr/>
          <a:lstStyle/>
          <a:p>
            <a:r>
              <a:rPr lang="en-US"/>
              <a:t>Click to edit Master title style</a:t>
            </a:r>
            <a:endParaRPr lang="en-CL"/>
          </a:p>
        </p:txBody>
      </p:sp>
      <p:sp>
        <p:nvSpPr>
          <p:cNvPr id="3" name="Date Placeholder 2">
            <a:extLst>
              <a:ext uri="{FF2B5EF4-FFF2-40B4-BE49-F238E27FC236}">
                <a16:creationId xmlns:a16="http://schemas.microsoft.com/office/drawing/2014/main" id="{411259F5-F978-F338-03E4-3952DD8EFFD7}"/>
              </a:ext>
            </a:extLst>
          </p:cNvPr>
          <p:cNvSpPr>
            <a:spLocks noGrp="1"/>
          </p:cNvSpPr>
          <p:nvPr>
            <p:ph type="dt" sz="half" idx="10"/>
          </p:nvPr>
        </p:nvSpPr>
        <p:spPr/>
        <p:txBody>
          <a:bodyPr/>
          <a:lstStyle/>
          <a:p>
            <a:r>
              <a:rPr lang="en-US"/>
              <a:t>(c) D.Mery - PR00</a:t>
            </a:r>
            <a:endParaRPr lang="en-CL"/>
          </a:p>
        </p:txBody>
      </p:sp>
      <p:sp>
        <p:nvSpPr>
          <p:cNvPr id="4" name="Footer Placeholder 3">
            <a:extLst>
              <a:ext uri="{FF2B5EF4-FFF2-40B4-BE49-F238E27FC236}">
                <a16:creationId xmlns:a16="http://schemas.microsoft.com/office/drawing/2014/main" id="{0BFFF779-7E7D-359E-E5CD-14EA90664F4F}"/>
              </a:ext>
            </a:extLst>
          </p:cNvPr>
          <p:cNvSpPr>
            <a:spLocks noGrp="1"/>
          </p:cNvSpPr>
          <p:nvPr>
            <p:ph type="ftr" sz="quarter" idx="11"/>
          </p:nvPr>
        </p:nvSpPr>
        <p:spPr/>
        <p:txBody>
          <a:bodyPr/>
          <a:lstStyle/>
          <a:p>
            <a:endParaRPr lang="en-CL"/>
          </a:p>
        </p:txBody>
      </p:sp>
      <p:sp>
        <p:nvSpPr>
          <p:cNvPr id="5" name="Slide Number Placeholder 4">
            <a:extLst>
              <a:ext uri="{FF2B5EF4-FFF2-40B4-BE49-F238E27FC236}">
                <a16:creationId xmlns:a16="http://schemas.microsoft.com/office/drawing/2014/main" id="{C73397C7-7E22-651A-C048-37C544FF4C5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62750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637C7D-F2B3-C204-E8FB-4C5FB6A76753}"/>
              </a:ext>
            </a:extLst>
          </p:cNvPr>
          <p:cNvSpPr>
            <a:spLocks noGrp="1"/>
          </p:cNvSpPr>
          <p:nvPr>
            <p:ph type="dt" sz="half" idx="10"/>
          </p:nvPr>
        </p:nvSpPr>
        <p:spPr/>
        <p:txBody>
          <a:bodyPr/>
          <a:lstStyle/>
          <a:p>
            <a:r>
              <a:rPr lang="en-US"/>
              <a:t>(c) D.Mery - PR00</a:t>
            </a:r>
            <a:endParaRPr lang="en-CL"/>
          </a:p>
        </p:txBody>
      </p:sp>
      <p:sp>
        <p:nvSpPr>
          <p:cNvPr id="3" name="Footer Placeholder 2">
            <a:extLst>
              <a:ext uri="{FF2B5EF4-FFF2-40B4-BE49-F238E27FC236}">
                <a16:creationId xmlns:a16="http://schemas.microsoft.com/office/drawing/2014/main" id="{6EEFEE0D-AE5F-8253-4CF5-C157DB29DA07}"/>
              </a:ext>
            </a:extLst>
          </p:cNvPr>
          <p:cNvSpPr>
            <a:spLocks noGrp="1"/>
          </p:cNvSpPr>
          <p:nvPr>
            <p:ph type="ftr" sz="quarter" idx="11"/>
          </p:nvPr>
        </p:nvSpPr>
        <p:spPr/>
        <p:txBody>
          <a:bodyPr/>
          <a:lstStyle/>
          <a:p>
            <a:endParaRPr lang="en-CL"/>
          </a:p>
        </p:txBody>
      </p:sp>
      <p:sp>
        <p:nvSpPr>
          <p:cNvPr id="4" name="Slide Number Placeholder 3">
            <a:extLst>
              <a:ext uri="{FF2B5EF4-FFF2-40B4-BE49-F238E27FC236}">
                <a16:creationId xmlns:a16="http://schemas.microsoft.com/office/drawing/2014/main" id="{11587494-01E2-375D-3A6E-278594CEBEA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1766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A152-0160-E38E-9640-CE00E472C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Content Placeholder 2">
            <a:extLst>
              <a:ext uri="{FF2B5EF4-FFF2-40B4-BE49-F238E27FC236}">
                <a16:creationId xmlns:a16="http://schemas.microsoft.com/office/drawing/2014/main" id="{B6EEA249-D00C-C8BF-F952-C8F00CAC9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Text Placeholder 3">
            <a:extLst>
              <a:ext uri="{FF2B5EF4-FFF2-40B4-BE49-F238E27FC236}">
                <a16:creationId xmlns:a16="http://schemas.microsoft.com/office/drawing/2014/main" id="{C548AD5D-DACB-DF63-8FE5-FD4EB5F1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DFD239-CEB5-6239-AE07-3B04DD523BF6}"/>
              </a:ext>
            </a:extLst>
          </p:cNvPr>
          <p:cNvSpPr>
            <a:spLocks noGrp="1"/>
          </p:cNvSpPr>
          <p:nvPr>
            <p:ph type="dt" sz="half" idx="10"/>
          </p:nvPr>
        </p:nvSpPr>
        <p:spPr/>
        <p:txBody>
          <a:bodyPr/>
          <a:lstStyle/>
          <a:p>
            <a:r>
              <a:rPr lang="en-US"/>
              <a:t>(c) D.Mery - PR00</a:t>
            </a:r>
            <a:endParaRPr lang="en-CL"/>
          </a:p>
        </p:txBody>
      </p:sp>
      <p:sp>
        <p:nvSpPr>
          <p:cNvPr id="6" name="Footer Placeholder 5">
            <a:extLst>
              <a:ext uri="{FF2B5EF4-FFF2-40B4-BE49-F238E27FC236}">
                <a16:creationId xmlns:a16="http://schemas.microsoft.com/office/drawing/2014/main" id="{3D6E91D8-CA73-7BEA-3043-ED8929AA7CF7}"/>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FFBF3F48-2CE1-5E7C-C6F3-86C5FE51C9E3}"/>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170426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2A3-0F8B-CC16-20BE-CAA209EB5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Picture Placeholder 2">
            <a:extLst>
              <a:ext uri="{FF2B5EF4-FFF2-40B4-BE49-F238E27FC236}">
                <a16:creationId xmlns:a16="http://schemas.microsoft.com/office/drawing/2014/main" id="{F553BF4D-06F1-F555-7BCE-8DDE12ECAC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L"/>
          </a:p>
        </p:txBody>
      </p:sp>
      <p:sp>
        <p:nvSpPr>
          <p:cNvPr id="4" name="Text Placeholder 3">
            <a:extLst>
              <a:ext uri="{FF2B5EF4-FFF2-40B4-BE49-F238E27FC236}">
                <a16:creationId xmlns:a16="http://schemas.microsoft.com/office/drawing/2014/main" id="{1578D79A-13B1-0A13-045B-552423534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F8041-19BA-61C7-2614-452EAEA62249}"/>
              </a:ext>
            </a:extLst>
          </p:cNvPr>
          <p:cNvSpPr>
            <a:spLocks noGrp="1"/>
          </p:cNvSpPr>
          <p:nvPr>
            <p:ph type="dt" sz="half" idx="10"/>
          </p:nvPr>
        </p:nvSpPr>
        <p:spPr/>
        <p:txBody>
          <a:bodyPr/>
          <a:lstStyle/>
          <a:p>
            <a:r>
              <a:rPr lang="en-US"/>
              <a:t>(c) D.Mery - PR00</a:t>
            </a:r>
            <a:endParaRPr lang="en-CL"/>
          </a:p>
        </p:txBody>
      </p:sp>
      <p:sp>
        <p:nvSpPr>
          <p:cNvPr id="6" name="Footer Placeholder 5">
            <a:extLst>
              <a:ext uri="{FF2B5EF4-FFF2-40B4-BE49-F238E27FC236}">
                <a16:creationId xmlns:a16="http://schemas.microsoft.com/office/drawing/2014/main" id="{892DDC1A-06C5-55BB-AD73-4558907A0BE0}"/>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04EA2152-78EF-2AC4-BAFC-1632F3AC7D3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33367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0AD8-C101-EB20-BB37-5C26D22B6B1B}"/>
              </a:ext>
            </a:extLst>
          </p:cNvPr>
          <p:cNvSpPr>
            <a:spLocks noGrp="1"/>
          </p:cNvSpPr>
          <p:nvPr>
            <p:ph type="title"/>
          </p:nvPr>
        </p:nvSpPr>
        <p:spPr/>
        <p:txBody>
          <a:bodyPr/>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4F2D8A52-99B4-C6B9-B1AB-C4AEFAF4B4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41B50266-8A1C-5C52-C130-674316BD038B}"/>
              </a:ext>
            </a:extLst>
          </p:cNvPr>
          <p:cNvSpPr>
            <a:spLocks noGrp="1"/>
          </p:cNvSpPr>
          <p:nvPr>
            <p:ph type="dt" sz="half" idx="10"/>
          </p:nvPr>
        </p:nvSpPr>
        <p:spPr/>
        <p:txBody>
          <a:bodyPr/>
          <a:lstStyle/>
          <a:p>
            <a:r>
              <a:rPr lang="en-US"/>
              <a:t>(c) D.Mery - PR00</a:t>
            </a:r>
            <a:endParaRPr lang="en-CL"/>
          </a:p>
        </p:txBody>
      </p:sp>
      <p:sp>
        <p:nvSpPr>
          <p:cNvPr id="5" name="Footer Placeholder 4">
            <a:extLst>
              <a:ext uri="{FF2B5EF4-FFF2-40B4-BE49-F238E27FC236}">
                <a16:creationId xmlns:a16="http://schemas.microsoft.com/office/drawing/2014/main" id="{8B48F916-6B33-A387-4535-E912E9B6DC70}"/>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0D0DE79-9DC5-1075-5BCE-A06034D3D1EA}"/>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11173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487A33-D0CF-C093-B49B-3DC54A000A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A71C567E-C21C-371B-9E0F-758B9066F6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DB7ED834-5694-C52C-4AFB-CC7182B18318}"/>
              </a:ext>
            </a:extLst>
          </p:cNvPr>
          <p:cNvSpPr>
            <a:spLocks noGrp="1"/>
          </p:cNvSpPr>
          <p:nvPr>
            <p:ph type="dt" sz="half" idx="10"/>
          </p:nvPr>
        </p:nvSpPr>
        <p:spPr/>
        <p:txBody>
          <a:bodyPr/>
          <a:lstStyle/>
          <a:p>
            <a:r>
              <a:rPr lang="en-US"/>
              <a:t>(c) D.Mery - PR00</a:t>
            </a:r>
            <a:endParaRPr lang="en-CL"/>
          </a:p>
        </p:txBody>
      </p:sp>
      <p:sp>
        <p:nvSpPr>
          <p:cNvPr id="5" name="Footer Placeholder 4">
            <a:extLst>
              <a:ext uri="{FF2B5EF4-FFF2-40B4-BE49-F238E27FC236}">
                <a16:creationId xmlns:a16="http://schemas.microsoft.com/office/drawing/2014/main" id="{20784DEE-BCC0-3112-ED29-8778C02F028B}"/>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7EB55837-C56A-6554-DF4C-C991A899FF06}"/>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0505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788CC3-6112-0648-6A8C-40A7C66249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L"/>
          </a:p>
        </p:txBody>
      </p:sp>
      <p:sp>
        <p:nvSpPr>
          <p:cNvPr id="3" name="Text Placeholder 2">
            <a:extLst>
              <a:ext uri="{FF2B5EF4-FFF2-40B4-BE49-F238E27FC236}">
                <a16:creationId xmlns:a16="http://schemas.microsoft.com/office/drawing/2014/main" id="{F5BAA52D-33E4-8E14-0BD4-6371720A8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B80AAD87-BD69-6E51-34E6-999EF8327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(c) D.Mery - PR00</a:t>
            </a:r>
            <a:endParaRPr lang="en-CL"/>
          </a:p>
        </p:txBody>
      </p:sp>
      <p:sp>
        <p:nvSpPr>
          <p:cNvPr id="5" name="Footer Placeholder 4">
            <a:extLst>
              <a:ext uri="{FF2B5EF4-FFF2-40B4-BE49-F238E27FC236}">
                <a16:creationId xmlns:a16="http://schemas.microsoft.com/office/drawing/2014/main" id="{BE1F1805-E127-5436-F4BD-B493F4465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L"/>
          </a:p>
        </p:txBody>
      </p:sp>
      <p:sp>
        <p:nvSpPr>
          <p:cNvPr id="6" name="Slide Number Placeholder 5">
            <a:extLst>
              <a:ext uri="{FF2B5EF4-FFF2-40B4-BE49-F238E27FC236}">
                <a16:creationId xmlns:a16="http://schemas.microsoft.com/office/drawing/2014/main" id="{FF0709C2-DDB7-3E94-C59E-462FCDB337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AE8E3-C79C-E14F-9140-34B0C7F543F1}" type="slidenum">
              <a:rPr lang="en-CL" smtClean="0"/>
              <a:t>‹#›</a:t>
            </a:fld>
            <a:endParaRPr lang="en-CL"/>
          </a:p>
        </p:txBody>
      </p:sp>
    </p:spTree>
    <p:extLst>
      <p:ext uri="{BB962C8B-B14F-4D97-AF65-F5344CB8AC3E}">
        <p14:creationId xmlns:p14="http://schemas.microsoft.com/office/powerpoint/2010/main" val="4248052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domingomery.ing.uc.cl/"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uc.cl/codigodehonor"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ing.uc.cl/ciencia-de-la-computacion/programas/licenciatura/politica-de-integridad-academica/"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domingomery.ing.uc.cl/"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youtube.com/domingomery" TargetMode="External"/><Relationship Id="rId5" Type="http://schemas.openxmlformats.org/officeDocument/2006/relationships/hyperlink" Target="https://github.com/domingomery/patrones" TargetMode="External"/><Relationship Id="rId4" Type="http://schemas.openxmlformats.org/officeDocument/2006/relationships/hyperlink" Target="https://cursos.canvas.uc.cl/courses/82169"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s://bit.ly/4syPtMU"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2C7284-77CC-FC88-ACE0-20E53773C64D}"/>
              </a:ext>
            </a:extLst>
          </p:cNvPr>
          <p:cNvSpPr/>
          <p:nvPr/>
        </p:nvSpPr>
        <p:spPr>
          <a:xfrm>
            <a:off x="925897" y="683627"/>
            <a:ext cx="10340205" cy="84741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9" name="TextBox 8">
            <a:extLst>
              <a:ext uri="{FF2B5EF4-FFF2-40B4-BE49-F238E27FC236}">
                <a16:creationId xmlns:a16="http://schemas.microsoft.com/office/drawing/2014/main" id="{B876E2BE-1E76-0F44-8020-A654157CDF76}"/>
              </a:ext>
            </a:extLst>
          </p:cNvPr>
          <p:cNvSpPr txBox="1"/>
          <p:nvPr/>
        </p:nvSpPr>
        <p:spPr>
          <a:xfrm>
            <a:off x="925898" y="3991689"/>
            <a:ext cx="3783921" cy="2123658"/>
          </a:xfrm>
          <a:prstGeom prst="rect">
            <a:avLst/>
          </a:prstGeom>
          <a:noFill/>
        </p:spPr>
        <p:txBody>
          <a:bodyPr wrap="none" rtlCol="0">
            <a:spAutoFit/>
          </a:bodyPr>
          <a:lstStyle/>
          <a:p>
            <a:r>
              <a:rPr lang="es-ES_tradnl" sz="3600" noProof="1">
                <a:solidFill>
                  <a:srgbClr val="0041A1"/>
                </a:solidFill>
                <a:latin typeface="Gill Sans MT" panose="020B0502020104020203" pitchFamily="34" charset="77"/>
              </a:rPr>
              <a:t>Domingo Mery</a:t>
            </a:r>
          </a:p>
          <a:p>
            <a:endParaRPr lang="es-ES_tradnl" sz="2400" noProof="1">
              <a:solidFill>
                <a:schemeClr val="bg1">
                  <a:lumMod val="50000"/>
                </a:schemeClr>
              </a:solidFill>
              <a:latin typeface="Gill Sans MT" panose="020B0502020104020203" pitchFamily="34" charset="77"/>
            </a:endParaRPr>
          </a:p>
          <a:p>
            <a:r>
              <a:rPr lang="es-ES_tradnl" sz="2400" noProof="1">
                <a:solidFill>
                  <a:schemeClr val="bg1">
                    <a:lumMod val="50000"/>
                  </a:schemeClr>
                </a:solidFill>
                <a:latin typeface="Gill Sans MT" panose="020B0502020104020203" pitchFamily="34" charset="77"/>
              </a:rPr>
              <a:t>Ciencia de la Computación</a:t>
            </a:r>
          </a:p>
          <a:p>
            <a:r>
              <a:rPr lang="es-ES_tradnl" sz="2400" noProof="1">
                <a:solidFill>
                  <a:schemeClr val="bg1">
                    <a:lumMod val="50000"/>
                  </a:schemeClr>
                </a:solidFill>
                <a:latin typeface="Gill Sans MT" panose="020B0502020104020203" pitchFamily="34" charset="77"/>
              </a:rPr>
              <a:t>Universidad Católica – Chile</a:t>
            </a:r>
          </a:p>
          <a:p>
            <a:r>
              <a:rPr lang="es-ES_tradnl" sz="2400" noProof="1">
                <a:solidFill>
                  <a:schemeClr val="bg1">
                    <a:lumMod val="50000"/>
                  </a:schemeClr>
                </a:solidFill>
                <a:latin typeface="Gill Sans MT" panose="020B0502020104020203" pitchFamily="34" charset="77"/>
                <a:hlinkClick r:id="rId2"/>
              </a:rPr>
              <a:t>http://domingomery.ing.uc.cl</a:t>
            </a:r>
            <a:r>
              <a:rPr lang="es-ES_tradnl" sz="2400" noProof="1">
                <a:solidFill>
                  <a:schemeClr val="bg1">
                    <a:lumMod val="50000"/>
                  </a:schemeClr>
                </a:solidFill>
                <a:latin typeface="Gill Sans MT" panose="020B0502020104020203" pitchFamily="34" charset="77"/>
              </a:rPr>
              <a:t> </a:t>
            </a:r>
          </a:p>
        </p:txBody>
      </p:sp>
      <p:sp>
        <p:nvSpPr>
          <p:cNvPr id="8" name="TextBox 7">
            <a:extLst>
              <a:ext uri="{FF2B5EF4-FFF2-40B4-BE49-F238E27FC236}">
                <a16:creationId xmlns:a16="http://schemas.microsoft.com/office/drawing/2014/main" id="{DA0B8274-BF81-6D48-B1EC-87E4CF24BC51}"/>
              </a:ext>
            </a:extLst>
          </p:cNvPr>
          <p:cNvSpPr txBox="1"/>
          <p:nvPr/>
        </p:nvSpPr>
        <p:spPr>
          <a:xfrm>
            <a:off x="925898" y="546159"/>
            <a:ext cx="6803850" cy="984885"/>
          </a:xfrm>
          <a:prstGeom prst="rect">
            <a:avLst/>
          </a:prstGeom>
          <a:noFill/>
        </p:spPr>
        <p:txBody>
          <a:bodyPr wrap="none" rtlCol="0">
            <a:spAutoFit/>
          </a:bodyPr>
          <a:lstStyle/>
          <a:p>
            <a:r>
              <a:rPr lang="es-ES_tradnl" sz="4400" noProof="1">
                <a:solidFill>
                  <a:schemeClr val="accent2"/>
                </a:solidFill>
                <a:latin typeface="Gill Sans MT" panose="020B0502020104020203" pitchFamily="34" charset="77"/>
              </a:rPr>
              <a:t>Reconocimiento de Patrones</a:t>
            </a:r>
          </a:p>
          <a:p>
            <a:r>
              <a:rPr lang="es-ES_tradnl" sz="1400" noProof="1">
                <a:solidFill>
                  <a:schemeClr val="accent1">
                    <a:lumMod val="60000"/>
                    <a:lumOff val="40000"/>
                  </a:schemeClr>
                </a:solidFill>
                <a:latin typeface="Gill Sans MT" panose="020B0502020104020203" pitchFamily="34" charset="77"/>
              </a:rPr>
              <a:t>Versión 2026</a:t>
            </a:r>
          </a:p>
        </p:txBody>
      </p:sp>
      <p:pic>
        <p:nvPicPr>
          <p:cNvPr id="32" name="Picture 31">
            <a:extLst>
              <a:ext uri="{FF2B5EF4-FFF2-40B4-BE49-F238E27FC236}">
                <a16:creationId xmlns:a16="http://schemas.microsoft.com/office/drawing/2014/main" id="{1F84582F-25ED-D64F-A141-4702851F27A5}"/>
              </a:ext>
            </a:extLst>
          </p:cNvPr>
          <p:cNvPicPr>
            <a:picLocks noChangeAspect="1"/>
          </p:cNvPicPr>
          <p:nvPr/>
        </p:nvPicPr>
        <p:blipFill>
          <a:blip r:embed="rId3"/>
          <a:stretch>
            <a:fillRect/>
          </a:stretch>
        </p:blipFill>
        <p:spPr>
          <a:xfrm>
            <a:off x="3982889" y="4153426"/>
            <a:ext cx="671000" cy="396000"/>
          </a:xfrm>
          <a:prstGeom prst="rect">
            <a:avLst/>
          </a:prstGeom>
        </p:spPr>
      </p:pic>
      <p:sp>
        <p:nvSpPr>
          <p:cNvPr id="2" name="TextBox 1">
            <a:extLst>
              <a:ext uri="{FF2B5EF4-FFF2-40B4-BE49-F238E27FC236}">
                <a16:creationId xmlns:a16="http://schemas.microsoft.com/office/drawing/2014/main" id="{F09BC001-F490-B55D-4087-04CD68E211CA}"/>
              </a:ext>
            </a:extLst>
          </p:cNvPr>
          <p:cNvSpPr txBox="1"/>
          <p:nvPr/>
        </p:nvSpPr>
        <p:spPr>
          <a:xfrm>
            <a:off x="925898" y="2363235"/>
            <a:ext cx="5541838" cy="984885"/>
          </a:xfrm>
          <a:prstGeom prst="rect">
            <a:avLst/>
          </a:prstGeom>
          <a:noFill/>
        </p:spPr>
        <p:txBody>
          <a:bodyPr wrap="none" rtlCol="0">
            <a:spAutoFit/>
          </a:bodyPr>
          <a:lstStyle/>
          <a:p>
            <a:r>
              <a:rPr lang="es-ES_tradnl" sz="4400" noProof="1">
                <a:latin typeface="Gill Sans MT" panose="020B0502020104020203" pitchFamily="34" charset="77"/>
              </a:rPr>
              <a:t>Presentación del Curso</a:t>
            </a:r>
            <a:endParaRPr lang="es-ES_tradnl" sz="1400" noProof="1">
              <a:latin typeface="Gill Sans MT" panose="020B0502020104020203" pitchFamily="34" charset="77"/>
            </a:endParaRPr>
          </a:p>
          <a:p>
            <a:r>
              <a:rPr lang="es-ES_tradnl" sz="1400" noProof="1">
                <a:solidFill>
                  <a:schemeClr val="bg1">
                    <a:lumMod val="50000"/>
                  </a:schemeClr>
                </a:solidFill>
                <a:latin typeface="Gill Sans MT" panose="020B0502020104020203" pitchFamily="34" charset="77"/>
              </a:rPr>
              <a:t>(CAPÍTULO 0 – PR00)</a:t>
            </a:r>
            <a:endParaRPr lang="es-ES_tradnl" sz="4400" noProof="1">
              <a:solidFill>
                <a:schemeClr val="bg1">
                  <a:lumMod val="50000"/>
                </a:schemeClr>
              </a:solidFill>
              <a:latin typeface="Gill Sans MT" panose="020B0502020104020203" pitchFamily="34" charset="77"/>
            </a:endParaRPr>
          </a:p>
        </p:txBody>
      </p:sp>
      <p:pic>
        <p:nvPicPr>
          <p:cNvPr id="4" name="Picture 3" descr="Screen Shot 2014-07-28 at 3.30.32 PM.png">
            <a:extLst>
              <a:ext uri="{FF2B5EF4-FFF2-40B4-BE49-F238E27FC236}">
                <a16:creationId xmlns:a16="http://schemas.microsoft.com/office/drawing/2014/main" id="{F713277D-8D19-F8E9-D0C7-160CDCD11B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7883" y="683626"/>
            <a:ext cx="2688219" cy="847417"/>
          </a:xfrm>
          <a:prstGeom prst="rect">
            <a:avLst/>
          </a:prstGeom>
        </p:spPr>
      </p:pic>
      <p:sp>
        <p:nvSpPr>
          <p:cNvPr id="10" name="Rectangle 9">
            <a:extLst>
              <a:ext uri="{FF2B5EF4-FFF2-40B4-BE49-F238E27FC236}">
                <a16:creationId xmlns:a16="http://schemas.microsoft.com/office/drawing/2014/main" id="{EF7C2C46-FB77-25C3-BA3D-A0231C48A0BC}"/>
              </a:ext>
            </a:extLst>
          </p:cNvPr>
          <p:cNvSpPr/>
          <p:nvPr/>
        </p:nvSpPr>
        <p:spPr>
          <a:xfrm>
            <a:off x="8532327" y="889536"/>
            <a:ext cx="94889" cy="94882"/>
          </a:xfrm>
          <a:prstGeom prst="rect">
            <a:avLst/>
          </a:prstGeom>
          <a:solidFill>
            <a:srgbClr val="FF00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821CF4-4421-1287-4A0F-68915CE9BDF0}"/>
              </a:ext>
            </a:extLst>
          </p:cNvPr>
          <p:cNvSpPr/>
          <p:nvPr/>
        </p:nvSpPr>
        <p:spPr>
          <a:xfrm>
            <a:off x="9457147" y="1041936"/>
            <a:ext cx="94889" cy="94882"/>
          </a:xfrm>
          <a:prstGeom prst="rect">
            <a:avLst/>
          </a:prstGeom>
          <a:solidFill>
            <a:srgbClr val="FFD3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697AF8-DB10-A907-E9A0-11DBFF2F41AD}"/>
              </a:ext>
            </a:extLst>
          </p:cNvPr>
          <p:cNvSpPr/>
          <p:nvPr/>
        </p:nvSpPr>
        <p:spPr>
          <a:xfrm>
            <a:off x="8450280" y="1194336"/>
            <a:ext cx="94889" cy="94882"/>
          </a:xfrm>
          <a:prstGeom prst="rect">
            <a:avLst/>
          </a:prstGeom>
          <a:solidFill>
            <a:srgbClr val="3366FF">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433E66E-94EA-0AAE-A7DB-7F462B910E03}"/>
              </a:ext>
            </a:extLst>
          </p:cNvPr>
          <p:cNvSpPr/>
          <p:nvPr/>
        </p:nvSpPr>
        <p:spPr>
          <a:xfrm>
            <a:off x="9200620" y="814788"/>
            <a:ext cx="94889" cy="94882"/>
          </a:xfrm>
          <a:prstGeom prst="rect">
            <a:avLst/>
          </a:prstGeom>
          <a:solidFill>
            <a:schemeClr val="bg1">
              <a:alpha val="7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7468F98-E38C-0CEE-B1A7-0C8769B40381}"/>
              </a:ext>
            </a:extLst>
          </p:cNvPr>
          <p:cNvSpPr/>
          <p:nvPr/>
        </p:nvSpPr>
        <p:spPr>
          <a:xfrm>
            <a:off x="9043304" y="1325718"/>
            <a:ext cx="94889" cy="94882"/>
          </a:xfrm>
          <a:prstGeom prst="rect">
            <a:avLst/>
          </a:prstGeom>
          <a:solidFill>
            <a:srgbClr val="00FF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descr="A close-up of a document&#10;&#10;AI-generated content may be incorrect.">
            <a:extLst>
              <a:ext uri="{FF2B5EF4-FFF2-40B4-BE49-F238E27FC236}">
                <a16:creationId xmlns:a16="http://schemas.microsoft.com/office/drawing/2014/main" id="{53D4AA79-91DC-DD9F-9FD4-D031B73559A2}"/>
              </a:ext>
            </a:extLst>
          </p:cNvPr>
          <p:cNvPicPr>
            <a:picLocks noChangeAspect="1"/>
          </p:cNvPicPr>
          <p:nvPr/>
        </p:nvPicPr>
        <p:blipFill>
          <a:blip r:embed="rId5"/>
          <a:stretch>
            <a:fillRect/>
          </a:stretch>
        </p:blipFill>
        <p:spPr>
          <a:xfrm rot="364845">
            <a:off x="7347329" y="2364783"/>
            <a:ext cx="2959782" cy="3973283"/>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3" name="Date Placeholder 2">
            <a:extLst>
              <a:ext uri="{FF2B5EF4-FFF2-40B4-BE49-F238E27FC236}">
                <a16:creationId xmlns:a16="http://schemas.microsoft.com/office/drawing/2014/main" id="{5365DAE6-1265-4A2F-F814-3F201FD3F5C3}"/>
              </a:ext>
            </a:extLst>
          </p:cNvPr>
          <p:cNvSpPr>
            <a:spLocks noGrp="1"/>
          </p:cNvSpPr>
          <p:nvPr>
            <p:ph type="dt" sz="half" idx="10"/>
          </p:nvPr>
        </p:nvSpPr>
        <p:spPr/>
        <p:txBody>
          <a:bodyPr/>
          <a:lstStyle/>
          <a:p>
            <a:r>
              <a:rPr lang="en-US"/>
              <a:t>(c) D.Mery - PR00</a:t>
            </a:r>
            <a:endParaRPr lang="en-CL"/>
          </a:p>
        </p:txBody>
      </p:sp>
      <p:sp>
        <p:nvSpPr>
          <p:cNvPr id="6" name="Slide Number Placeholder 5">
            <a:extLst>
              <a:ext uri="{FF2B5EF4-FFF2-40B4-BE49-F238E27FC236}">
                <a16:creationId xmlns:a16="http://schemas.microsoft.com/office/drawing/2014/main" id="{445A675C-B538-E38C-6BA5-0361461F7896}"/>
              </a:ext>
            </a:extLst>
          </p:cNvPr>
          <p:cNvSpPr>
            <a:spLocks noGrp="1"/>
          </p:cNvSpPr>
          <p:nvPr>
            <p:ph type="sldNum" sz="quarter" idx="12"/>
          </p:nvPr>
        </p:nvSpPr>
        <p:spPr/>
        <p:txBody>
          <a:bodyPr/>
          <a:lstStyle/>
          <a:p>
            <a:fld id="{006AE8E3-C79C-E14F-9140-34B0C7F543F1}" type="slidenum">
              <a:rPr lang="en-CL" smtClean="0"/>
              <a:t>1</a:t>
            </a:fld>
            <a:endParaRPr lang="en-CL"/>
          </a:p>
        </p:txBody>
      </p:sp>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039905" y="733246"/>
            <a:ext cx="9466730" cy="6124754"/>
          </a:xfrm>
          <a:prstGeom prst="rect">
            <a:avLst/>
          </a:prstGeom>
          <a:noFill/>
          <a:ln w="9525">
            <a:noFill/>
            <a:miter lim="800000"/>
            <a:headEnd/>
            <a:tailEnd/>
          </a:ln>
        </p:spPr>
        <p:txBody>
          <a:bodyPr wrap="square">
            <a:prstTxWarp prst="textNoShape">
              <a:avLst/>
            </a:prstTxWarp>
            <a:spAutoFit/>
          </a:bodyPr>
          <a:lstStyle/>
          <a:p>
            <a:r>
              <a:rPr lang="es-ES" sz="2800" b="1" dirty="0">
                <a:solidFill>
                  <a:schemeClr val="accent2"/>
                </a:solidFill>
                <a:latin typeface="Gill Sans MT" panose="020B0502020104020203" pitchFamily="34" charset="77"/>
              </a:rPr>
              <a:t>Descripción</a:t>
            </a:r>
          </a:p>
          <a:p>
            <a:endParaRPr lang="es-ES" sz="2800" b="1" dirty="0">
              <a:solidFill>
                <a:schemeClr val="accent2"/>
              </a:solidFill>
              <a:latin typeface="Gill Sans MT" panose="020B0502020104020203" pitchFamily="34" charset="77"/>
            </a:endParaRPr>
          </a:p>
          <a:p>
            <a:endParaRPr lang="es-ES" sz="2800" b="1" dirty="0">
              <a:solidFill>
                <a:schemeClr val="accent2"/>
              </a:solidFill>
              <a:latin typeface="Gill Sans MT" panose="020B0502020104020203" pitchFamily="34" charset="77"/>
            </a:endParaRPr>
          </a:p>
          <a:p>
            <a:pPr algn="just"/>
            <a:r>
              <a:rPr lang="es-ES" sz="2800" dirty="0">
                <a:solidFill>
                  <a:schemeClr val="tx1">
                    <a:lumMod val="95000"/>
                    <a:lumOff val="5000"/>
                  </a:schemeClr>
                </a:solidFill>
                <a:latin typeface="Gill Sans MT" panose="020B0502020104020203" pitchFamily="34" charset="77"/>
              </a:rPr>
              <a:t>El reconocimiento, la descripción, la clasificación y la agrupación de patrones de forma automática, son problemas importantes en una gran variedad de aplicaciones de ingeniería, psicología, medicina, economía, biologías, etc. El problema consiste en asignar automáticamente a una clase una muestra según las mediciones realizadas sobre la muestra. En el curso se estudiará la teoría necesaria para resolver este problema, y se aplicará la teoría en ejemplos prácticos tales como detección automática de tumores, reconocimiento de caracteres, detección de defectos, etc.</a:t>
            </a:r>
          </a:p>
          <a:p>
            <a:endParaRPr lang="es-ES" sz="2800" dirty="0">
              <a:solidFill>
                <a:schemeClr val="accent2"/>
              </a:solidFill>
              <a:latin typeface="Gill Sans MT" panose="020B0502020104020203" pitchFamily="34" charset="77"/>
            </a:endParaRPr>
          </a:p>
        </p:txBody>
      </p:sp>
      <p:sp>
        <p:nvSpPr>
          <p:cNvPr id="2" name="Text Box 2">
            <a:extLst>
              <a:ext uri="{FF2B5EF4-FFF2-40B4-BE49-F238E27FC236}">
                <a16:creationId xmlns:a16="http://schemas.microsoft.com/office/drawing/2014/main" id="{F5FE8045-116E-29F6-1915-A75934AD1D4B}"/>
              </a:ext>
            </a:extLst>
          </p:cNvPr>
          <p:cNvSpPr txBox="1">
            <a:spLocks noChangeArrowheads="1"/>
          </p:cNvSpPr>
          <p:nvPr/>
        </p:nvSpPr>
        <p:spPr bwMode="auto">
          <a:xfrm>
            <a:off x="1039905" y="733245"/>
            <a:ext cx="9466730" cy="6124754"/>
          </a:xfrm>
          <a:prstGeom prst="rect">
            <a:avLst/>
          </a:prstGeom>
          <a:noFill/>
          <a:ln w="9525">
            <a:noFill/>
            <a:miter lim="800000"/>
            <a:headEnd/>
            <a:tailEnd/>
          </a:ln>
        </p:spPr>
        <p:txBody>
          <a:bodyPr wrap="square">
            <a:prstTxWarp prst="textNoShape">
              <a:avLst/>
            </a:prstTxWarp>
            <a:spAutoFit/>
          </a:bodyPr>
          <a:lstStyle/>
          <a:p>
            <a:r>
              <a:rPr lang="es-ES" sz="2800" b="1" dirty="0">
                <a:solidFill>
                  <a:schemeClr val="accent2"/>
                </a:solidFill>
                <a:latin typeface="Gill Sans MT" panose="020B0502020104020203" pitchFamily="34" charset="77"/>
              </a:rPr>
              <a:t>Descripción</a:t>
            </a:r>
          </a:p>
          <a:p>
            <a:endParaRPr lang="es-ES" sz="2800" b="1" dirty="0">
              <a:solidFill>
                <a:schemeClr val="accent2"/>
              </a:solidFill>
              <a:latin typeface="Gill Sans MT" panose="020B0502020104020203" pitchFamily="34" charset="77"/>
            </a:endParaRPr>
          </a:p>
          <a:p>
            <a:endParaRPr lang="es-ES" sz="2800" b="1" dirty="0">
              <a:solidFill>
                <a:schemeClr val="accent2"/>
              </a:solidFill>
              <a:latin typeface="Gill Sans MT" panose="020B0502020104020203" pitchFamily="34" charset="77"/>
            </a:endParaRPr>
          </a:p>
          <a:p>
            <a:pPr algn="just"/>
            <a:r>
              <a:rPr lang="es-ES" sz="2800" dirty="0">
                <a:solidFill>
                  <a:schemeClr val="tx1">
                    <a:lumMod val="95000"/>
                    <a:lumOff val="5000"/>
                  </a:schemeClr>
                </a:solidFill>
                <a:latin typeface="Gill Sans MT" panose="020B0502020104020203" pitchFamily="34" charset="77"/>
              </a:rPr>
              <a:t>El reconocimiento, la descripción, la clasificación y la agrupación de patrones de forma automática, son problemas importantes en una gran variedad de aplicaciones de ingeniería, psicología, medicina, economía, biologías, etc. </a:t>
            </a:r>
            <a:r>
              <a:rPr lang="es-ES" sz="2800" dirty="0">
                <a:solidFill>
                  <a:schemeClr val="accent2"/>
                </a:solidFill>
                <a:latin typeface="Gill Sans MT" panose="020B0502020104020203" pitchFamily="34" charset="77"/>
              </a:rPr>
              <a:t>El problema consiste en asignar automáticamente a una clase una muestra según las mediciones realizadas sobre la muestra.</a:t>
            </a:r>
            <a:r>
              <a:rPr lang="es-ES" sz="2800" dirty="0">
                <a:solidFill>
                  <a:schemeClr val="tx1">
                    <a:lumMod val="95000"/>
                    <a:lumOff val="5000"/>
                  </a:schemeClr>
                </a:solidFill>
                <a:latin typeface="Gill Sans MT" panose="020B0502020104020203" pitchFamily="34" charset="77"/>
              </a:rPr>
              <a:t> En el curso se estudiará la teoría necesaria para resolver este problema, y se aplicará la teoría en ejemplos prácticos tales como detección automática de tumores, reconocimiento de caracteres, detección de defectos, etc.</a:t>
            </a:r>
          </a:p>
          <a:p>
            <a:endParaRPr lang="es-ES" sz="2800" dirty="0">
              <a:solidFill>
                <a:schemeClr val="tx1">
                  <a:lumMod val="95000"/>
                  <a:lumOff val="5000"/>
                </a:schemeClr>
              </a:solidFill>
              <a:latin typeface="Gill Sans MT" panose="020B0502020104020203" pitchFamily="34" charset="77"/>
            </a:endParaRPr>
          </a:p>
        </p:txBody>
      </p:sp>
      <p:sp>
        <p:nvSpPr>
          <p:cNvPr id="3" name="Date Placeholder 2">
            <a:extLst>
              <a:ext uri="{FF2B5EF4-FFF2-40B4-BE49-F238E27FC236}">
                <a16:creationId xmlns:a16="http://schemas.microsoft.com/office/drawing/2014/main" id="{EE019BE4-CDC9-5A3F-C9A9-0239289B6F8E}"/>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1BA0F0C1-CDAC-C998-B0D0-993739337F86}"/>
              </a:ext>
            </a:extLst>
          </p:cNvPr>
          <p:cNvSpPr>
            <a:spLocks noGrp="1"/>
          </p:cNvSpPr>
          <p:nvPr>
            <p:ph type="sldNum" sz="quarter" idx="12"/>
          </p:nvPr>
        </p:nvSpPr>
        <p:spPr/>
        <p:txBody>
          <a:bodyPr/>
          <a:lstStyle/>
          <a:p>
            <a:fld id="{006AE8E3-C79C-E14F-9140-34B0C7F543F1}" type="slidenum">
              <a:rPr lang="en-CL" smtClean="0"/>
              <a:t>2</a:t>
            </a:fld>
            <a:endParaRPr lang="en-C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434353" y="1644376"/>
            <a:ext cx="9825318" cy="4616648"/>
          </a:xfrm>
          <a:prstGeom prst="rect">
            <a:avLst/>
          </a:prstGeom>
          <a:noFill/>
          <a:ln w="9525">
            <a:noFill/>
            <a:miter lim="800000"/>
            <a:headEnd/>
            <a:tailEnd/>
          </a:ln>
        </p:spPr>
        <p:txBody>
          <a:bodyPr wrap="square">
            <a:prstTxWarp prst="textNoShape">
              <a:avLst/>
            </a:prstTxWarp>
            <a:spAutoFit/>
          </a:bodyPr>
          <a:lstStyle/>
          <a:p>
            <a:pPr marL="342900" indent="-342900">
              <a:spcAft>
                <a:spcPts val="1200"/>
              </a:spcAft>
              <a:buFont typeface="+mj-lt"/>
              <a:buAutoNum type="arabicPeriod"/>
            </a:pPr>
            <a:r>
              <a:rPr lang="es-CL" sz="2400" dirty="0">
                <a:latin typeface="Gill Sans MT" panose="020B0502020104020203" pitchFamily="34" charset="77"/>
                <a:cs typeface="Trebuchet MS"/>
              </a:rPr>
              <a:t>Analizar las nociones básicas de extracción de características, selección de características, clasificación y evaluación de desempeño.</a:t>
            </a:r>
            <a:endParaRPr lang="en-US" sz="2400" dirty="0">
              <a:latin typeface="Gill Sans MT" panose="020B0502020104020203" pitchFamily="34" charset="77"/>
              <a:cs typeface="Trebuchet MS"/>
            </a:endParaRPr>
          </a:p>
          <a:p>
            <a:pPr marL="342900" indent="-342900">
              <a:spcAft>
                <a:spcPts val="1200"/>
              </a:spcAft>
              <a:buFont typeface="+mj-lt"/>
              <a:buAutoNum type="arabicPeriod"/>
            </a:pPr>
            <a:r>
              <a:rPr lang="es-CL" sz="2400" dirty="0">
                <a:latin typeface="Gill Sans MT" panose="020B0502020104020203" pitchFamily="34" charset="77"/>
                <a:cs typeface="Trebuchet MS"/>
              </a:rPr>
              <a:t>Aplicar técnicas basadas en procesamiento de imágenes para la extracción de características geométricas y cromáticas en problemas donde el reconocimiento de patrones se realice a  partir de información visual.</a:t>
            </a:r>
            <a:endParaRPr lang="en-US" sz="2400" dirty="0">
              <a:latin typeface="Gill Sans MT" panose="020B0502020104020203" pitchFamily="34" charset="77"/>
              <a:cs typeface="Trebuchet MS"/>
            </a:endParaRPr>
          </a:p>
          <a:p>
            <a:pPr marL="342900" indent="-342900">
              <a:spcAft>
                <a:spcPts val="1200"/>
              </a:spcAft>
              <a:buFont typeface="+mj-lt"/>
              <a:buAutoNum type="arabicPeriod"/>
            </a:pPr>
            <a:r>
              <a:rPr lang="es-CL" sz="2400" dirty="0">
                <a:latin typeface="Gill Sans MT" panose="020B0502020104020203" pitchFamily="34" charset="77"/>
                <a:cs typeface="Trebuchet MS"/>
              </a:rPr>
              <a:t>Diseñar y evaluar características a ser extraídas donde la reconocimiento de patrones se realiza a partir de información visual u otro tipo de información.</a:t>
            </a:r>
            <a:endParaRPr lang="en-US" sz="2400" dirty="0">
              <a:latin typeface="Gill Sans MT" panose="020B0502020104020203" pitchFamily="34" charset="77"/>
              <a:cs typeface="Trebuchet MS"/>
            </a:endParaRPr>
          </a:p>
          <a:p>
            <a:pPr marL="342900" indent="-342900">
              <a:spcAft>
                <a:spcPts val="1200"/>
              </a:spcAft>
              <a:buFont typeface="+mj-lt"/>
              <a:buAutoNum type="arabicPeriod"/>
            </a:pPr>
            <a:r>
              <a:rPr lang="es-CL" sz="2400" dirty="0">
                <a:latin typeface="Gill Sans MT" panose="020B0502020104020203" pitchFamily="34" charset="77"/>
                <a:cs typeface="Trebuchet MS"/>
              </a:rPr>
              <a:t>Evaluar algoritmos eficientes para seleccionar características: Análisis de componentes principales, discriminante de Fisher, búsqueda exhaustiva, búsqueda secuencial, Branch&amp;Bound, entre otros.</a:t>
            </a:r>
          </a:p>
        </p:txBody>
      </p:sp>
      <p:sp>
        <p:nvSpPr>
          <p:cNvPr id="8195" name="Text Box 4"/>
          <p:cNvSpPr txBox="1">
            <a:spLocks noChangeArrowheads="1"/>
          </p:cNvSpPr>
          <p:nvPr/>
        </p:nvSpPr>
        <p:spPr bwMode="auto">
          <a:xfrm>
            <a:off x="1974851" y="656579"/>
            <a:ext cx="3198311" cy="584775"/>
          </a:xfrm>
          <a:prstGeom prst="rect">
            <a:avLst/>
          </a:prstGeom>
          <a:noFill/>
          <a:ln w="9525">
            <a:noFill/>
            <a:miter lim="800000"/>
            <a:headEnd/>
            <a:tailEnd/>
          </a:ln>
        </p:spPr>
        <p:txBody>
          <a:bodyPr wrap="none">
            <a:prstTxWarp prst="textNoShape">
              <a:avLst/>
            </a:prstTxWarp>
            <a:spAutoFit/>
          </a:bodyPr>
          <a:lstStyle/>
          <a:p>
            <a:r>
              <a:rPr lang="es-CL" sz="3200" b="1" dirty="0">
                <a:solidFill>
                  <a:schemeClr val="accent2"/>
                </a:solidFill>
                <a:latin typeface="Gill Sans MT" panose="020B0502020104020203" pitchFamily="34" charset="77"/>
              </a:rPr>
              <a:t>Objetivos (1/2) </a:t>
            </a:r>
            <a:endParaRPr lang="es-ES" sz="3200"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508FE1D6-27FA-2843-7BE5-4894D7167E7D}"/>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CA5A7CDC-A94D-6F75-8916-CBC1E1ABECA1}"/>
              </a:ext>
            </a:extLst>
          </p:cNvPr>
          <p:cNvSpPr>
            <a:spLocks noGrp="1"/>
          </p:cNvSpPr>
          <p:nvPr>
            <p:ph type="sldNum" sz="quarter" idx="12"/>
          </p:nvPr>
        </p:nvSpPr>
        <p:spPr/>
        <p:txBody>
          <a:bodyPr/>
          <a:lstStyle/>
          <a:p>
            <a:fld id="{006AE8E3-C79C-E14F-9140-34B0C7F543F1}" type="slidenum">
              <a:rPr lang="en-CL" smtClean="0"/>
              <a:t>3</a:t>
            </a:fld>
            <a:endParaRPr lang="en-C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85076E2F-253B-584B-B667-EA70417671EC}"/>
              </a:ext>
            </a:extLst>
          </p:cNvPr>
          <p:cNvSpPr txBox="1">
            <a:spLocks noChangeArrowheads="1"/>
          </p:cNvSpPr>
          <p:nvPr/>
        </p:nvSpPr>
        <p:spPr bwMode="auto">
          <a:xfrm>
            <a:off x="1974851" y="656579"/>
            <a:ext cx="3198311" cy="584775"/>
          </a:xfrm>
          <a:prstGeom prst="rect">
            <a:avLst/>
          </a:prstGeom>
          <a:noFill/>
          <a:ln w="9525">
            <a:noFill/>
            <a:miter lim="800000"/>
            <a:headEnd/>
            <a:tailEnd/>
          </a:ln>
        </p:spPr>
        <p:txBody>
          <a:bodyPr wrap="none">
            <a:prstTxWarp prst="textNoShape">
              <a:avLst/>
            </a:prstTxWarp>
            <a:spAutoFit/>
          </a:bodyPr>
          <a:lstStyle/>
          <a:p>
            <a:r>
              <a:rPr lang="es-CL" sz="3200" b="1" dirty="0">
                <a:solidFill>
                  <a:schemeClr val="accent2"/>
                </a:solidFill>
                <a:latin typeface="Gill Sans MT" panose="020B0502020104020203" pitchFamily="34" charset="77"/>
              </a:rPr>
              <a:t>Objetivos (2/2) </a:t>
            </a:r>
            <a:endParaRPr lang="es-ES" sz="3200" b="1" dirty="0">
              <a:solidFill>
                <a:schemeClr val="accent2"/>
              </a:solidFill>
              <a:latin typeface="Gill Sans MT" panose="020B0502020104020203" pitchFamily="34" charset="77"/>
            </a:endParaRPr>
          </a:p>
        </p:txBody>
      </p:sp>
      <p:sp>
        <p:nvSpPr>
          <p:cNvPr id="2" name="Text Box 2">
            <a:extLst>
              <a:ext uri="{FF2B5EF4-FFF2-40B4-BE49-F238E27FC236}">
                <a16:creationId xmlns:a16="http://schemas.microsoft.com/office/drawing/2014/main" id="{4FFF040D-EC83-461A-4B72-05A00C68B51F}"/>
              </a:ext>
            </a:extLst>
          </p:cNvPr>
          <p:cNvSpPr txBox="1">
            <a:spLocks noChangeArrowheads="1"/>
          </p:cNvSpPr>
          <p:nvPr/>
        </p:nvSpPr>
        <p:spPr bwMode="auto">
          <a:xfrm>
            <a:off x="1434353" y="2170846"/>
            <a:ext cx="9825318" cy="3354765"/>
          </a:xfrm>
          <a:prstGeom prst="rect">
            <a:avLst/>
          </a:prstGeom>
          <a:noFill/>
          <a:ln w="9525">
            <a:noFill/>
            <a:miter lim="800000"/>
            <a:headEnd/>
            <a:tailEnd/>
          </a:ln>
        </p:spPr>
        <p:txBody>
          <a:bodyPr wrap="square">
            <a:prstTxWarp prst="textNoShape">
              <a:avLst/>
            </a:prstTxWarp>
            <a:spAutoFit/>
          </a:bodyPr>
          <a:lstStyle/>
          <a:p>
            <a:pPr marL="457200" indent="-457200">
              <a:spcAft>
                <a:spcPts val="1200"/>
              </a:spcAft>
              <a:buFont typeface="+mj-lt"/>
              <a:buAutoNum type="arabicPeriod" startAt="5"/>
            </a:pPr>
            <a:r>
              <a:rPr lang="es-CL" sz="2400" dirty="0">
                <a:latin typeface="Gill Sans MT" panose="020B0502020104020203" pitchFamily="34" charset="77"/>
                <a:cs typeface="Trebuchet MS"/>
              </a:rPr>
              <a:t>Diseñar clasificadores capaces de resolver problemas reales basados en las técnicas de clasificador lineal, árbol binario de decisión, vecino más cercano, Mahalanobis, Bayes, SVM, redes neuronales entre otros.</a:t>
            </a:r>
            <a:endParaRPr lang="en-US" sz="2400" dirty="0">
              <a:latin typeface="Gill Sans MT" panose="020B0502020104020203" pitchFamily="34" charset="77"/>
              <a:cs typeface="Trebuchet MS"/>
            </a:endParaRPr>
          </a:p>
          <a:p>
            <a:pPr marL="342900" indent="-342900">
              <a:spcAft>
                <a:spcPts val="1200"/>
              </a:spcAft>
              <a:buFont typeface="+mj-lt"/>
              <a:buAutoNum type="arabicPeriod" startAt="5"/>
            </a:pPr>
            <a:r>
              <a:rPr lang="es-CL" sz="2400" dirty="0">
                <a:latin typeface="Gill Sans MT" panose="020B0502020104020203" pitchFamily="34" charset="77"/>
                <a:cs typeface="Trebuchet MS"/>
              </a:rPr>
              <a:t>Aplicar técnicas para establecer y comparar el desempeño de los clasificadores: Validación cruzada, bootstrap, e intervalos de confianza basados en distribuciones estadísticas.</a:t>
            </a:r>
            <a:endParaRPr lang="en-US" sz="2400" dirty="0">
              <a:latin typeface="Gill Sans MT" panose="020B0502020104020203" pitchFamily="34" charset="77"/>
              <a:cs typeface="Trebuchet MS"/>
            </a:endParaRPr>
          </a:p>
          <a:p>
            <a:pPr marL="342900" indent="-342900">
              <a:spcAft>
                <a:spcPts val="1200"/>
              </a:spcAft>
              <a:buFont typeface="+mj-lt"/>
              <a:buAutoNum type="arabicPeriod" startAt="5"/>
            </a:pPr>
            <a:r>
              <a:rPr lang="es-CL" sz="2400" dirty="0">
                <a:latin typeface="Gill Sans MT" panose="020B0502020104020203" pitchFamily="34" charset="77"/>
                <a:cs typeface="Trebuchet MS"/>
              </a:rPr>
              <a:t>Diseñar un sistema automático de reconocimiento de patrones capaz de resolver un problema real.</a:t>
            </a:r>
            <a:endParaRPr lang="en-US" sz="2400" dirty="0">
              <a:latin typeface="Gill Sans MT" panose="020B0502020104020203" pitchFamily="34" charset="77"/>
              <a:cs typeface="Trebuchet MS"/>
            </a:endParaRPr>
          </a:p>
        </p:txBody>
      </p:sp>
      <p:sp>
        <p:nvSpPr>
          <p:cNvPr id="3" name="Date Placeholder 2">
            <a:extLst>
              <a:ext uri="{FF2B5EF4-FFF2-40B4-BE49-F238E27FC236}">
                <a16:creationId xmlns:a16="http://schemas.microsoft.com/office/drawing/2014/main" id="{961068B5-1CE4-AE3D-BC62-E93161373300}"/>
              </a:ext>
            </a:extLst>
          </p:cNvPr>
          <p:cNvSpPr>
            <a:spLocks noGrp="1"/>
          </p:cNvSpPr>
          <p:nvPr>
            <p:ph type="dt" sz="half" idx="10"/>
          </p:nvPr>
        </p:nvSpPr>
        <p:spPr/>
        <p:txBody>
          <a:bodyPr/>
          <a:lstStyle/>
          <a:p>
            <a:r>
              <a:rPr lang="en-US"/>
              <a:t>(c) D.Mery - PR00</a:t>
            </a:r>
            <a:endParaRPr lang="en-CL"/>
          </a:p>
        </p:txBody>
      </p:sp>
      <p:sp>
        <p:nvSpPr>
          <p:cNvPr id="5" name="Slide Number Placeholder 4">
            <a:extLst>
              <a:ext uri="{FF2B5EF4-FFF2-40B4-BE49-F238E27FC236}">
                <a16:creationId xmlns:a16="http://schemas.microsoft.com/office/drawing/2014/main" id="{3F3B761C-1BE8-5E12-4F6A-5F39E00A2B0A}"/>
              </a:ext>
            </a:extLst>
          </p:cNvPr>
          <p:cNvSpPr>
            <a:spLocks noGrp="1"/>
          </p:cNvSpPr>
          <p:nvPr>
            <p:ph type="sldNum" sz="quarter" idx="12"/>
          </p:nvPr>
        </p:nvSpPr>
        <p:spPr/>
        <p:txBody>
          <a:bodyPr/>
          <a:lstStyle/>
          <a:p>
            <a:fld id="{006AE8E3-C79C-E14F-9140-34B0C7F543F1}" type="slidenum">
              <a:rPr lang="en-CL" smtClean="0"/>
              <a:t>4</a:t>
            </a:fld>
            <a:endParaRPr lang="en-CL"/>
          </a:p>
        </p:txBody>
      </p:sp>
    </p:spTree>
    <p:extLst>
      <p:ext uri="{BB962C8B-B14F-4D97-AF65-F5344CB8AC3E}">
        <p14:creationId xmlns:p14="http://schemas.microsoft.com/office/powerpoint/2010/main" val="3341451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990F0-D433-C30E-8E68-E33A081F647C}"/>
              </a:ext>
            </a:extLst>
          </p:cNvPr>
          <p:cNvSpPr>
            <a:spLocks noGrp="1"/>
          </p:cNvSpPr>
          <p:nvPr>
            <p:ph type="title"/>
          </p:nvPr>
        </p:nvSpPr>
        <p:spPr>
          <a:xfrm>
            <a:off x="612648" y="548640"/>
            <a:ext cx="10945037" cy="1133856"/>
          </a:xfrm>
        </p:spPr>
        <p:txBody>
          <a:bodyPr anchor="t">
            <a:normAutofit/>
          </a:bodyPr>
          <a:lstStyle/>
          <a:p>
            <a:r>
              <a:rPr lang="en-CL" dirty="0">
                <a:solidFill>
                  <a:schemeClr val="accent2"/>
                </a:solidFil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946F9478-8DCF-4D56-A88A-DF3EE4117EB6}"/>
              </a:ext>
            </a:extLst>
          </p:cNvPr>
          <p:cNvGraphicFramePr>
            <a:graphicFrameLocks noGrp="1"/>
          </p:cNvGraphicFramePr>
          <p:nvPr>
            <p:ph idx="1"/>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dirty="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
        <p:nvSpPr>
          <p:cNvPr id="3" name="Date Placeholder 2">
            <a:extLst>
              <a:ext uri="{FF2B5EF4-FFF2-40B4-BE49-F238E27FC236}">
                <a16:creationId xmlns:a16="http://schemas.microsoft.com/office/drawing/2014/main" id="{09179903-7BEA-7880-2FB2-959061EE4B51}"/>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AA8550FD-050A-CEC4-6BBC-33696C3952EC}"/>
              </a:ext>
            </a:extLst>
          </p:cNvPr>
          <p:cNvSpPr>
            <a:spLocks noGrp="1"/>
          </p:cNvSpPr>
          <p:nvPr>
            <p:ph type="sldNum" sz="quarter" idx="12"/>
          </p:nvPr>
        </p:nvSpPr>
        <p:spPr/>
        <p:txBody>
          <a:bodyPr/>
          <a:lstStyle/>
          <a:p>
            <a:fld id="{006AE8E3-C79C-E14F-9140-34B0C7F543F1}" type="slidenum">
              <a:rPr lang="en-CL" smtClean="0"/>
              <a:t>5</a:t>
            </a:fld>
            <a:endParaRPr lang="en-CL"/>
          </a:p>
        </p:txBody>
      </p:sp>
    </p:spTree>
    <p:extLst>
      <p:ext uri="{BB962C8B-B14F-4D97-AF65-F5344CB8AC3E}">
        <p14:creationId xmlns:p14="http://schemas.microsoft.com/office/powerpoint/2010/main" val="405588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971676" y="1903414"/>
            <a:ext cx="7966075" cy="3016210"/>
          </a:xfrm>
          <a:prstGeom prst="rect">
            <a:avLst/>
          </a:prstGeom>
          <a:noFill/>
          <a:ln w="9525">
            <a:noFill/>
            <a:miter lim="800000"/>
            <a:headEnd/>
            <a:tailEnd/>
          </a:ln>
        </p:spPr>
        <p:txBody>
          <a:bodyPr>
            <a:prstTxWarp prst="textNoShape">
              <a:avLst/>
            </a:prstTxWarp>
            <a:spAutoFit/>
          </a:bodyPr>
          <a:lstStyle/>
          <a:p>
            <a:r>
              <a:rPr lang="es-ES" sz="3200" b="1" dirty="0">
                <a:solidFill>
                  <a:schemeClr val="accent2"/>
                </a:solidFill>
                <a:latin typeface="Gill Sans MT" panose="020B0502020104020203" pitchFamily="34" charset="77"/>
              </a:rPr>
              <a:t>Metodología</a:t>
            </a:r>
          </a:p>
          <a:p>
            <a:endParaRPr lang="es-ES" b="1" dirty="0">
              <a:solidFill>
                <a:schemeClr val="accent2"/>
              </a:solidFill>
              <a:latin typeface="Gill Sans MT" panose="020B0502020104020203" pitchFamily="34" charset="77"/>
            </a:endParaRPr>
          </a:p>
          <a:p>
            <a:r>
              <a:rPr lang="es-CL" sz="2800" dirty="0">
                <a:latin typeface="Gill Sans MT" panose="020B0502020104020203" pitchFamily="34" charset="77"/>
              </a:rPr>
              <a:t>El curso contempla clases expositivas teóricas, trabajo en clase, ejercicios en grupo y tareas individuales de programación en computador. Se realizan 2 Interrogaciones durante el semestre. El curso termina con un examen final. </a:t>
            </a:r>
            <a:endParaRPr lang="es-ES" sz="2800" dirty="0">
              <a:latin typeface="Gill Sans MT" panose="020B0502020104020203" pitchFamily="34" charset="77"/>
            </a:endParaRPr>
          </a:p>
        </p:txBody>
      </p:sp>
      <p:sp>
        <p:nvSpPr>
          <p:cNvPr id="2" name="Date Placeholder 1">
            <a:extLst>
              <a:ext uri="{FF2B5EF4-FFF2-40B4-BE49-F238E27FC236}">
                <a16:creationId xmlns:a16="http://schemas.microsoft.com/office/drawing/2014/main" id="{07E98903-23E8-4521-4D34-C438BA71C742}"/>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F53E80DA-AD51-5FB0-574C-19CF29DD0A9D}"/>
              </a:ext>
            </a:extLst>
          </p:cNvPr>
          <p:cNvSpPr>
            <a:spLocks noGrp="1"/>
          </p:cNvSpPr>
          <p:nvPr>
            <p:ph type="sldNum" sz="quarter" idx="12"/>
          </p:nvPr>
        </p:nvSpPr>
        <p:spPr/>
        <p:txBody>
          <a:bodyPr/>
          <a:lstStyle/>
          <a:p>
            <a:fld id="{006AE8E3-C79C-E14F-9140-34B0C7F543F1}" type="slidenum">
              <a:rPr lang="en-CL" smtClean="0"/>
              <a:t>6</a:t>
            </a:fld>
            <a:endParaRPr lang="en-C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408FE7-E967-6D0D-6E1F-4D7A76C429FB}"/>
              </a:ext>
            </a:extLst>
          </p:cNvPr>
          <p:cNvSpPr txBox="1"/>
          <p:nvPr/>
        </p:nvSpPr>
        <p:spPr>
          <a:xfrm>
            <a:off x="842682" y="243512"/>
            <a:ext cx="10183906" cy="4893647"/>
          </a:xfrm>
          <a:prstGeom prst="rect">
            <a:avLst/>
          </a:prstGeom>
          <a:noFill/>
        </p:spPr>
        <p:txBody>
          <a:bodyPr wrap="square" rtlCol="0">
            <a:spAutoFit/>
          </a:bodyPr>
          <a:lstStyle/>
          <a:p>
            <a:r>
              <a:rPr lang="es-ES_tradnl" sz="2400" b="1" dirty="0">
                <a:solidFill>
                  <a:schemeClr val="accent2"/>
                </a:solidFill>
                <a:latin typeface="Gill Sans MT" panose="020B0502020104020203" pitchFamily="34" charset="77"/>
              </a:rPr>
              <a:t>Evaluación</a:t>
            </a:r>
            <a:endParaRPr lang="en-CL" sz="2400" b="1" dirty="0">
              <a:solidFill>
                <a:schemeClr val="accent2"/>
              </a:solidFill>
              <a:latin typeface="Gill Sans MT" panose="020B0502020104020203" pitchFamily="34" charset="77"/>
            </a:endParaRPr>
          </a:p>
          <a:p>
            <a:r>
              <a:rPr lang="es-CL" sz="2400" dirty="0">
                <a:latin typeface="Gill Sans MT" panose="020B0502020104020203" pitchFamily="34" charset="77"/>
              </a:rPr>
              <a:t> </a:t>
            </a:r>
            <a:endParaRPr lang="en-CL" sz="2400" dirty="0">
              <a:latin typeface="Gill Sans MT" panose="020B0502020104020203" pitchFamily="34" charset="77"/>
            </a:endParaRPr>
          </a:p>
          <a:p>
            <a:pPr lvl="0"/>
            <a:r>
              <a:rPr lang="es-ES_tradnl" sz="2400" dirty="0">
                <a:latin typeface="Gill Sans MT" panose="020B0502020104020203" pitchFamily="34" charset="77"/>
              </a:rPr>
              <a:t>Ejercicios en clases	12% </a:t>
            </a:r>
            <a:endParaRPr lang="en-CL" sz="2400" dirty="0">
              <a:latin typeface="Gill Sans MT" panose="020B0502020104020203" pitchFamily="34" charset="77"/>
            </a:endParaRPr>
          </a:p>
          <a:p>
            <a:pPr lvl="0"/>
            <a:r>
              <a:rPr lang="es-ES_tradnl" sz="2400" dirty="0">
                <a:latin typeface="Gill Sans MT" panose="020B0502020104020203" pitchFamily="34" charset="77"/>
              </a:rPr>
              <a:t>Tres tareas		24%</a:t>
            </a:r>
            <a:endParaRPr lang="en-CL" sz="2400" dirty="0">
              <a:latin typeface="Gill Sans MT" panose="020B0502020104020203" pitchFamily="34" charset="77"/>
            </a:endParaRPr>
          </a:p>
          <a:p>
            <a:pPr lvl="0"/>
            <a:r>
              <a:rPr lang="es-ES_tradnl" sz="2400" dirty="0">
                <a:latin typeface="Gill Sans MT" panose="020B0502020104020203" pitchFamily="34" charset="77"/>
              </a:rPr>
              <a:t>Dos Interrogaciones	36%</a:t>
            </a:r>
            <a:endParaRPr lang="en-CL" sz="2400" dirty="0">
              <a:latin typeface="Gill Sans MT" panose="020B0502020104020203" pitchFamily="34" charset="77"/>
            </a:endParaRPr>
          </a:p>
          <a:p>
            <a:pPr lvl="0"/>
            <a:r>
              <a:rPr lang="es-ES_tradnl" sz="2400" dirty="0">
                <a:latin typeface="Gill Sans MT" panose="020B0502020104020203" pitchFamily="34" charset="77"/>
              </a:rPr>
              <a:t>Examen Final 		28%</a:t>
            </a:r>
            <a:endParaRPr lang="en-CL" sz="2400" dirty="0">
              <a:latin typeface="Gill Sans MT" panose="020B0502020104020203" pitchFamily="34" charset="77"/>
            </a:endParaRPr>
          </a:p>
          <a:p>
            <a:r>
              <a:rPr lang="es-ES_tradnl" sz="2400" dirty="0">
                <a:latin typeface="Gill Sans MT" panose="020B0502020104020203" pitchFamily="34" charset="77"/>
              </a:rPr>
              <a:t> </a:t>
            </a:r>
            <a:endParaRPr lang="en-CL" sz="2400" dirty="0">
              <a:latin typeface="Gill Sans MT" panose="020B0502020104020203" pitchFamily="34" charset="77"/>
            </a:endParaRPr>
          </a:p>
          <a:p>
            <a:r>
              <a:rPr lang="es-ES_tradnl" sz="2400" dirty="0">
                <a:latin typeface="Gill Sans MT" panose="020B0502020104020203" pitchFamily="34" charset="77"/>
              </a:rPr>
              <a:t>En escala de 1 a 7, para aprobar el curso se debe obtener en cada uno de estos cuatro ítems 3.4500 o más (</a:t>
            </a:r>
            <a:r>
              <a:rPr lang="es-ES" sz="2400" dirty="0">
                <a:latin typeface="Gill Sans MT" panose="020B0502020104020203" pitchFamily="34" charset="77"/>
              </a:rPr>
              <a:t>en casos muy excepcionales y justificados se bajará este umbral hasta 2.9500</a:t>
            </a:r>
            <a:r>
              <a:rPr lang="es-ES_tradnl" sz="2400" dirty="0">
                <a:latin typeface="Gill Sans MT" panose="020B0502020104020203" pitchFamily="34" charset="77"/>
              </a:rPr>
              <a:t>), de lo contrario la nota será el mínimo de ellas.</a:t>
            </a:r>
            <a:endParaRPr lang="en-CL" sz="2400" dirty="0">
              <a:latin typeface="Gill Sans MT" panose="020B0502020104020203" pitchFamily="34" charset="77"/>
            </a:endParaRPr>
          </a:p>
          <a:p>
            <a:r>
              <a:rPr lang="es-CL" sz="2400" dirty="0">
                <a:latin typeface="Gill Sans MT" panose="020B0502020104020203" pitchFamily="34" charset="77"/>
              </a:rPr>
              <a:t> </a:t>
            </a:r>
            <a:endParaRPr lang="en-CL" sz="2400" dirty="0">
              <a:latin typeface="Gill Sans MT" panose="020B0502020104020203" pitchFamily="34" charset="77"/>
            </a:endParaRPr>
          </a:p>
          <a:p>
            <a:endParaRPr lang="en-CL" sz="2400" dirty="0">
              <a:latin typeface="Gill Sans MT" panose="020B0502020104020203" pitchFamily="34" charset="77"/>
            </a:endParaRPr>
          </a:p>
          <a:p>
            <a:endParaRPr lang="en-CL" sz="2400" dirty="0">
              <a:latin typeface="Gill Sans MT" panose="020B0502020104020203" pitchFamily="34" charset="77"/>
            </a:endParaRPr>
          </a:p>
        </p:txBody>
      </p:sp>
      <p:sp>
        <p:nvSpPr>
          <p:cNvPr id="3" name="Date Placeholder 2">
            <a:extLst>
              <a:ext uri="{FF2B5EF4-FFF2-40B4-BE49-F238E27FC236}">
                <a16:creationId xmlns:a16="http://schemas.microsoft.com/office/drawing/2014/main" id="{AEE73E4E-1BEF-2F6C-9308-449A49A730EF}"/>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8D07BE62-7141-3BD1-43C0-956A8A939F82}"/>
              </a:ext>
            </a:extLst>
          </p:cNvPr>
          <p:cNvSpPr>
            <a:spLocks noGrp="1"/>
          </p:cNvSpPr>
          <p:nvPr>
            <p:ph type="sldNum" sz="quarter" idx="12"/>
          </p:nvPr>
        </p:nvSpPr>
        <p:spPr/>
        <p:txBody>
          <a:bodyPr/>
          <a:lstStyle/>
          <a:p>
            <a:fld id="{006AE8E3-C79C-E14F-9140-34B0C7F543F1}" type="slidenum">
              <a:rPr lang="en-CL" smtClean="0"/>
              <a:t>7</a:t>
            </a:fld>
            <a:endParaRPr lang="en-CL"/>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6DDF7-7B6E-31FD-E0DA-5131BD16B8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606721-D801-2BCC-B786-988934EA77C2}"/>
              </a:ext>
            </a:extLst>
          </p:cNvPr>
          <p:cNvSpPr txBox="1"/>
          <p:nvPr/>
        </p:nvSpPr>
        <p:spPr>
          <a:xfrm>
            <a:off x="842682" y="243512"/>
            <a:ext cx="10183906" cy="6370975"/>
          </a:xfrm>
          <a:prstGeom prst="rect">
            <a:avLst/>
          </a:prstGeom>
          <a:noFill/>
        </p:spPr>
        <p:txBody>
          <a:bodyPr wrap="square" rtlCol="0">
            <a:spAutoFit/>
          </a:bodyPr>
          <a:lstStyle/>
          <a:p>
            <a:r>
              <a:rPr lang="es-ES_tradnl" sz="2400" b="1" dirty="0">
                <a:solidFill>
                  <a:schemeClr val="accent2"/>
                </a:solidFill>
                <a:latin typeface="Gill Sans MT" panose="020B0502020104020203" pitchFamily="34" charset="77"/>
              </a:rPr>
              <a:t>Evaluación</a:t>
            </a:r>
            <a:endParaRPr lang="en-CL" sz="2400" b="1" dirty="0">
              <a:solidFill>
                <a:schemeClr val="accent2"/>
              </a:solidFill>
              <a:latin typeface="Gill Sans MT" panose="020B0502020104020203" pitchFamily="34" charset="77"/>
            </a:endParaRPr>
          </a:p>
          <a:p>
            <a:r>
              <a:rPr lang="es-CL" sz="2400" dirty="0">
                <a:latin typeface="Gill Sans MT" panose="020B0502020104020203" pitchFamily="34" charset="77"/>
              </a:rPr>
              <a:t> </a:t>
            </a:r>
            <a:endParaRPr lang="en-CL" sz="2400" dirty="0">
              <a:latin typeface="Gill Sans MT" panose="020B0502020104020203" pitchFamily="34" charset="77"/>
            </a:endParaRPr>
          </a:p>
          <a:p>
            <a:pPr lvl="0"/>
            <a:r>
              <a:rPr lang="es-ES_tradnl" sz="2400" dirty="0">
                <a:latin typeface="Gill Sans MT" panose="020B0502020104020203" pitchFamily="34" charset="77"/>
              </a:rPr>
              <a:t>Ejercicios en clases	12% </a:t>
            </a:r>
            <a:endParaRPr lang="en-CL" sz="2400" dirty="0">
              <a:latin typeface="Gill Sans MT" panose="020B0502020104020203" pitchFamily="34" charset="77"/>
            </a:endParaRPr>
          </a:p>
          <a:p>
            <a:pPr lvl="0"/>
            <a:r>
              <a:rPr lang="es-ES_tradnl" sz="2400" dirty="0">
                <a:latin typeface="Gill Sans MT" panose="020B0502020104020203" pitchFamily="34" charset="77"/>
              </a:rPr>
              <a:t>Tres tareas		24%</a:t>
            </a:r>
            <a:endParaRPr lang="en-CL" sz="2400" dirty="0">
              <a:latin typeface="Gill Sans MT" panose="020B0502020104020203" pitchFamily="34" charset="77"/>
            </a:endParaRPr>
          </a:p>
          <a:p>
            <a:pPr lvl="0"/>
            <a:r>
              <a:rPr lang="es-ES_tradnl" sz="2400" dirty="0">
                <a:latin typeface="Gill Sans MT" panose="020B0502020104020203" pitchFamily="34" charset="77"/>
              </a:rPr>
              <a:t>Dos Interrogaciones	36%</a:t>
            </a:r>
            <a:endParaRPr lang="en-CL" sz="2400" dirty="0">
              <a:latin typeface="Gill Sans MT" panose="020B0502020104020203" pitchFamily="34" charset="77"/>
            </a:endParaRPr>
          </a:p>
          <a:p>
            <a:pPr lvl="0"/>
            <a:r>
              <a:rPr lang="es-ES_tradnl" sz="2400" dirty="0">
                <a:latin typeface="Gill Sans MT" panose="020B0502020104020203" pitchFamily="34" charset="77"/>
              </a:rPr>
              <a:t>Examen Final 		28%</a:t>
            </a:r>
            <a:endParaRPr lang="en-CL" sz="2400" dirty="0">
              <a:latin typeface="Gill Sans MT" panose="020B0502020104020203" pitchFamily="34" charset="77"/>
            </a:endParaRPr>
          </a:p>
          <a:p>
            <a:r>
              <a:rPr lang="es-ES_tradnl" sz="2400" dirty="0">
                <a:latin typeface="Gill Sans MT" panose="020B0502020104020203" pitchFamily="34" charset="77"/>
              </a:rPr>
              <a:t> </a:t>
            </a:r>
            <a:endParaRPr lang="en-CL" sz="2400" dirty="0">
              <a:latin typeface="Gill Sans MT" panose="020B0502020104020203" pitchFamily="34" charset="77"/>
            </a:endParaRPr>
          </a:p>
          <a:p>
            <a:r>
              <a:rPr lang="es-ES_tradnl" sz="2400" dirty="0">
                <a:latin typeface="Gill Sans MT" panose="020B0502020104020203" pitchFamily="34" charset="77"/>
              </a:rPr>
              <a:t>En escala de 1 a 7, para aprobar el curso se debe obtener en cada uno de estos cuatro ítems 3.4500 o más (</a:t>
            </a:r>
            <a:r>
              <a:rPr lang="es-ES" sz="2400" dirty="0">
                <a:latin typeface="Gill Sans MT" panose="020B0502020104020203" pitchFamily="34" charset="77"/>
              </a:rPr>
              <a:t>en casos muy excepcionales y justificados se bajará este umbral hasta 2.9500</a:t>
            </a:r>
            <a:r>
              <a:rPr lang="es-ES_tradnl" sz="2400" dirty="0">
                <a:latin typeface="Gill Sans MT" panose="020B0502020104020203" pitchFamily="34" charset="77"/>
              </a:rPr>
              <a:t>), de lo contrario la nota será el mínimo de ellas.</a:t>
            </a:r>
            <a:endParaRPr lang="en-CL" sz="2400" dirty="0">
              <a:latin typeface="Gill Sans MT" panose="020B0502020104020203" pitchFamily="34" charset="77"/>
            </a:endParaRPr>
          </a:p>
          <a:p>
            <a:r>
              <a:rPr lang="es-CL" sz="2400" dirty="0">
                <a:latin typeface="Gill Sans MT" panose="020B0502020104020203" pitchFamily="34" charset="77"/>
              </a:rPr>
              <a:t> </a:t>
            </a:r>
            <a:endParaRPr lang="en-CL" sz="2400" dirty="0">
              <a:latin typeface="Gill Sans MT" panose="020B0502020104020203" pitchFamily="34" charset="77"/>
            </a:endParaRPr>
          </a:p>
          <a:p>
            <a:r>
              <a:rPr lang="es-ES" sz="2400" b="1" dirty="0">
                <a:solidFill>
                  <a:schemeClr val="accent2"/>
                </a:solidFill>
                <a:latin typeface="Gill Sans MT" panose="020B0502020104020203" pitchFamily="34" charset="77"/>
              </a:rPr>
              <a:t>Fechas</a:t>
            </a:r>
            <a:endParaRPr lang="en-CL" sz="2400" b="1" dirty="0">
              <a:solidFill>
                <a:schemeClr val="accent2"/>
              </a:solidFill>
              <a:latin typeface="Gill Sans MT" panose="020B0502020104020203" pitchFamily="34" charset="77"/>
            </a:endParaRPr>
          </a:p>
          <a:p>
            <a:r>
              <a:rPr lang="es-ES" sz="2400" dirty="0">
                <a:latin typeface="Gill Sans MT" panose="020B0502020104020203" pitchFamily="34" charset="77"/>
              </a:rPr>
              <a:t> </a:t>
            </a:r>
            <a:endParaRPr lang="en-CL" sz="2400" dirty="0">
              <a:latin typeface="Gill Sans MT" panose="020B0502020104020203" pitchFamily="34" charset="77"/>
            </a:endParaRPr>
          </a:p>
          <a:p>
            <a:r>
              <a:rPr lang="es-ES_tradnl" sz="2400" dirty="0">
                <a:latin typeface="Gill Sans MT" panose="020B0502020104020203" pitchFamily="34" charset="77"/>
              </a:rPr>
              <a:t>Primera Interrogación: 		será anunciada</a:t>
            </a:r>
            <a:endParaRPr lang="en-CL" sz="2400" dirty="0">
              <a:solidFill>
                <a:srgbClr val="FF0000"/>
              </a:solidFill>
              <a:latin typeface="Gill Sans MT" panose="020B0502020104020203" pitchFamily="34" charset="77"/>
            </a:endParaRPr>
          </a:p>
          <a:p>
            <a:r>
              <a:rPr lang="es-ES_tradnl" sz="2400" dirty="0">
                <a:latin typeface="Gill Sans MT" panose="020B0502020104020203" pitchFamily="34" charset="77"/>
              </a:rPr>
              <a:t>Segunda Interrogación: 		será anunciada</a:t>
            </a:r>
            <a:endParaRPr lang="en-CL" sz="2400" dirty="0">
              <a:latin typeface="Gill Sans MT" panose="020B0502020104020203" pitchFamily="34" charset="77"/>
            </a:endParaRPr>
          </a:p>
          <a:p>
            <a:r>
              <a:rPr lang="en-US" sz="2400" dirty="0">
                <a:latin typeface="Gill Sans MT" panose="020B0502020104020203" pitchFamily="34" charset="77"/>
              </a:rPr>
              <a:t>Examen Final:				</a:t>
            </a:r>
            <a:r>
              <a:rPr lang="en-US" sz="2400" dirty="0" err="1">
                <a:latin typeface="Gill Sans MT" panose="020B0502020104020203" pitchFamily="34" charset="77"/>
              </a:rPr>
              <a:t>será</a:t>
            </a:r>
            <a:r>
              <a:rPr lang="en-US" sz="2400" dirty="0">
                <a:latin typeface="Gill Sans MT" panose="020B0502020104020203" pitchFamily="34" charset="77"/>
              </a:rPr>
              <a:t> </a:t>
            </a:r>
            <a:r>
              <a:rPr lang="en-US" sz="2400" dirty="0" err="1">
                <a:latin typeface="Gill Sans MT" panose="020B0502020104020203" pitchFamily="34" charset="77"/>
              </a:rPr>
              <a:t>anunciada</a:t>
            </a:r>
            <a:endParaRPr lang="en-CL" sz="2400" dirty="0">
              <a:latin typeface="Gill Sans MT" panose="020B0502020104020203" pitchFamily="34" charset="77"/>
            </a:endParaRPr>
          </a:p>
          <a:p>
            <a:endParaRPr lang="en-CL" sz="2400" dirty="0">
              <a:latin typeface="Gill Sans MT" panose="020B0502020104020203" pitchFamily="34" charset="77"/>
            </a:endParaRPr>
          </a:p>
        </p:txBody>
      </p:sp>
      <p:sp>
        <p:nvSpPr>
          <p:cNvPr id="3" name="Date Placeholder 2">
            <a:extLst>
              <a:ext uri="{FF2B5EF4-FFF2-40B4-BE49-F238E27FC236}">
                <a16:creationId xmlns:a16="http://schemas.microsoft.com/office/drawing/2014/main" id="{D17C4660-465E-E5D4-A430-D6205D5DC4E1}"/>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80DAF5DF-AD0D-BCA8-06D4-0C76CCA3E233}"/>
              </a:ext>
            </a:extLst>
          </p:cNvPr>
          <p:cNvSpPr>
            <a:spLocks noGrp="1"/>
          </p:cNvSpPr>
          <p:nvPr>
            <p:ph type="sldNum" sz="quarter" idx="12"/>
          </p:nvPr>
        </p:nvSpPr>
        <p:spPr/>
        <p:txBody>
          <a:bodyPr/>
          <a:lstStyle/>
          <a:p>
            <a:fld id="{006AE8E3-C79C-E14F-9140-34B0C7F543F1}" type="slidenum">
              <a:rPr lang="en-CL" smtClean="0"/>
              <a:t>8</a:t>
            </a:fld>
            <a:endParaRPr lang="en-CL"/>
          </a:p>
        </p:txBody>
      </p:sp>
    </p:spTree>
    <p:extLst>
      <p:ext uri="{BB962C8B-B14F-4D97-AF65-F5344CB8AC3E}">
        <p14:creationId xmlns:p14="http://schemas.microsoft.com/office/powerpoint/2010/main" val="2145240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77906" y="735039"/>
            <a:ext cx="11636188" cy="6432530"/>
          </a:xfrm>
          <a:prstGeom prst="rect">
            <a:avLst/>
          </a:prstGeom>
          <a:noFill/>
          <a:ln w="9525">
            <a:noFill/>
            <a:miter lim="800000"/>
            <a:headEnd/>
            <a:tailEnd/>
          </a:ln>
        </p:spPr>
        <p:txBody>
          <a:bodyPr wrap="square">
            <a:prstTxWarp prst="textNoShape">
              <a:avLst/>
            </a:prstTxWarp>
            <a:spAutoFit/>
          </a:bodyPr>
          <a:lstStyle/>
          <a:p>
            <a:r>
              <a:rPr lang="es-ES" sz="2800" b="1" dirty="0">
                <a:solidFill>
                  <a:schemeClr val="accent2"/>
                </a:solidFill>
                <a:latin typeface="Gill Sans MT" panose="020B0502020104020203" pitchFamily="34" charset="77"/>
              </a:rPr>
              <a:t>Bibliografía</a:t>
            </a:r>
          </a:p>
          <a:p>
            <a:endParaRPr lang="es-ES" sz="2400" b="1" dirty="0">
              <a:solidFill>
                <a:schemeClr val="accent2"/>
              </a:solidFill>
              <a:latin typeface="Gill Sans MT" panose="020B0502020104020203" pitchFamily="34" charset="77"/>
            </a:endParaRPr>
          </a:p>
          <a:p>
            <a:pPr marL="342900" indent="-342900">
              <a:buFont typeface="Arial" panose="020B0604020202020204" pitchFamily="34" charset="0"/>
              <a:buChar char="•"/>
            </a:pPr>
            <a:r>
              <a:rPr lang="es-ES" sz="2000" dirty="0" err="1">
                <a:latin typeface="Gill Sans MT" panose="020B0502020104020203" pitchFamily="34" charset="77"/>
              </a:rPr>
              <a:t>Bishop</a:t>
            </a:r>
            <a:r>
              <a:rPr lang="es-ES" sz="2000" dirty="0">
                <a:latin typeface="Gill Sans MT" panose="020B0502020104020203" pitchFamily="34" charset="77"/>
              </a:rPr>
              <a:t>, C.,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Recognition</a:t>
            </a:r>
            <a:r>
              <a:rPr lang="es-ES" sz="2000" dirty="0">
                <a:latin typeface="Gill Sans MT" panose="020B0502020104020203" pitchFamily="34" charset="77"/>
              </a:rPr>
              <a:t> and machine </a:t>
            </a:r>
            <a:r>
              <a:rPr lang="es-ES" sz="2000" dirty="0" err="1">
                <a:latin typeface="Gill Sans MT" panose="020B0502020104020203" pitchFamily="34" charset="77"/>
              </a:rPr>
              <a:t>Learning</a:t>
            </a:r>
            <a:r>
              <a:rPr lang="es-ES" sz="2000" dirty="0">
                <a:latin typeface="Gill Sans MT" panose="020B0502020104020203" pitchFamily="34" charset="77"/>
              </a:rPr>
              <a:t>, Springer, 2006.</a:t>
            </a:r>
          </a:p>
          <a:p>
            <a:pPr marL="342900" indent="-342900">
              <a:buFont typeface="Arial" panose="020B0604020202020204" pitchFamily="34" charset="0"/>
              <a:buChar char="•"/>
            </a:pPr>
            <a:r>
              <a:rPr lang="es-ES" sz="2000" dirty="0" err="1">
                <a:latin typeface="Gill Sans MT" panose="020B0502020104020203" pitchFamily="34" charset="77"/>
              </a:rPr>
              <a:t>Bishop</a:t>
            </a:r>
            <a:r>
              <a:rPr lang="es-ES" sz="2000" dirty="0">
                <a:latin typeface="Gill Sans MT" panose="020B0502020104020203" pitchFamily="34" charset="77"/>
              </a:rPr>
              <a:t>, C., Neural Network </a:t>
            </a:r>
            <a:r>
              <a:rPr lang="es-ES" sz="2000" dirty="0" err="1">
                <a:latin typeface="Gill Sans MT" panose="020B0502020104020203" pitchFamily="34" charset="77"/>
              </a:rPr>
              <a:t>for</a:t>
            </a:r>
            <a:r>
              <a:rPr lang="es-ES" sz="2000" dirty="0">
                <a:latin typeface="Gill Sans MT" panose="020B0502020104020203" pitchFamily="34" charset="77"/>
              </a:rPr>
              <a:t>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Recognition</a:t>
            </a:r>
            <a:r>
              <a:rPr lang="es-ES" sz="2000" dirty="0">
                <a:latin typeface="Gill Sans MT" panose="020B0502020104020203" pitchFamily="34" charset="77"/>
              </a:rPr>
              <a:t>, New York, Oxford </a:t>
            </a:r>
            <a:r>
              <a:rPr lang="es-ES" sz="2000" dirty="0" err="1">
                <a:latin typeface="Gill Sans MT" panose="020B0502020104020203" pitchFamily="34" charset="77"/>
              </a:rPr>
              <a:t>University</a:t>
            </a:r>
            <a:r>
              <a:rPr lang="es-ES" sz="2000" dirty="0">
                <a:latin typeface="Gill Sans MT" panose="020B0502020104020203" pitchFamily="34" charset="77"/>
              </a:rPr>
              <a:t> </a:t>
            </a:r>
            <a:r>
              <a:rPr lang="es-ES" sz="2000" dirty="0" err="1">
                <a:latin typeface="Gill Sans MT" panose="020B0502020104020203" pitchFamily="34" charset="77"/>
              </a:rPr>
              <a:t>Press</a:t>
            </a:r>
            <a:r>
              <a:rPr lang="es-ES" sz="2000" dirty="0">
                <a:latin typeface="Gill Sans MT" panose="020B0502020104020203" pitchFamily="34" charset="77"/>
              </a:rPr>
              <a:t> Inc., </a:t>
            </a:r>
            <a:r>
              <a:rPr lang="es-ES" sz="2000" dirty="0" err="1">
                <a:latin typeface="Gill Sans MT" panose="020B0502020104020203" pitchFamily="34" charset="77"/>
              </a:rPr>
              <a:t>Reprinted</a:t>
            </a:r>
            <a:r>
              <a:rPr lang="es-ES" sz="2000" dirty="0">
                <a:latin typeface="Gill Sans MT" panose="020B0502020104020203" pitchFamily="34" charset="77"/>
              </a:rPr>
              <a:t>, 2005.</a:t>
            </a:r>
          </a:p>
          <a:p>
            <a:pPr marL="342900" indent="-342900">
              <a:buFont typeface="Arial" panose="020B0604020202020204" pitchFamily="34" charset="0"/>
              <a:buChar char="•"/>
            </a:pPr>
            <a:r>
              <a:rPr lang="es-ES" sz="2000" dirty="0">
                <a:latin typeface="Gill Sans MT" panose="020B0502020104020203" pitchFamily="34" charset="77"/>
              </a:rPr>
              <a:t>da Fontoura, L.; </a:t>
            </a:r>
            <a:r>
              <a:rPr lang="es-ES" sz="2000" dirty="0" err="1">
                <a:latin typeface="Gill Sans MT" panose="020B0502020104020203" pitchFamily="34" charset="77"/>
              </a:rPr>
              <a:t>Marcondes</a:t>
            </a:r>
            <a:r>
              <a:rPr lang="es-ES" sz="2000" dirty="0">
                <a:latin typeface="Gill Sans MT" panose="020B0502020104020203" pitchFamily="34" charset="77"/>
              </a:rPr>
              <a:t>, R., </a:t>
            </a:r>
            <a:r>
              <a:rPr lang="es-ES" sz="2000" dirty="0" err="1">
                <a:latin typeface="Gill Sans MT" panose="020B0502020104020203" pitchFamily="34" charset="77"/>
              </a:rPr>
              <a:t>Shape</a:t>
            </a:r>
            <a:r>
              <a:rPr lang="es-ES" sz="2000" dirty="0">
                <a:latin typeface="Gill Sans MT" panose="020B0502020104020203" pitchFamily="34" charset="77"/>
              </a:rPr>
              <a:t> </a:t>
            </a:r>
            <a:r>
              <a:rPr lang="es-ES" sz="2000" dirty="0" err="1">
                <a:latin typeface="Gill Sans MT" panose="020B0502020104020203" pitchFamily="34" charset="77"/>
              </a:rPr>
              <a:t>Analysis</a:t>
            </a:r>
            <a:r>
              <a:rPr lang="es-ES" sz="2000" dirty="0">
                <a:latin typeface="Gill Sans MT" panose="020B0502020104020203" pitchFamily="34" charset="77"/>
              </a:rPr>
              <a:t> and </a:t>
            </a:r>
            <a:r>
              <a:rPr lang="es-ES" sz="2000" dirty="0" err="1">
                <a:latin typeface="Gill Sans MT" panose="020B0502020104020203" pitchFamily="34" charset="77"/>
              </a:rPr>
              <a:t>Classification</a:t>
            </a:r>
            <a:r>
              <a:rPr lang="es-ES" sz="2000" dirty="0">
                <a:latin typeface="Gill Sans MT" panose="020B0502020104020203" pitchFamily="34" charset="77"/>
              </a:rPr>
              <a:t>, Boca </a:t>
            </a:r>
            <a:r>
              <a:rPr lang="es-ES" sz="2000" dirty="0" err="1">
                <a:latin typeface="Gill Sans MT" panose="020B0502020104020203" pitchFamily="34" charset="77"/>
              </a:rPr>
              <a:t>Raton</a:t>
            </a:r>
            <a:r>
              <a:rPr lang="es-ES" sz="2000" dirty="0">
                <a:latin typeface="Gill Sans MT" panose="020B0502020104020203" pitchFamily="34" charset="77"/>
              </a:rPr>
              <a:t>, CRC </a:t>
            </a:r>
            <a:r>
              <a:rPr lang="es-ES" sz="2000" dirty="0" err="1">
                <a:latin typeface="Gill Sans MT" panose="020B0502020104020203" pitchFamily="34" charset="77"/>
              </a:rPr>
              <a:t>Press</a:t>
            </a:r>
            <a:r>
              <a:rPr lang="es-ES" sz="2000" dirty="0">
                <a:latin typeface="Gill Sans MT" panose="020B0502020104020203" pitchFamily="34" charset="77"/>
              </a:rPr>
              <a:t>, 2001.</a:t>
            </a:r>
          </a:p>
          <a:p>
            <a:pPr marL="342900" indent="-342900">
              <a:buFont typeface="Arial" panose="020B0604020202020204" pitchFamily="34" charset="0"/>
              <a:buChar char="•"/>
            </a:pPr>
            <a:r>
              <a:rPr lang="es-ES" sz="2000" dirty="0">
                <a:latin typeface="Gill Sans MT" panose="020B0502020104020203" pitchFamily="34" charset="77"/>
              </a:rPr>
              <a:t>Duda, R.; Hart, P.; </a:t>
            </a:r>
            <a:r>
              <a:rPr lang="es-ES" sz="2000" dirty="0" err="1">
                <a:latin typeface="Gill Sans MT" panose="020B0502020104020203" pitchFamily="34" charset="77"/>
              </a:rPr>
              <a:t>Stork</a:t>
            </a:r>
            <a:r>
              <a:rPr lang="es-ES" sz="2000" dirty="0">
                <a:latin typeface="Gill Sans MT" panose="020B0502020104020203" pitchFamily="34" charset="77"/>
              </a:rPr>
              <a:t>, D.,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Classification</a:t>
            </a:r>
            <a:r>
              <a:rPr lang="es-ES" sz="2000" dirty="0">
                <a:latin typeface="Gill Sans MT" panose="020B0502020104020203" pitchFamily="34" charset="77"/>
              </a:rPr>
              <a:t>, New York, John Wiley &amp; </a:t>
            </a:r>
            <a:r>
              <a:rPr lang="es-ES" sz="2000" dirty="0" err="1">
                <a:latin typeface="Gill Sans MT" panose="020B0502020104020203" pitchFamily="34" charset="77"/>
              </a:rPr>
              <a:t>Sons</a:t>
            </a:r>
            <a:r>
              <a:rPr lang="es-ES" sz="2000" dirty="0">
                <a:latin typeface="Gill Sans MT" panose="020B0502020104020203" pitchFamily="34" charset="77"/>
              </a:rPr>
              <a:t>, Inc., 2001.</a:t>
            </a:r>
          </a:p>
          <a:p>
            <a:pPr marL="342900" indent="-342900">
              <a:buFont typeface="Arial" panose="020B0604020202020204" pitchFamily="34" charset="0"/>
              <a:buChar char="•"/>
            </a:pPr>
            <a:r>
              <a:rPr lang="es-ES" sz="2000" dirty="0">
                <a:latin typeface="Gill Sans MT" panose="020B0502020104020203" pitchFamily="34" charset="77"/>
              </a:rPr>
              <a:t>Hastie, T.; </a:t>
            </a:r>
            <a:r>
              <a:rPr lang="es-ES" sz="2000" dirty="0" err="1">
                <a:latin typeface="Gill Sans MT" panose="020B0502020104020203" pitchFamily="34" charset="77"/>
              </a:rPr>
              <a:t>Tibshirani</a:t>
            </a:r>
            <a:r>
              <a:rPr lang="es-ES" sz="2000" dirty="0">
                <a:latin typeface="Gill Sans MT" panose="020B0502020104020203" pitchFamily="34" charset="77"/>
              </a:rPr>
              <a:t>, R.; Friedman, J., </a:t>
            </a:r>
            <a:r>
              <a:rPr lang="es-ES" sz="2000" dirty="0" err="1">
                <a:latin typeface="Gill Sans MT" panose="020B0502020104020203" pitchFamily="34" charset="77"/>
              </a:rPr>
              <a:t>The</a:t>
            </a:r>
            <a:r>
              <a:rPr lang="es-ES" sz="2000" dirty="0">
                <a:latin typeface="Gill Sans MT" panose="020B0502020104020203" pitchFamily="34" charset="77"/>
              </a:rPr>
              <a:t> </a:t>
            </a:r>
            <a:r>
              <a:rPr lang="es-ES" sz="2000" dirty="0" err="1">
                <a:latin typeface="Gill Sans MT" panose="020B0502020104020203" pitchFamily="34" charset="77"/>
              </a:rPr>
              <a:t>Elements</a:t>
            </a:r>
            <a:r>
              <a:rPr lang="es-ES" sz="2000" dirty="0">
                <a:latin typeface="Gill Sans MT" panose="020B0502020104020203" pitchFamily="34" charset="77"/>
              </a:rPr>
              <a:t> </a:t>
            </a:r>
            <a:r>
              <a:rPr lang="es-ES" sz="2000" dirty="0" err="1">
                <a:latin typeface="Gill Sans MT" panose="020B0502020104020203" pitchFamily="34" charset="77"/>
              </a:rPr>
              <a:t>of</a:t>
            </a:r>
            <a:r>
              <a:rPr lang="es-ES" sz="2000" dirty="0">
                <a:latin typeface="Gill Sans MT" panose="020B0502020104020203" pitchFamily="34" charset="77"/>
              </a:rPr>
              <a:t> </a:t>
            </a:r>
            <a:r>
              <a:rPr lang="es-ES" sz="2000" dirty="0" err="1">
                <a:latin typeface="Gill Sans MT" panose="020B0502020104020203" pitchFamily="34" charset="77"/>
              </a:rPr>
              <a:t>Statistical</a:t>
            </a:r>
            <a:r>
              <a:rPr lang="es-ES" sz="2000" dirty="0">
                <a:latin typeface="Gill Sans MT" panose="020B0502020104020203" pitchFamily="34" charset="77"/>
              </a:rPr>
              <a:t> </a:t>
            </a:r>
            <a:r>
              <a:rPr lang="es-ES" sz="2000" dirty="0" err="1">
                <a:latin typeface="Gill Sans MT" panose="020B0502020104020203" pitchFamily="34" charset="77"/>
              </a:rPr>
              <a:t>Learning</a:t>
            </a:r>
            <a:r>
              <a:rPr lang="es-ES" sz="2000" dirty="0">
                <a:latin typeface="Gill Sans MT" panose="020B0502020104020203" pitchFamily="34" charset="77"/>
              </a:rPr>
              <a:t>, Springer, 2001.</a:t>
            </a:r>
          </a:p>
          <a:p>
            <a:pPr marL="342900" indent="-342900">
              <a:buFont typeface="Arial" panose="020B0604020202020204" pitchFamily="34" charset="0"/>
              <a:buChar char="•"/>
            </a:pPr>
            <a:r>
              <a:rPr lang="es-ES" sz="2000" dirty="0" err="1">
                <a:latin typeface="Gill Sans MT" panose="020B0502020104020203" pitchFamily="34" charset="77"/>
              </a:rPr>
              <a:t>Marsland</a:t>
            </a:r>
            <a:r>
              <a:rPr lang="es-ES" sz="2000" dirty="0">
                <a:latin typeface="Gill Sans MT" panose="020B0502020104020203" pitchFamily="34" charset="77"/>
              </a:rPr>
              <a:t>, S., Machine </a:t>
            </a:r>
            <a:r>
              <a:rPr lang="es-ES" sz="2000" dirty="0" err="1">
                <a:latin typeface="Gill Sans MT" panose="020B0502020104020203" pitchFamily="34" charset="77"/>
              </a:rPr>
              <a:t>Learning</a:t>
            </a:r>
            <a:r>
              <a:rPr lang="es-ES" sz="2000" dirty="0">
                <a:latin typeface="Gill Sans MT" panose="020B0502020104020203" pitchFamily="34" charset="77"/>
              </a:rPr>
              <a:t>: </a:t>
            </a:r>
            <a:r>
              <a:rPr lang="es-ES" sz="2000" dirty="0" err="1">
                <a:latin typeface="Gill Sans MT" panose="020B0502020104020203" pitchFamily="34" charset="77"/>
              </a:rPr>
              <a:t>An</a:t>
            </a:r>
            <a:r>
              <a:rPr lang="es-ES" sz="2000" dirty="0">
                <a:latin typeface="Gill Sans MT" panose="020B0502020104020203" pitchFamily="34" charset="77"/>
              </a:rPr>
              <a:t> </a:t>
            </a:r>
            <a:r>
              <a:rPr lang="es-ES" sz="2000" dirty="0" err="1">
                <a:latin typeface="Gill Sans MT" panose="020B0502020104020203" pitchFamily="34" charset="77"/>
              </a:rPr>
              <a:t>algorithmic</a:t>
            </a:r>
            <a:r>
              <a:rPr lang="es-ES" sz="2000" dirty="0">
                <a:latin typeface="Gill Sans MT" panose="020B0502020104020203" pitchFamily="34" charset="77"/>
              </a:rPr>
              <a:t> </a:t>
            </a:r>
            <a:r>
              <a:rPr lang="es-ES" sz="2000" dirty="0" err="1">
                <a:latin typeface="Gill Sans MT" panose="020B0502020104020203" pitchFamily="34" charset="77"/>
              </a:rPr>
              <a:t>Perspective</a:t>
            </a:r>
            <a:r>
              <a:rPr lang="es-ES" sz="2000" dirty="0">
                <a:latin typeface="Gill Sans MT" panose="020B0502020104020203" pitchFamily="34" charset="77"/>
              </a:rPr>
              <a:t>, CRC </a:t>
            </a:r>
            <a:r>
              <a:rPr lang="es-ES" sz="2000" dirty="0" err="1">
                <a:latin typeface="Gill Sans MT" panose="020B0502020104020203" pitchFamily="34" charset="77"/>
              </a:rPr>
              <a:t>Press</a:t>
            </a:r>
            <a:r>
              <a:rPr lang="es-ES" sz="2000" dirty="0">
                <a:latin typeface="Gill Sans MT" panose="020B0502020104020203" pitchFamily="34" charset="77"/>
              </a:rPr>
              <a:t>, 2009.</a:t>
            </a:r>
          </a:p>
          <a:p>
            <a:pPr marL="342900" indent="-342900">
              <a:buFont typeface="Arial" panose="020B0604020202020204" pitchFamily="34" charset="0"/>
              <a:buChar char="•"/>
            </a:pPr>
            <a:r>
              <a:rPr lang="es-ES" sz="2000" dirty="0">
                <a:latin typeface="Gill Sans MT" panose="020B0502020104020203" pitchFamily="34" charset="77"/>
              </a:rPr>
              <a:t>Mery, D.; </a:t>
            </a:r>
            <a:r>
              <a:rPr lang="es-ES" sz="2000" dirty="0" err="1">
                <a:latin typeface="Gill Sans MT" panose="020B0502020104020203" pitchFamily="34" charset="77"/>
              </a:rPr>
              <a:t>Pieringer</a:t>
            </a:r>
            <a:r>
              <a:rPr lang="es-ES" sz="2000" dirty="0">
                <a:latin typeface="Gill Sans MT" panose="020B0502020104020203" pitchFamily="34" charset="77"/>
              </a:rPr>
              <a:t>, C., </a:t>
            </a:r>
            <a:r>
              <a:rPr lang="es-ES" sz="2000" dirty="0" err="1">
                <a:latin typeface="Gill Sans MT" panose="020B0502020104020203" pitchFamily="34" charset="77"/>
              </a:rPr>
              <a:t>Computer</a:t>
            </a:r>
            <a:r>
              <a:rPr lang="es-ES" sz="2000" dirty="0">
                <a:latin typeface="Gill Sans MT" panose="020B0502020104020203" pitchFamily="34" charset="77"/>
              </a:rPr>
              <a:t> </a:t>
            </a:r>
            <a:r>
              <a:rPr lang="es-ES" sz="2000" dirty="0" err="1">
                <a:latin typeface="Gill Sans MT" panose="020B0502020104020203" pitchFamily="34" charset="77"/>
              </a:rPr>
              <a:t>Vision</a:t>
            </a:r>
            <a:r>
              <a:rPr lang="es-ES" sz="2000" dirty="0">
                <a:latin typeface="Gill Sans MT" panose="020B0502020104020203" pitchFamily="34" charset="77"/>
              </a:rPr>
              <a:t> </a:t>
            </a:r>
            <a:r>
              <a:rPr lang="es-ES" sz="2000" dirty="0" err="1">
                <a:latin typeface="Gill Sans MT" panose="020B0502020104020203" pitchFamily="34" charset="77"/>
              </a:rPr>
              <a:t>for</a:t>
            </a:r>
            <a:r>
              <a:rPr lang="es-ES" sz="2000" dirty="0">
                <a:latin typeface="Gill Sans MT" panose="020B0502020104020203" pitchFamily="34" charset="77"/>
              </a:rPr>
              <a:t> X-</a:t>
            </a:r>
            <a:r>
              <a:rPr lang="es-ES" sz="2000" dirty="0" err="1">
                <a:latin typeface="Gill Sans MT" panose="020B0502020104020203" pitchFamily="34" charset="77"/>
              </a:rPr>
              <a:t>ray</a:t>
            </a:r>
            <a:r>
              <a:rPr lang="es-ES" sz="2000" dirty="0">
                <a:latin typeface="Gill Sans MT" panose="020B0502020104020203" pitchFamily="34" charset="77"/>
              </a:rPr>
              <a:t> </a:t>
            </a:r>
            <a:r>
              <a:rPr lang="es-ES" sz="2000" dirty="0" err="1">
                <a:latin typeface="Gill Sans MT" panose="020B0502020104020203" pitchFamily="34" charset="77"/>
              </a:rPr>
              <a:t>Testing</a:t>
            </a:r>
            <a:r>
              <a:rPr lang="es-ES" sz="2000" dirty="0">
                <a:latin typeface="Gill Sans MT" panose="020B0502020104020203" pitchFamily="34" charset="77"/>
              </a:rPr>
              <a:t>, Springer, 2021</a:t>
            </a:r>
          </a:p>
          <a:p>
            <a:pPr marL="342900" indent="-342900">
              <a:buFont typeface="Arial" panose="020B0604020202020204" pitchFamily="34" charset="0"/>
              <a:buChar char="•"/>
            </a:pPr>
            <a:r>
              <a:rPr lang="es-ES" sz="2000" dirty="0">
                <a:latin typeface="Gill Sans MT" panose="020B0502020104020203" pitchFamily="34" charset="77"/>
              </a:rPr>
              <a:t>Nixon, M.; Aguado, A., </a:t>
            </a:r>
            <a:r>
              <a:rPr lang="es-ES" sz="2000" dirty="0" err="1">
                <a:latin typeface="Gill Sans MT" panose="020B0502020104020203" pitchFamily="34" charset="77"/>
              </a:rPr>
              <a:t>Feature</a:t>
            </a:r>
            <a:r>
              <a:rPr lang="es-ES" sz="2000" dirty="0">
                <a:latin typeface="Gill Sans MT" panose="020B0502020104020203" pitchFamily="34" charset="77"/>
              </a:rPr>
              <a:t> </a:t>
            </a:r>
            <a:r>
              <a:rPr lang="es-ES" sz="2000" dirty="0" err="1">
                <a:latin typeface="Gill Sans MT" panose="020B0502020104020203" pitchFamily="34" charset="77"/>
              </a:rPr>
              <a:t>Extraction</a:t>
            </a:r>
            <a:r>
              <a:rPr lang="es-ES" sz="2000" dirty="0">
                <a:latin typeface="Gill Sans MT" panose="020B0502020104020203" pitchFamily="34" charset="77"/>
              </a:rPr>
              <a:t> &amp; </a:t>
            </a:r>
            <a:r>
              <a:rPr lang="es-ES" sz="2000" dirty="0" err="1">
                <a:latin typeface="Gill Sans MT" panose="020B0502020104020203" pitchFamily="34" charset="77"/>
              </a:rPr>
              <a:t>Image</a:t>
            </a:r>
            <a:r>
              <a:rPr lang="es-ES" sz="2000" dirty="0">
                <a:latin typeface="Gill Sans MT" panose="020B0502020104020203" pitchFamily="34" charset="77"/>
              </a:rPr>
              <a:t> Processing, </a:t>
            </a:r>
            <a:r>
              <a:rPr lang="es-ES" sz="2000" dirty="0" err="1">
                <a:latin typeface="Gill Sans MT" panose="020B0502020104020203" pitchFamily="34" charset="77"/>
              </a:rPr>
              <a:t>Amsterdam</a:t>
            </a:r>
            <a:r>
              <a:rPr lang="es-ES" sz="2000" dirty="0">
                <a:latin typeface="Gill Sans MT" panose="020B0502020104020203" pitchFamily="34" charset="77"/>
              </a:rPr>
              <a:t>, Elsevier, 2004.</a:t>
            </a:r>
          </a:p>
          <a:p>
            <a:pPr marL="342900" indent="-342900">
              <a:buFont typeface="Arial" panose="020B0604020202020204" pitchFamily="34" charset="0"/>
              <a:buChar char="•"/>
            </a:pPr>
            <a:r>
              <a:rPr lang="es-ES" sz="2000" dirty="0" err="1">
                <a:latin typeface="Gill Sans MT" panose="020B0502020104020203" pitchFamily="34" charset="77"/>
              </a:rPr>
              <a:t>Webb</a:t>
            </a:r>
            <a:r>
              <a:rPr lang="es-ES" sz="2000" dirty="0">
                <a:latin typeface="Gill Sans MT" panose="020B0502020104020203" pitchFamily="34" charset="77"/>
              </a:rPr>
              <a:t>, A., </a:t>
            </a:r>
            <a:r>
              <a:rPr lang="es-ES" sz="2000" dirty="0" err="1">
                <a:latin typeface="Gill Sans MT" panose="020B0502020104020203" pitchFamily="34" charset="77"/>
              </a:rPr>
              <a:t>Statistical</a:t>
            </a:r>
            <a:r>
              <a:rPr lang="es-ES" sz="2000" dirty="0">
                <a:latin typeface="Gill Sans MT" panose="020B0502020104020203" pitchFamily="34" charset="77"/>
              </a:rPr>
              <a:t>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Recognition</a:t>
            </a:r>
            <a:r>
              <a:rPr lang="es-ES" sz="2000" dirty="0">
                <a:latin typeface="Gill Sans MT" panose="020B0502020104020203" pitchFamily="34" charset="77"/>
              </a:rPr>
              <a:t>, Wiley, </a:t>
            </a:r>
            <a:r>
              <a:rPr lang="es-ES" sz="2000" dirty="0" err="1">
                <a:latin typeface="Gill Sans MT" panose="020B0502020104020203" pitchFamily="34" charset="77"/>
              </a:rPr>
              <a:t>Second</a:t>
            </a:r>
            <a:r>
              <a:rPr lang="es-ES" sz="2000" dirty="0">
                <a:latin typeface="Gill Sans MT" panose="020B0502020104020203" pitchFamily="34" charset="77"/>
              </a:rPr>
              <a:t> </a:t>
            </a:r>
            <a:r>
              <a:rPr lang="es-ES" sz="2000" dirty="0" err="1">
                <a:latin typeface="Gill Sans MT" panose="020B0502020104020203" pitchFamily="34" charset="77"/>
              </a:rPr>
              <a:t>Edition</a:t>
            </a:r>
            <a:r>
              <a:rPr lang="es-ES" sz="2000" dirty="0">
                <a:latin typeface="Gill Sans MT" panose="020B0502020104020203" pitchFamily="34" charset="77"/>
              </a:rPr>
              <a:t>, 2002.</a:t>
            </a:r>
          </a:p>
          <a:p>
            <a:pPr marL="342900" indent="-342900">
              <a:buFont typeface="Arial" panose="020B0604020202020204" pitchFamily="34" charset="0"/>
              <a:buChar char="•"/>
            </a:pPr>
            <a:r>
              <a:rPr lang="es-ES" sz="2000" dirty="0">
                <a:latin typeface="Gill Sans MT" panose="020B0502020104020203" pitchFamily="34" charset="77"/>
              </a:rPr>
              <a:t>Witten, I.H; Frank, E., Data </a:t>
            </a:r>
            <a:r>
              <a:rPr lang="es-ES" sz="2000" dirty="0" err="1">
                <a:latin typeface="Gill Sans MT" panose="020B0502020104020203" pitchFamily="34" charset="77"/>
              </a:rPr>
              <a:t>Mining</a:t>
            </a:r>
            <a:r>
              <a:rPr lang="es-ES" sz="2000" dirty="0">
                <a:latin typeface="Gill Sans MT" panose="020B0502020104020203" pitchFamily="34" charset="77"/>
              </a:rPr>
              <a:t>: </a:t>
            </a:r>
            <a:r>
              <a:rPr lang="es-ES" sz="2000" dirty="0" err="1">
                <a:latin typeface="Gill Sans MT" panose="020B0502020104020203" pitchFamily="34" charset="77"/>
              </a:rPr>
              <a:t>Practical</a:t>
            </a:r>
            <a:r>
              <a:rPr lang="es-ES" sz="2000" dirty="0">
                <a:latin typeface="Gill Sans MT" panose="020B0502020104020203" pitchFamily="34" charset="77"/>
              </a:rPr>
              <a:t> Machine </a:t>
            </a:r>
            <a:r>
              <a:rPr lang="es-ES" sz="2000" dirty="0" err="1">
                <a:latin typeface="Gill Sans MT" panose="020B0502020104020203" pitchFamily="34" charset="77"/>
              </a:rPr>
              <a:t>Learning</a:t>
            </a:r>
            <a:r>
              <a:rPr lang="es-ES" sz="2000" dirty="0">
                <a:latin typeface="Gill Sans MT" panose="020B0502020104020203" pitchFamily="34" charset="77"/>
              </a:rPr>
              <a:t> Tools and </a:t>
            </a:r>
            <a:r>
              <a:rPr lang="es-ES" sz="2000" dirty="0" err="1">
                <a:latin typeface="Gill Sans MT" panose="020B0502020104020203" pitchFamily="34" charset="77"/>
              </a:rPr>
              <a:t>Techniques</a:t>
            </a:r>
            <a:r>
              <a:rPr lang="es-ES" sz="2000" dirty="0">
                <a:latin typeface="Gill Sans MT" panose="020B0502020104020203" pitchFamily="34" charset="77"/>
              </a:rPr>
              <a:t>, Elsevier, </a:t>
            </a:r>
            <a:r>
              <a:rPr lang="es-ES" sz="2000" dirty="0" err="1">
                <a:latin typeface="Gill Sans MT" panose="020B0502020104020203" pitchFamily="34" charset="77"/>
              </a:rPr>
              <a:t>Second</a:t>
            </a:r>
            <a:r>
              <a:rPr lang="es-ES" sz="2000" dirty="0">
                <a:latin typeface="Gill Sans MT" panose="020B0502020104020203" pitchFamily="34" charset="77"/>
              </a:rPr>
              <a:t> </a:t>
            </a:r>
            <a:r>
              <a:rPr lang="es-ES" sz="2000" dirty="0" err="1">
                <a:latin typeface="Gill Sans MT" panose="020B0502020104020203" pitchFamily="34" charset="77"/>
              </a:rPr>
              <a:t>Edition</a:t>
            </a:r>
            <a:r>
              <a:rPr lang="es-ES" sz="2000" dirty="0">
                <a:latin typeface="Gill Sans MT" panose="020B0502020104020203" pitchFamily="34" charset="77"/>
              </a:rPr>
              <a:t>, 2005.</a:t>
            </a:r>
          </a:p>
          <a:p>
            <a:endParaRPr lang="es-ES" sz="2000" dirty="0">
              <a:latin typeface="Gill Sans MT" panose="020B0502020104020203" pitchFamily="34" charset="77"/>
            </a:endParaRPr>
          </a:p>
          <a:p>
            <a:r>
              <a:rPr lang="es-ES" sz="2000" dirty="0">
                <a:latin typeface="Gill Sans MT" panose="020B0502020104020203" pitchFamily="34" charset="77"/>
              </a:rPr>
              <a:t>Artículos seleccionados de IEEE </a:t>
            </a:r>
            <a:r>
              <a:rPr lang="es-ES" sz="2000" dirty="0" err="1">
                <a:latin typeface="Gill Sans MT" panose="020B0502020104020203" pitchFamily="34" charset="77"/>
              </a:rPr>
              <a:t>Transaction</a:t>
            </a:r>
            <a:r>
              <a:rPr lang="es-ES" sz="2000" dirty="0">
                <a:latin typeface="Gill Sans MT" panose="020B0502020104020203" pitchFamily="34" charset="77"/>
              </a:rPr>
              <a:t> </a:t>
            </a:r>
            <a:r>
              <a:rPr lang="es-ES" sz="2000" dirty="0" err="1">
                <a:latin typeface="Gill Sans MT" panose="020B0502020104020203" pitchFamily="34" charset="77"/>
              </a:rPr>
              <a:t>on</a:t>
            </a:r>
            <a:r>
              <a:rPr lang="es-ES" sz="2000" dirty="0">
                <a:latin typeface="Gill Sans MT" panose="020B0502020104020203" pitchFamily="34" charset="77"/>
              </a:rPr>
              <a:t>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Analysis</a:t>
            </a:r>
            <a:r>
              <a:rPr lang="es-ES" sz="2000" dirty="0">
                <a:latin typeface="Gill Sans MT" panose="020B0502020104020203" pitchFamily="34" charset="77"/>
              </a:rPr>
              <a:t> and Machine </a:t>
            </a:r>
            <a:r>
              <a:rPr lang="es-ES" sz="2000" dirty="0" err="1">
                <a:latin typeface="Gill Sans MT" panose="020B0502020104020203" pitchFamily="34" charset="77"/>
              </a:rPr>
              <a:t>Intelligence</a:t>
            </a:r>
            <a:r>
              <a:rPr lang="es-ES" sz="2000" dirty="0">
                <a:latin typeface="Gill Sans MT" panose="020B0502020104020203" pitchFamily="34" charset="77"/>
              </a:rPr>
              <a:t>, y de </a:t>
            </a:r>
            <a:r>
              <a:rPr lang="es-ES" sz="2000" dirty="0" err="1">
                <a:latin typeface="Gill Sans MT" panose="020B0502020104020203" pitchFamily="34" charset="77"/>
              </a:rPr>
              <a:t>Proceedings</a:t>
            </a:r>
            <a:r>
              <a:rPr lang="es-ES" sz="2000" dirty="0">
                <a:latin typeface="Gill Sans MT" panose="020B0502020104020203" pitchFamily="34" charset="77"/>
              </a:rPr>
              <a:t> </a:t>
            </a:r>
            <a:r>
              <a:rPr lang="es-ES" sz="2000" dirty="0" err="1">
                <a:latin typeface="Gill Sans MT" panose="020B0502020104020203" pitchFamily="34" charset="77"/>
              </a:rPr>
              <a:t>of</a:t>
            </a:r>
            <a:r>
              <a:rPr lang="es-ES" sz="2000" dirty="0">
                <a:latin typeface="Gill Sans MT" panose="020B0502020104020203" pitchFamily="34" charset="77"/>
              </a:rPr>
              <a:t> International </a:t>
            </a:r>
            <a:r>
              <a:rPr lang="es-ES" sz="2000" dirty="0" err="1">
                <a:latin typeface="Gill Sans MT" panose="020B0502020104020203" pitchFamily="34" charset="77"/>
              </a:rPr>
              <a:t>Conferences</a:t>
            </a:r>
            <a:r>
              <a:rPr lang="es-ES" sz="2000" dirty="0">
                <a:latin typeface="Gill Sans MT" panose="020B0502020104020203" pitchFamily="34" charset="77"/>
              </a:rPr>
              <a:t> </a:t>
            </a:r>
            <a:r>
              <a:rPr lang="es-ES" sz="2000" dirty="0" err="1">
                <a:latin typeface="Gill Sans MT" panose="020B0502020104020203" pitchFamily="34" charset="77"/>
              </a:rPr>
              <a:t>on</a:t>
            </a:r>
            <a:r>
              <a:rPr lang="es-ES" sz="2000" dirty="0">
                <a:latin typeface="Gill Sans MT" panose="020B0502020104020203" pitchFamily="34" charset="77"/>
              </a:rPr>
              <a:t>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Recognition</a:t>
            </a:r>
            <a:r>
              <a:rPr lang="es-ES" sz="2000" dirty="0">
                <a:latin typeface="Gill Sans MT" panose="020B0502020104020203" pitchFamily="34" charset="77"/>
              </a:rPr>
              <a:t> and </a:t>
            </a:r>
            <a:r>
              <a:rPr lang="es-ES" sz="2000" dirty="0" err="1">
                <a:latin typeface="Gill Sans MT" panose="020B0502020104020203" pitchFamily="34" charset="77"/>
              </a:rPr>
              <a:t>Computer</a:t>
            </a:r>
            <a:r>
              <a:rPr lang="es-ES" sz="2000" dirty="0">
                <a:latin typeface="Gill Sans MT" panose="020B0502020104020203" pitchFamily="34" charset="77"/>
              </a:rPr>
              <a:t> </a:t>
            </a:r>
            <a:r>
              <a:rPr lang="es-ES" sz="2000" dirty="0" err="1">
                <a:latin typeface="Gill Sans MT" panose="020B0502020104020203" pitchFamily="34" charset="77"/>
              </a:rPr>
              <a:t>Vision</a:t>
            </a:r>
            <a:r>
              <a:rPr lang="es-ES" sz="2000" dirty="0">
                <a:latin typeface="Gill Sans MT" panose="020B0502020104020203" pitchFamily="34" charset="77"/>
              </a:rPr>
              <a:t>.</a:t>
            </a:r>
          </a:p>
          <a:p>
            <a:endParaRPr lang="es-ES" sz="2000" dirty="0">
              <a:latin typeface="Gill Sans MT" panose="020B0502020104020203" pitchFamily="34" charset="77"/>
            </a:endParaRPr>
          </a:p>
          <a:p>
            <a:r>
              <a:rPr lang="es-ES" sz="2000" dirty="0">
                <a:latin typeface="Gill Sans MT" panose="020B0502020104020203" pitchFamily="34" charset="77"/>
              </a:rPr>
              <a:t> </a:t>
            </a:r>
          </a:p>
          <a:p>
            <a:endParaRPr lang="es-ES" sz="2000" dirty="0">
              <a:latin typeface="Gill Sans MT" panose="020B0502020104020203" pitchFamily="34" charset="77"/>
            </a:endParaRPr>
          </a:p>
        </p:txBody>
      </p:sp>
      <p:sp>
        <p:nvSpPr>
          <p:cNvPr id="2" name="Date Placeholder 1">
            <a:extLst>
              <a:ext uri="{FF2B5EF4-FFF2-40B4-BE49-F238E27FC236}">
                <a16:creationId xmlns:a16="http://schemas.microsoft.com/office/drawing/2014/main" id="{6C334AFE-9533-017F-A841-5F9A1EE8531A}"/>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4C7CCD9E-086D-2ADA-6568-03B37FBDEF2A}"/>
              </a:ext>
            </a:extLst>
          </p:cNvPr>
          <p:cNvSpPr>
            <a:spLocks noGrp="1"/>
          </p:cNvSpPr>
          <p:nvPr>
            <p:ph type="sldNum" sz="quarter" idx="12"/>
          </p:nvPr>
        </p:nvSpPr>
        <p:spPr/>
        <p:txBody>
          <a:bodyPr/>
          <a:lstStyle/>
          <a:p>
            <a:fld id="{006AE8E3-C79C-E14F-9140-34B0C7F543F1}" type="slidenum">
              <a:rPr lang="en-CL" smtClean="0"/>
              <a:t>9</a:t>
            </a:fld>
            <a:endParaRPr lang="en-C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591670" y="870792"/>
            <a:ext cx="10668000" cy="7417415"/>
          </a:xfrm>
          <a:prstGeom prst="rect">
            <a:avLst/>
          </a:prstGeom>
          <a:noFill/>
          <a:ln w="9525">
            <a:noFill/>
            <a:miter lim="800000"/>
            <a:headEnd/>
            <a:tailEnd/>
          </a:ln>
        </p:spPr>
        <p:txBody>
          <a:bodyPr wrap="square">
            <a:prstTxWarp prst="textNoShape">
              <a:avLst/>
            </a:prstTxWarp>
            <a:spAutoFit/>
          </a:bodyPr>
          <a:lstStyle/>
          <a:p>
            <a:r>
              <a:rPr lang="es-ES_tradnl" sz="2800" b="1" dirty="0">
                <a:solidFill>
                  <a:schemeClr val="accent2"/>
                </a:solidFill>
                <a:latin typeface="Gill Sans MT" panose="020B0502020104020203" pitchFamily="34" charset="77"/>
              </a:rPr>
              <a:t>Código de Honor e Integridad Académica</a:t>
            </a:r>
          </a:p>
          <a:p>
            <a:endParaRPr lang="es-ES_tradnl" sz="2800" b="1" dirty="0">
              <a:latin typeface="Gill Sans MT" panose="020B0502020104020203" pitchFamily="34" charset="77"/>
            </a:endParaRPr>
          </a:p>
          <a:p>
            <a:r>
              <a:rPr lang="es-ES_tradnl" sz="2800" dirty="0">
                <a:latin typeface="Gill Sans MT" panose="020B0502020104020203" pitchFamily="34" charset="77"/>
              </a:rPr>
              <a:t>Este curso adscribe el Código de Honor establecido por la Escuela de Ingeniería el que es vinculante. Todo trabajo evaluado en este curso debe ser propio. En caso de que exista colaboración permitida con otros estudiantes, el trabajo deberá referenciar y atribuir correctamente dicha contribución a quien corresponda. </a:t>
            </a:r>
          </a:p>
          <a:p>
            <a:endParaRPr lang="es-ES_tradnl" sz="2800" dirty="0">
              <a:latin typeface="Gill Sans MT" panose="020B0502020104020203" pitchFamily="34" charset="77"/>
            </a:endParaRPr>
          </a:p>
          <a:p>
            <a:r>
              <a:rPr lang="es-ES_tradnl" sz="2800" dirty="0">
                <a:latin typeface="Gill Sans MT" panose="020B0502020104020203" pitchFamily="34" charset="77"/>
              </a:rPr>
              <a:t>Como estudiante es su deber conocer la versión en línea del </a:t>
            </a:r>
            <a:r>
              <a:rPr lang="es-ES_tradnl" sz="2800" dirty="0">
                <a:latin typeface="Gill Sans MT" panose="020B0502020104020203" pitchFamily="34" charset="77"/>
                <a:hlinkClick r:id="rId3"/>
              </a:rPr>
              <a:t>Código de Honor</a:t>
            </a:r>
            <a:r>
              <a:rPr lang="es-ES_tradnl" sz="2800" dirty="0">
                <a:latin typeface="Gill Sans MT" panose="020B0502020104020203" pitchFamily="34" charset="77"/>
              </a:rPr>
              <a:t>. </a:t>
            </a:r>
          </a:p>
          <a:p>
            <a:endParaRPr lang="es-ES_tradnl" sz="2800" dirty="0">
              <a:latin typeface="Gill Sans MT" panose="020B0502020104020203" pitchFamily="34" charset="77"/>
            </a:endParaRPr>
          </a:p>
          <a:p>
            <a:r>
              <a:rPr lang="es-ES_tradnl" sz="2800" dirty="0">
                <a:latin typeface="Gill Sans MT" panose="020B0502020104020203" pitchFamily="34" charset="77"/>
              </a:rPr>
              <a:t>Además, los estudiantes de este curso declaran conocer </a:t>
            </a:r>
            <a:r>
              <a:rPr lang="es-ES_tradnl" sz="2800" dirty="0">
                <a:latin typeface="Gill Sans MT" panose="020B0502020104020203" pitchFamily="34" charset="77"/>
                <a:hlinkClick r:id="rId4"/>
              </a:rPr>
              <a:t>Política de Integridad Académica del Departamento de Ciencia de la Computación</a:t>
            </a:r>
            <a:r>
              <a:rPr lang="es-ES_tradnl" sz="2800" dirty="0">
                <a:latin typeface="Gill Sans MT" panose="020B0502020104020203" pitchFamily="34" charset="77"/>
              </a:rPr>
              <a:t>.</a:t>
            </a:r>
          </a:p>
          <a:p>
            <a:endParaRPr lang="es-ES_tradnl" sz="2800" b="1" dirty="0">
              <a:solidFill>
                <a:schemeClr val="accent2"/>
              </a:solidFill>
              <a:latin typeface="Gill Sans MT" panose="020B0502020104020203" pitchFamily="34" charset="77"/>
            </a:endParaRPr>
          </a:p>
          <a:p>
            <a:endParaRPr lang="es-ES_tradnl" sz="2800" dirty="0">
              <a:latin typeface="Gill Sans MT" panose="020B0502020104020203" pitchFamily="34" charset="77"/>
            </a:endParaRPr>
          </a:p>
          <a:p>
            <a:br>
              <a:rPr lang="es-ES_tradnl" sz="2800" b="1" dirty="0">
                <a:solidFill>
                  <a:schemeClr val="accent2"/>
                </a:solidFill>
                <a:latin typeface="Gill Sans MT" panose="020B0502020104020203" pitchFamily="34" charset="77"/>
              </a:rPr>
            </a:br>
            <a:endParaRPr lang="es-ES_tradnl" sz="2800"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A892B4C6-05B6-F8BF-1F71-D39606052CCD}"/>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573AC492-29C0-F119-B713-8D989D345E79}"/>
              </a:ext>
            </a:extLst>
          </p:cNvPr>
          <p:cNvSpPr>
            <a:spLocks noGrp="1"/>
          </p:cNvSpPr>
          <p:nvPr>
            <p:ph type="sldNum" sz="quarter" idx="12"/>
          </p:nvPr>
        </p:nvSpPr>
        <p:spPr/>
        <p:txBody>
          <a:bodyPr/>
          <a:lstStyle/>
          <a:p>
            <a:fld id="{006AE8E3-C79C-E14F-9140-34B0C7F543F1}" type="slidenum">
              <a:rPr lang="en-CL" smtClean="0"/>
              <a:t>10</a:t>
            </a:fld>
            <a:endParaRPr lang="en-C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31C5-5062-90BB-7464-FD7BF8439AA0}"/>
            </a:ext>
          </a:extLst>
        </p:cNvPr>
        <p:cNvGrpSpPr/>
        <p:nvPr/>
      </p:nvGrpSpPr>
      <p:grpSpPr>
        <a:xfrm>
          <a:off x="0" y="0"/>
          <a:ext cx="0" cy="0"/>
          <a:chOff x="0" y="0"/>
          <a:chExt cx="0" cy="0"/>
        </a:xfrm>
      </p:grpSpPr>
      <p:sp>
        <p:nvSpPr>
          <p:cNvPr id="23554" name="Text Box 2">
            <a:extLst>
              <a:ext uri="{FF2B5EF4-FFF2-40B4-BE49-F238E27FC236}">
                <a16:creationId xmlns:a16="http://schemas.microsoft.com/office/drawing/2014/main" id="{AA2EBFAC-475F-DD70-42FE-FCDD0F1CB9AA}"/>
              </a:ext>
            </a:extLst>
          </p:cNvPr>
          <p:cNvSpPr txBox="1">
            <a:spLocks noChangeArrowheads="1"/>
          </p:cNvSpPr>
          <p:nvPr/>
        </p:nvSpPr>
        <p:spPr bwMode="auto">
          <a:xfrm>
            <a:off x="534520" y="402162"/>
            <a:ext cx="10668000" cy="6247864"/>
          </a:xfrm>
          <a:prstGeom prst="rect">
            <a:avLst/>
          </a:prstGeom>
          <a:noFill/>
          <a:ln w="9525">
            <a:noFill/>
            <a:miter lim="800000"/>
            <a:headEnd/>
            <a:tailEnd/>
          </a:ln>
        </p:spPr>
        <p:txBody>
          <a:bodyPr wrap="square">
            <a:prstTxWarp prst="textNoShape">
              <a:avLst/>
            </a:prstTxWarp>
            <a:spAutoFit/>
          </a:bodyPr>
          <a:lstStyle/>
          <a:p>
            <a:r>
              <a:rPr lang="es-ES_tradnl" sz="3200" b="1" dirty="0">
                <a:solidFill>
                  <a:schemeClr val="accent2"/>
                </a:solidFill>
                <a:latin typeface="Gill Sans MT" panose="020B0502020104020203" pitchFamily="34" charset="77"/>
              </a:rPr>
              <a:t>Lineamientos del uso de la IA en el Curso</a:t>
            </a:r>
          </a:p>
          <a:p>
            <a:endParaRPr lang="es-ES_tradnl" sz="2800" b="1" dirty="0">
              <a:latin typeface="Gill Sans MT" panose="020B0502020104020203" pitchFamily="34" charset="77"/>
            </a:endParaRPr>
          </a:p>
          <a:p>
            <a:r>
              <a:rPr lang="es-ES_tradnl" sz="3200" dirty="0">
                <a:latin typeface="Gill Sans MT" panose="020B0502020104020203" pitchFamily="34" charset="77"/>
              </a:rPr>
              <a:t>L1. Se permite el uso de IA como un asistente en el desarrollo de tareas, proyectos o cualquier instrumento de evaluación que se realice en las tareas y en los ejercicios en clase.</a:t>
            </a:r>
          </a:p>
          <a:p>
            <a:endParaRPr lang="es-ES_tradnl" sz="3200" dirty="0">
              <a:latin typeface="Gill Sans MT" panose="020B0502020104020203" pitchFamily="34" charset="77"/>
            </a:endParaRPr>
          </a:p>
          <a:p>
            <a:r>
              <a:rPr lang="es-ES_tradnl" sz="3200" dirty="0">
                <a:latin typeface="Gill Sans MT" panose="020B0502020104020203" pitchFamily="34" charset="77"/>
              </a:rPr>
              <a:t>L2. Todo curso debe incluir instancias de evaluación que evidencien el logro de competencias sin el uso de IA (interrogaciones y examen final). El cumplimiento de estas competencias debe ser requisito de aprobación del curso.</a:t>
            </a:r>
          </a:p>
          <a:p>
            <a:endParaRPr lang="es-ES_tradnl" sz="2800" dirty="0">
              <a:latin typeface="Gill Sans MT" panose="020B0502020104020203" pitchFamily="34" charset="77"/>
            </a:endParaRPr>
          </a:p>
          <a:p>
            <a:br>
              <a:rPr lang="es-ES_tradnl" sz="2800" b="1" dirty="0">
                <a:solidFill>
                  <a:schemeClr val="accent2"/>
                </a:solidFill>
                <a:latin typeface="Gill Sans MT" panose="020B0502020104020203" pitchFamily="34" charset="77"/>
              </a:rPr>
            </a:br>
            <a:endParaRPr lang="es-ES_tradnl" sz="2800"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A7C68DC9-776D-19DD-2008-049364774740}"/>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9ED625A3-F33A-CB9E-4DED-66BDE0304A13}"/>
              </a:ext>
            </a:extLst>
          </p:cNvPr>
          <p:cNvSpPr>
            <a:spLocks noGrp="1"/>
          </p:cNvSpPr>
          <p:nvPr>
            <p:ph type="sldNum" sz="quarter" idx="12"/>
          </p:nvPr>
        </p:nvSpPr>
        <p:spPr/>
        <p:txBody>
          <a:bodyPr/>
          <a:lstStyle/>
          <a:p>
            <a:fld id="{006AE8E3-C79C-E14F-9140-34B0C7F543F1}" type="slidenum">
              <a:rPr lang="en-CL" smtClean="0"/>
              <a:t>11</a:t>
            </a:fld>
            <a:endParaRPr lang="en-CL"/>
          </a:p>
        </p:txBody>
      </p:sp>
    </p:spTree>
    <p:extLst>
      <p:ext uri="{BB962C8B-B14F-4D97-AF65-F5344CB8AC3E}">
        <p14:creationId xmlns:p14="http://schemas.microsoft.com/office/powerpoint/2010/main" val="2486722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DA77A-5B98-1837-B74E-BC19D27D394B}"/>
            </a:ext>
          </a:extLst>
        </p:cNvPr>
        <p:cNvGrpSpPr/>
        <p:nvPr/>
      </p:nvGrpSpPr>
      <p:grpSpPr>
        <a:xfrm>
          <a:off x="0" y="0"/>
          <a:ext cx="0" cy="0"/>
          <a:chOff x="0" y="0"/>
          <a:chExt cx="0" cy="0"/>
        </a:xfrm>
      </p:grpSpPr>
      <p:sp>
        <p:nvSpPr>
          <p:cNvPr id="23554" name="Text Box 2">
            <a:extLst>
              <a:ext uri="{FF2B5EF4-FFF2-40B4-BE49-F238E27FC236}">
                <a16:creationId xmlns:a16="http://schemas.microsoft.com/office/drawing/2014/main" id="{D21018D8-F002-6D7A-EB40-EC606841C838}"/>
              </a:ext>
            </a:extLst>
          </p:cNvPr>
          <p:cNvSpPr txBox="1">
            <a:spLocks noChangeArrowheads="1"/>
          </p:cNvSpPr>
          <p:nvPr/>
        </p:nvSpPr>
        <p:spPr bwMode="auto">
          <a:xfrm>
            <a:off x="534520" y="402162"/>
            <a:ext cx="10668000" cy="8156079"/>
          </a:xfrm>
          <a:prstGeom prst="rect">
            <a:avLst/>
          </a:prstGeom>
          <a:noFill/>
          <a:ln w="9525">
            <a:noFill/>
            <a:miter lim="800000"/>
            <a:headEnd/>
            <a:tailEnd/>
          </a:ln>
        </p:spPr>
        <p:txBody>
          <a:bodyPr wrap="square">
            <a:prstTxWarp prst="textNoShape">
              <a:avLst/>
            </a:prstTxWarp>
            <a:spAutoFit/>
          </a:bodyPr>
          <a:lstStyle/>
          <a:p>
            <a:r>
              <a:rPr lang="es-ES_tradnl" sz="3200" b="1" dirty="0">
                <a:solidFill>
                  <a:schemeClr val="accent2"/>
                </a:solidFill>
                <a:latin typeface="Gill Sans MT" panose="020B0502020104020203" pitchFamily="34" charset="77"/>
              </a:rPr>
              <a:t>Lineamientos del uso de la IA en el Curso</a:t>
            </a:r>
          </a:p>
          <a:p>
            <a:endParaRPr lang="es-ES_tradnl" sz="3200" dirty="0">
              <a:latin typeface="Gill Sans MT" panose="020B0502020104020203" pitchFamily="34" charset="77"/>
            </a:endParaRPr>
          </a:p>
          <a:p>
            <a:r>
              <a:rPr lang="es-ES_tradnl" sz="3200" dirty="0">
                <a:latin typeface="Gill Sans MT" panose="020B0502020104020203" pitchFamily="34" charset="77"/>
              </a:rPr>
              <a:t>L3. Impulsar el concepto de responsabilidad del código, informes u otro entregable. Los estudiantes son responsables de todo lo que entregan. El equipo docente puede solicitar una entrevista, una explicación o justificación de cualquier entrega realizada por un estudiante. Esto formará parte integral de la evaluación.</a:t>
            </a:r>
          </a:p>
          <a:p>
            <a:endParaRPr lang="es-ES_tradnl" sz="3200" dirty="0">
              <a:latin typeface="Gill Sans MT" panose="020B0502020104020203" pitchFamily="34" charset="77"/>
            </a:endParaRPr>
          </a:p>
          <a:p>
            <a:r>
              <a:rPr lang="es-ES_tradnl" sz="3200" dirty="0">
                <a:latin typeface="Gill Sans MT" panose="020B0502020104020203" pitchFamily="34" charset="77"/>
              </a:rPr>
              <a:t>L4. Destinar momentos del curso a discutir los beneficios, desafíos y riesgos del uso de IA en relación con las habilidades que se busca desarrollar. Incluir ejemplos concretos.</a:t>
            </a:r>
          </a:p>
          <a:p>
            <a:endParaRPr lang="es-ES_tradnl" sz="2800" dirty="0">
              <a:latin typeface="Gill Sans MT" panose="020B0502020104020203" pitchFamily="34" charset="77"/>
            </a:endParaRPr>
          </a:p>
          <a:p>
            <a:endParaRPr lang="es-ES_tradnl" sz="2800" b="1" dirty="0">
              <a:solidFill>
                <a:schemeClr val="accent2"/>
              </a:solidFill>
              <a:latin typeface="Gill Sans MT" panose="020B0502020104020203" pitchFamily="34" charset="77"/>
            </a:endParaRPr>
          </a:p>
          <a:p>
            <a:endParaRPr lang="es-ES_tradnl" sz="2800" dirty="0">
              <a:latin typeface="Gill Sans MT" panose="020B0502020104020203" pitchFamily="34" charset="77"/>
            </a:endParaRPr>
          </a:p>
          <a:p>
            <a:br>
              <a:rPr lang="es-ES_tradnl" sz="2800" b="1" dirty="0">
                <a:solidFill>
                  <a:schemeClr val="accent2"/>
                </a:solidFill>
                <a:latin typeface="Gill Sans MT" panose="020B0502020104020203" pitchFamily="34" charset="77"/>
              </a:rPr>
            </a:br>
            <a:endParaRPr lang="es-ES_tradnl" sz="2800"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58C5DD50-05B2-2B0E-7816-1AA4A42F50F7}"/>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EE3E2456-715B-852A-A4D9-339DE6D9EF8C}"/>
              </a:ext>
            </a:extLst>
          </p:cNvPr>
          <p:cNvSpPr>
            <a:spLocks noGrp="1"/>
          </p:cNvSpPr>
          <p:nvPr>
            <p:ph type="sldNum" sz="quarter" idx="12"/>
          </p:nvPr>
        </p:nvSpPr>
        <p:spPr/>
        <p:txBody>
          <a:bodyPr/>
          <a:lstStyle/>
          <a:p>
            <a:fld id="{006AE8E3-C79C-E14F-9140-34B0C7F543F1}" type="slidenum">
              <a:rPr lang="en-CL" smtClean="0"/>
              <a:t>12</a:t>
            </a:fld>
            <a:endParaRPr lang="en-CL"/>
          </a:p>
        </p:txBody>
      </p:sp>
    </p:spTree>
    <p:extLst>
      <p:ext uri="{BB962C8B-B14F-4D97-AF65-F5344CB8AC3E}">
        <p14:creationId xmlns:p14="http://schemas.microsoft.com/office/powerpoint/2010/main" val="4174890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22730" y="1102030"/>
            <a:ext cx="11510682" cy="5570756"/>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Coordenadas</a:t>
            </a:r>
          </a:p>
          <a:p>
            <a:endParaRPr lang="es-CL" b="1" dirty="0">
              <a:solidFill>
                <a:schemeClr val="accent2"/>
              </a:solidFill>
              <a:latin typeface="Gill Sans MT" panose="020B0502020104020203" pitchFamily="34" charset="77"/>
            </a:endParaRPr>
          </a:p>
          <a:p>
            <a:endParaRPr lang="es-CL" sz="2400" b="1" dirty="0">
              <a:solidFill>
                <a:schemeClr val="accent2"/>
              </a:solidFill>
              <a:latin typeface="Gill Sans MT" panose="020B0502020104020203" pitchFamily="34" charset="77"/>
            </a:endParaRPr>
          </a:p>
          <a:p>
            <a:r>
              <a:rPr lang="es-CL" sz="2400" b="1" dirty="0">
                <a:solidFill>
                  <a:schemeClr val="tx2">
                    <a:lumMod val="50000"/>
                    <a:lumOff val="50000"/>
                  </a:schemeClr>
                </a:solidFill>
                <a:latin typeface="Gill Sans MT" panose="020B0502020104020203" pitchFamily="34" charset="77"/>
              </a:rPr>
              <a:t>Domingo Mery	Departamento de Ciencia de la Computación</a:t>
            </a:r>
          </a:p>
          <a:p>
            <a:r>
              <a:rPr lang="es-CL" sz="2400" b="1" dirty="0">
                <a:solidFill>
                  <a:schemeClr val="tx2">
                    <a:lumMod val="50000"/>
                    <a:lumOff val="50000"/>
                  </a:schemeClr>
                </a:solidFill>
                <a:latin typeface="Gill Sans MT" panose="020B0502020104020203" pitchFamily="34" charset="77"/>
              </a:rPr>
              <a:t>			Pontificia Universidad Católica de Chile</a:t>
            </a:r>
          </a:p>
          <a:p>
            <a:r>
              <a:rPr lang="es-CL" sz="2400" b="1" dirty="0">
                <a:solidFill>
                  <a:schemeClr val="tx2">
                    <a:lumMod val="50000"/>
                    <a:lumOff val="50000"/>
                  </a:schemeClr>
                </a:solidFill>
                <a:latin typeface="Gill Sans MT" panose="020B0502020104020203" pitchFamily="34" charset="77"/>
              </a:rPr>
              <a:t>			</a:t>
            </a:r>
            <a:r>
              <a:rPr lang="es-CL" sz="2400" b="1" dirty="0">
                <a:solidFill>
                  <a:schemeClr val="accent2"/>
                </a:solidFill>
                <a:latin typeface="Gill Sans MT" panose="020B0502020104020203" pitchFamily="34" charset="77"/>
                <a:hlinkClick r:id="rId3"/>
              </a:rPr>
              <a:t>http://domingomery.ing.uc.cl</a:t>
            </a:r>
            <a:endParaRPr lang="es-CL" sz="2400" b="1" dirty="0">
              <a:solidFill>
                <a:schemeClr val="accent2"/>
              </a:solidFill>
              <a:latin typeface="Gill Sans MT" panose="020B0502020104020203" pitchFamily="34" charset="77"/>
            </a:endParaRPr>
          </a:p>
          <a:p>
            <a:endParaRPr lang="es-CL" sz="2400" b="1" dirty="0">
              <a:solidFill>
                <a:schemeClr val="accent2"/>
              </a:solidFill>
              <a:latin typeface="Gill Sans MT" panose="020B0502020104020203" pitchFamily="34" charset="77"/>
            </a:endParaRPr>
          </a:p>
          <a:p>
            <a:r>
              <a:rPr lang="es-CL" sz="2400" b="1" dirty="0">
                <a:solidFill>
                  <a:schemeClr val="accent2"/>
                </a:solidFill>
                <a:latin typeface="Gill Sans MT" panose="020B0502020104020203" pitchFamily="34" charset="77"/>
              </a:rPr>
              <a:t>  + Mail:		</a:t>
            </a:r>
            <a:r>
              <a:rPr lang="es-CL" sz="2400" b="1" dirty="0">
                <a:solidFill>
                  <a:schemeClr val="tx2">
                    <a:lumMod val="75000"/>
                    <a:lumOff val="25000"/>
                  </a:schemeClr>
                </a:solidFill>
                <a:latin typeface="Gill Sans MT" panose="020B0502020104020203" pitchFamily="34" charset="77"/>
              </a:rPr>
              <a:t>Matías Vidal &lt;</a:t>
            </a:r>
            <a:r>
              <a:rPr lang="en-US" sz="2400" b="1" dirty="0" err="1">
                <a:solidFill>
                  <a:schemeClr val="tx2">
                    <a:lumMod val="75000"/>
                    <a:lumOff val="25000"/>
                  </a:schemeClr>
                </a:solidFill>
                <a:latin typeface="Gill Sans MT" panose="020B0502020104020203" pitchFamily="34" charset="77"/>
              </a:rPr>
              <a:t>mvig@uc.cl</a:t>
            </a:r>
            <a:r>
              <a:rPr lang="en-US" sz="2400" b="1" dirty="0">
                <a:solidFill>
                  <a:schemeClr val="tx2">
                    <a:lumMod val="75000"/>
                    <a:lumOff val="25000"/>
                  </a:schemeClr>
                </a:solidFill>
                <a:latin typeface="Gill Sans MT" panose="020B0502020104020203" pitchFamily="34" charset="77"/>
              </a:rPr>
              <a:t>&gt;</a:t>
            </a:r>
            <a:r>
              <a:rPr lang="es-CL" sz="2400" b="1" dirty="0">
                <a:solidFill>
                  <a:schemeClr val="accent2"/>
                </a:solidFill>
                <a:latin typeface="Gill Sans MT" panose="020B0502020104020203" pitchFamily="34" charset="77"/>
              </a:rPr>
              <a:t>  </a:t>
            </a:r>
            <a:r>
              <a:rPr lang="es-CL" sz="2400" b="1" dirty="0">
                <a:solidFill>
                  <a:srgbClr val="FF9300"/>
                </a:solidFill>
                <a:latin typeface="Gill Sans MT" panose="020B0502020104020203" pitchFamily="34" charset="77"/>
              </a:rPr>
              <a:t>(POR ACÁ LAS CONSULTAS)</a:t>
            </a:r>
            <a:endParaRPr lang="es-CL" sz="2400" b="1" dirty="0">
              <a:solidFill>
                <a:schemeClr val="accent2"/>
              </a:solidFill>
              <a:latin typeface="Gill Sans MT" panose="020B0502020104020203" pitchFamily="34" charset="77"/>
            </a:endParaRPr>
          </a:p>
          <a:p>
            <a:r>
              <a:rPr lang="es-CL" sz="2400" b="1" dirty="0">
                <a:solidFill>
                  <a:schemeClr val="accent2"/>
                </a:solidFill>
                <a:latin typeface="Gill Sans MT" panose="020B0502020104020203" pitchFamily="34" charset="77"/>
              </a:rPr>
              <a:t> </a:t>
            </a:r>
          </a:p>
          <a:p>
            <a:r>
              <a:rPr lang="es-CL" sz="2400" b="1" dirty="0">
                <a:solidFill>
                  <a:schemeClr val="accent2"/>
                </a:solidFill>
                <a:latin typeface="Gill Sans MT" panose="020B0502020104020203" pitchFamily="34" charset="77"/>
              </a:rPr>
              <a:t> + </a:t>
            </a:r>
            <a:r>
              <a:rPr lang="es-CL" sz="2400" b="1" dirty="0" err="1">
                <a:solidFill>
                  <a:schemeClr val="accent2"/>
                </a:solidFill>
                <a:latin typeface="Gill Sans MT" panose="020B0502020104020203" pitchFamily="34" charset="77"/>
              </a:rPr>
              <a:t>Canvas</a:t>
            </a:r>
            <a:r>
              <a:rPr lang="es-CL" sz="2400" b="1" dirty="0">
                <a:solidFill>
                  <a:schemeClr val="accent2"/>
                </a:solidFill>
                <a:latin typeface="Gill Sans MT" panose="020B0502020104020203" pitchFamily="34" charset="77"/>
              </a:rPr>
              <a:t>:		</a:t>
            </a:r>
            <a:r>
              <a:rPr lang="es-CL" sz="2400" b="1" dirty="0">
                <a:solidFill>
                  <a:schemeClr val="accent2"/>
                </a:solidFill>
                <a:latin typeface="Gill Sans MT" panose="020B0502020104020203" pitchFamily="34" charset="77"/>
                <a:hlinkClick r:id="rId4"/>
              </a:rPr>
              <a:t>https://cursos.canvas.uc.cl/courses/</a:t>
            </a:r>
            <a:r>
              <a:rPr lang="es-CL" sz="2400" b="1" dirty="0">
                <a:solidFill>
                  <a:schemeClr val="accent2"/>
                </a:solidFill>
                <a:latin typeface="Gill Sans MT" panose="020B0502020104020203" pitchFamily="34" charset="77"/>
              </a:rPr>
              <a:t>97292  </a:t>
            </a:r>
          </a:p>
          <a:p>
            <a:endParaRPr lang="es-CL" sz="2400" b="1" dirty="0">
              <a:solidFill>
                <a:schemeClr val="accent2"/>
              </a:solidFill>
              <a:latin typeface="Gill Sans MT" panose="020B0502020104020203" pitchFamily="34" charset="77"/>
            </a:endParaRPr>
          </a:p>
          <a:p>
            <a:r>
              <a:rPr lang="es-CL" sz="2400" b="1" dirty="0">
                <a:solidFill>
                  <a:schemeClr val="accent2"/>
                </a:solidFill>
                <a:latin typeface="Gill Sans MT" panose="020B0502020104020203" pitchFamily="34" charset="77"/>
              </a:rPr>
              <a:t> + GitHub: 		</a:t>
            </a:r>
            <a:r>
              <a:rPr lang="es-CL" sz="2400" b="1" dirty="0">
                <a:solidFill>
                  <a:schemeClr val="accent2"/>
                </a:solidFill>
                <a:latin typeface="Gill Sans MT" panose="020B0502020104020203" pitchFamily="34" charset="77"/>
                <a:hlinkClick r:id="rId5"/>
              </a:rPr>
              <a:t>https://github.com/domingomery/patrones</a:t>
            </a:r>
            <a:endParaRPr lang="es-CL" sz="2400" b="1" dirty="0">
              <a:solidFill>
                <a:schemeClr val="accent2"/>
              </a:solidFill>
              <a:latin typeface="Gill Sans MT" panose="020B0502020104020203" pitchFamily="34" charset="77"/>
            </a:endParaRPr>
          </a:p>
          <a:p>
            <a:endParaRPr lang="es-CL" sz="2400" b="1" dirty="0">
              <a:solidFill>
                <a:schemeClr val="accent2"/>
              </a:solidFill>
              <a:latin typeface="Gill Sans MT" panose="020B0502020104020203" pitchFamily="34" charset="77"/>
            </a:endParaRPr>
          </a:p>
          <a:p>
            <a:r>
              <a:rPr lang="es-CL" sz="2400" b="1" dirty="0">
                <a:solidFill>
                  <a:schemeClr val="accent2"/>
                </a:solidFill>
                <a:latin typeface="Gill Sans MT" panose="020B0502020104020203" pitchFamily="34" charset="77"/>
              </a:rPr>
              <a:t> + YouTube: 		</a:t>
            </a:r>
            <a:r>
              <a:rPr lang="es-CL" sz="2400" b="1" dirty="0">
                <a:solidFill>
                  <a:schemeClr val="accent2"/>
                </a:solidFill>
                <a:latin typeface="Gill Sans MT" panose="020B0502020104020203" pitchFamily="34" charset="77"/>
                <a:hlinkClick r:id="rId6"/>
              </a:rPr>
              <a:t>http:/youtube.com/domingomery</a:t>
            </a:r>
            <a:r>
              <a:rPr lang="es-CL" sz="2400" b="1" dirty="0">
                <a:solidFill>
                  <a:schemeClr val="accent2"/>
                </a:solidFill>
                <a:latin typeface="Gill Sans MT" panose="020B0502020104020203" pitchFamily="34" charset="77"/>
              </a:rPr>
              <a:t> (Versión 2025)</a:t>
            </a:r>
          </a:p>
          <a:p>
            <a:endParaRPr lang="es-CL"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080A7BB0-99B1-28B9-3935-1077D749B9EB}"/>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5F4649D7-567F-142D-FF5F-E1EA5CDF0AB6}"/>
              </a:ext>
            </a:extLst>
          </p:cNvPr>
          <p:cNvSpPr>
            <a:spLocks noGrp="1"/>
          </p:cNvSpPr>
          <p:nvPr>
            <p:ph type="sldNum" sz="quarter" idx="12"/>
          </p:nvPr>
        </p:nvSpPr>
        <p:spPr/>
        <p:txBody>
          <a:bodyPr/>
          <a:lstStyle/>
          <a:p>
            <a:fld id="{006AE8E3-C79C-E14F-9140-34B0C7F543F1}" type="slidenum">
              <a:rPr lang="en-CL" smtClean="0"/>
              <a:t>13</a:t>
            </a:fld>
            <a:endParaRPr lang="en-CL"/>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E14FFB54-DE87-654C-A792-308125E2AD51}"/>
              </a:ext>
            </a:extLst>
          </p:cNvPr>
          <p:cNvSpPr txBox="1">
            <a:spLocks noChangeArrowheads="1"/>
          </p:cNvSpPr>
          <p:nvPr/>
        </p:nvSpPr>
        <p:spPr bwMode="auto">
          <a:xfrm>
            <a:off x="1345440" y="936049"/>
            <a:ext cx="8490263" cy="861774"/>
          </a:xfrm>
          <a:prstGeom prst="rect">
            <a:avLst/>
          </a:prstGeom>
          <a:noFill/>
          <a:ln w="9525">
            <a:noFill/>
            <a:miter lim="800000"/>
            <a:headEnd/>
            <a:tailEnd/>
          </a:ln>
        </p:spPr>
        <p:txBody>
          <a:bodyPr wrap="square">
            <a:prstTxWarp prst="textNoShape">
              <a:avLst/>
            </a:prstTxWarp>
            <a:spAutoFit/>
          </a:bodyPr>
          <a:lstStyle/>
          <a:p>
            <a:r>
              <a:rPr lang="es-ES" sz="3200" b="1" dirty="0" err="1">
                <a:solidFill>
                  <a:schemeClr val="accent2"/>
                </a:solidFill>
                <a:latin typeface="Gill Sans MT" panose="020B0502020104020203" pitchFamily="34" charset="77"/>
              </a:rPr>
              <a:t>Canvas</a:t>
            </a:r>
            <a:r>
              <a:rPr lang="es-ES" sz="3200" b="1" dirty="0">
                <a:solidFill>
                  <a:schemeClr val="accent2"/>
                </a:solidFill>
                <a:latin typeface="Gill Sans MT" panose="020B0502020104020203" pitchFamily="34" charset="77"/>
              </a:rPr>
              <a:t> del Curso</a:t>
            </a:r>
          </a:p>
          <a:p>
            <a:endParaRPr lang="es-CL" b="1" dirty="0">
              <a:solidFill>
                <a:schemeClr val="accent2"/>
              </a:solidFill>
              <a:latin typeface="Gill Sans MT" panose="020B0502020104020203" pitchFamily="34" charset="77"/>
            </a:endParaRPr>
          </a:p>
        </p:txBody>
      </p:sp>
      <p:sp>
        <p:nvSpPr>
          <p:cNvPr id="9" name="TextBox 8">
            <a:extLst>
              <a:ext uri="{FF2B5EF4-FFF2-40B4-BE49-F238E27FC236}">
                <a16:creationId xmlns:a16="http://schemas.microsoft.com/office/drawing/2014/main" id="{E6A4C158-311E-D237-3B4E-99D68FCE70BE}"/>
              </a:ext>
            </a:extLst>
          </p:cNvPr>
          <p:cNvSpPr txBox="1"/>
          <p:nvPr/>
        </p:nvSpPr>
        <p:spPr>
          <a:xfrm>
            <a:off x="1562601" y="1797823"/>
            <a:ext cx="3585148" cy="4524315"/>
          </a:xfrm>
          <a:prstGeom prst="rect">
            <a:avLst/>
          </a:prstGeom>
          <a:noFill/>
        </p:spPr>
        <p:txBody>
          <a:bodyPr wrap="square" rtlCol="0">
            <a:spAutoFit/>
          </a:bodyPr>
          <a:lstStyle/>
          <a:p>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se usa para: </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entregas </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enunciados </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foros</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anuncios </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calendario</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notas</a:t>
            </a:r>
          </a:p>
          <a:p>
            <a:endPar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endParaRPr>
          </a:p>
          <a:p>
            <a:r>
              <a:rPr lang="en-CL" sz="3200" dirty="0">
                <a:latin typeface="Gill Sans MT" panose="020B0502020104020203" pitchFamily="34" charset="77"/>
              </a:rPr>
              <a:t> </a:t>
            </a:r>
          </a:p>
        </p:txBody>
      </p:sp>
      <p:pic>
        <p:nvPicPr>
          <p:cNvPr id="3" name="Picture 2">
            <a:extLst>
              <a:ext uri="{FF2B5EF4-FFF2-40B4-BE49-F238E27FC236}">
                <a16:creationId xmlns:a16="http://schemas.microsoft.com/office/drawing/2014/main" id="{A36F9FBB-5B7C-93A5-A3DD-CA3FA64313F4}"/>
              </a:ext>
            </a:extLst>
          </p:cNvPr>
          <p:cNvPicPr>
            <a:picLocks noChangeAspect="1"/>
          </p:cNvPicPr>
          <p:nvPr/>
        </p:nvPicPr>
        <p:blipFill>
          <a:blip r:embed="rId2"/>
          <a:srcRect/>
          <a:stretch/>
        </p:blipFill>
        <p:spPr>
          <a:xfrm>
            <a:off x="6096000" y="839501"/>
            <a:ext cx="4643457" cy="4643457"/>
          </a:xfrm>
          <a:prstGeom prst="rect">
            <a:avLst/>
          </a:prstGeom>
        </p:spPr>
      </p:pic>
      <p:sp>
        <p:nvSpPr>
          <p:cNvPr id="2" name="Date Placeholder 1">
            <a:extLst>
              <a:ext uri="{FF2B5EF4-FFF2-40B4-BE49-F238E27FC236}">
                <a16:creationId xmlns:a16="http://schemas.microsoft.com/office/drawing/2014/main" id="{3C239174-F058-4A9C-FE11-4D5F9773F35A}"/>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E1A21044-C0ED-4B37-3603-DCD1E8794BF9}"/>
              </a:ext>
            </a:extLst>
          </p:cNvPr>
          <p:cNvSpPr>
            <a:spLocks noGrp="1"/>
          </p:cNvSpPr>
          <p:nvPr>
            <p:ph type="sldNum" sz="quarter" idx="12"/>
          </p:nvPr>
        </p:nvSpPr>
        <p:spPr/>
        <p:txBody>
          <a:bodyPr/>
          <a:lstStyle/>
          <a:p>
            <a:fld id="{006AE8E3-C79C-E14F-9140-34B0C7F543F1}" type="slidenum">
              <a:rPr lang="en-CL" smtClean="0"/>
              <a:t>14</a:t>
            </a:fld>
            <a:endParaRPr lang="en-CL"/>
          </a:p>
        </p:txBody>
      </p:sp>
    </p:spTree>
    <p:extLst>
      <p:ext uri="{BB962C8B-B14F-4D97-AF65-F5344CB8AC3E}">
        <p14:creationId xmlns:p14="http://schemas.microsoft.com/office/powerpoint/2010/main" val="88270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108A0-D14D-E1F4-1C1E-7299CB79845E}"/>
            </a:ext>
          </a:extLst>
        </p:cNvPr>
        <p:cNvGrpSpPr/>
        <p:nvPr/>
      </p:nvGrpSpPr>
      <p:grpSpPr>
        <a:xfrm>
          <a:off x="0" y="0"/>
          <a:ext cx="0" cy="0"/>
          <a:chOff x="0" y="0"/>
          <a:chExt cx="0" cy="0"/>
        </a:xfrm>
      </p:grpSpPr>
      <p:sp>
        <p:nvSpPr>
          <p:cNvPr id="6" name="Text Box 2">
            <a:extLst>
              <a:ext uri="{FF2B5EF4-FFF2-40B4-BE49-F238E27FC236}">
                <a16:creationId xmlns:a16="http://schemas.microsoft.com/office/drawing/2014/main" id="{7059ABFC-9AB2-159C-0261-21D35E2A9494}"/>
              </a:ext>
            </a:extLst>
          </p:cNvPr>
          <p:cNvSpPr txBox="1">
            <a:spLocks noChangeArrowheads="1"/>
          </p:cNvSpPr>
          <p:nvPr/>
        </p:nvSpPr>
        <p:spPr bwMode="auto">
          <a:xfrm>
            <a:off x="1947192" y="639228"/>
            <a:ext cx="8490263" cy="861774"/>
          </a:xfrm>
          <a:prstGeom prst="rect">
            <a:avLst/>
          </a:prstGeom>
          <a:noFill/>
          <a:ln w="9525">
            <a:noFill/>
            <a:miter lim="800000"/>
            <a:headEnd/>
            <a:tailEnd/>
          </a:ln>
        </p:spPr>
        <p:txBody>
          <a:bodyPr wrap="square">
            <a:prstTxWarp prst="textNoShape">
              <a:avLst/>
            </a:prstTxWarp>
            <a:spAutoFit/>
          </a:bodyPr>
          <a:lstStyle/>
          <a:p>
            <a:r>
              <a:rPr lang="es-ES" sz="3200" b="1" dirty="0" err="1">
                <a:solidFill>
                  <a:schemeClr val="accent2"/>
                </a:solidFill>
                <a:latin typeface="Gill Sans MT" panose="020B0502020104020203" pitchFamily="34" charset="77"/>
              </a:rPr>
              <a:t>Canvas</a:t>
            </a:r>
            <a:r>
              <a:rPr lang="es-ES" sz="3200" b="1" dirty="0">
                <a:solidFill>
                  <a:schemeClr val="accent2"/>
                </a:solidFill>
                <a:latin typeface="Gill Sans MT" panose="020B0502020104020203" pitchFamily="34" charset="77"/>
              </a:rPr>
              <a:t> del Curso</a:t>
            </a:r>
          </a:p>
          <a:p>
            <a:endParaRPr lang="es-CL" b="1" dirty="0">
              <a:solidFill>
                <a:schemeClr val="accent2"/>
              </a:solidFill>
              <a:latin typeface="Gill Sans MT" panose="020B0502020104020203" pitchFamily="34" charset="77"/>
            </a:endParaRPr>
          </a:p>
        </p:txBody>
      </p:sp>
      <p:pic>
        <p:nvPicPr>
          <p:cNvPr id="4" name="Picture 3" descr="A screenshot of a computer&#10;&#10;AI-generated content may be incorrect.">
            <a:extLst>
              <a:ext uri="{FF2B5EF4-FFF2-40B4-BE49-F238E27FC236}">
                <a16:creationId xmlns:a16="http://schemas.microsoft.com/office/drawing/2014/main" id="{49FE1D30-0919-9A56-3C6F-1DABDBCDC8EB}"/>
              </a:ext>
            </a:extLst>
          </p:cNvPr>
          <p:cNvPicPr>
            <a:picLocks noChangeAspect="1"/>
          </p:cNvPicPr>
          <p:nvPr/>
        </p:nvPicPr>
        <p:blipFill>
          <a:blip r:embed="rId3"/>
          <a:stretch>
            <a:fillRect/>
          </a:stretch>
        </p:blipFill>
        <p:spPr>
          <a:xfrm>
            <a:off x="1317374" y="1501000"/>
            <a:ext cx="8528284" cy="4911229"/>
          </a:xfrm>
          <a:prstGeom prst="rect">
            <a:avLst/>
          </a:prstGeom>
        </p:spPr>
      </p:pic>
      <p:pic>
        <p:nvPicPr>
          <p:cNvPr id="2" name="Picture 1">
            <a:extLst>
              <a:ext uri="{FF2B5EF4-FFF2-40B4-BE49-F238E27FC236}">
                <a16:creationId xmlns:a16="http://schemas.microsoft.com/office/drawing/2014/main" id="{501B2EDB-66CA-7C1A-DBF8-EE1F1A597FC6}"/>
              </a:ext>
            </a:extLst>
          </p:cNvPr>
          <p:cNvPicPr>
            <a:picLocks noChangeAspect="1"/>
          </p:cNvPicPr>
          <p:nvPr/>
        </p:nvPicPr>
        <p:blipFill>
          <a:blip r:embed="rId4"/>
          <a:srcRect/>
          <a:stretch/>
        </p:blipFill>
        <p:spPr>
          <a:xfrm>
            <a:off x="8950058" y="206252"/>
            <a:ext cx="2589499" cy="2589499"/>
          </a:xfrm>
          <a:prstGeom prst="rect">
            <a:avLst/>
          </a:prstGeom>
        </p:spPr>
      </p:pic>
      <p:sp>
        <p:nvSpPr>
          <p:cNvPr id="3" name="Date Placeholder 2">
            <a:extLst>
              <a:ext uri="{FF2B5EF4-FFF2-40B4-BE49-F238E27FC236}">
                <a16:creationId xmlns:a16="http://schemas.microsoft.com/office/drawing/2014/main" id="{AE3D851C-A04E-7302-1498-D070DD0FFCD5}"/>
              </a:ext>
            </a:extLst>
          </p:cNvPr>
          <p:cNvSpPr>
            <a:spLocks noGrp="1"/>
          </p:cNvSpPr>
          <p:nvPr>
            <p:ph type="dt" sz="half" idx="10"/>
          </p:nvPr>
        </p:nvSpPr>
        <p:spPr/>
        <p:txBody>
          <a:bodyPr/>
          <a:lstStyle/>
          <a:p>
            <a:r>
              <a:rPr lang="en-US"/>
              <a:t>(c) D.Mery - PR00</a:t>
            </a:r>
            <a:endParaRPr lang="en-CL"/>
          </a:p>
        </p:txBody>
      </p:sp>
      <p:sp>
        <p:nvSpPr>
          <p:cNvPr id="5" name="Slide Number Placeholder 4">
            <a:extLst>
              <a:ext uri="{FF2B5EF4-FFF2-40B4-BE49-F238E27FC236}">
                <a16:creationId xmlns:a16="http://schemas.microsoft.com/office/drawing/2014/main" id="{B305D8F7-DF0B-4029-26B8-CB716CF63DA5}"/>
              </a:ext>
            </a:extLst>
          </p:cNvPr>
          <p:cNvSpPr>
            <a:spLocks noGrp="1"/>
          </p:cNvSpPr>
          <p:nvPr>
            <p:ph type="sldNum" sz="quarter" idx="12"/>
          </p:nvPr>
        </p:nvSpPr>
        <p:spPr/>
        <p:txBody>
          <a:bodyPr/>
          <a:lstStyle/>
          <a:p>
            <a:fld id="{006AE8E3-C79C-E14F-9140-34B0C7F543F1}" type="slidenum">
              <a:rPr lang="en-CL" smtClean="0"/>
              <a:t>15</a:t>
            </a:fld>
            <a:endParaRPr lang="en-CL"/>
          </a:p>
        </p:txBody>
      </p:sp>
    </p:spTree>
    <p:extLst>
      <p:ext uri="{BB962C8B-B14F-4D97-AF65-F5344CB8AC3E}">
        <p14:creationId xmlns:p14="http://schemas.microsoft.com/office/powerpoint/2010/main" val="3623083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2F0D0-9E23-CC9E-5665-D8072158A526}"/>
            </a:ext>
          </a:extLst>
        </p:cNvPr>
        <p:cNvGrpSpPr/>
        <p:nvPr/>
      </p:nvGrpSpPr>
      <p:grpSpPr>
        <a:xfrm>
          <a:off x="0" y="0"/>
          <a:ext cx="0" cy="0"/>
          <a:chOff x="0" y="0"/>
          <a:chExt cx="0" cy="0"/>
        </a:xfrm>
      </p:grpSpPr>
      <p:sp>
        <p:nvSpPr>
          <p:cNvPr id="6" name="Text Box 2">
            <a:extLst>
              <a:ext uri="{FF2B5EF4-FFF2-40B4-BE49-F238E27FC236}">
                <a16:creationId xmlns:a16="http://schemas.microsoft.com/office/drawing/2014/main" id="{AC0A359D-C428-AEF9-E281-A2ECC3DACC43}"/>
              </a:ext>
            </a:extLst>
          </p:cNvPr>
          <p:cNvSpPr txBox="1">
            <a:spLocks noChangeArrowheads="1"/>
          </p:cNvSpPr>
          <p:nvPr/>
        </p:nvSpPr>
        <p:spPr bwMode="auto">
          <a:xfrm>
            <a:off x="1947192" y="639228"/>
            <a:ext cx="8490263" cy="861774"/>
          </a:xfrm>
          <a:prstGeom prst="rect">
            <a:avLst/>
          </a:prstGeom>
          <a:noFill/>
          <a:ln w="9525">
            <a:noFill/>
            <a:miter lim="800000"/>
            <a:headEnd/>
            <a:tailEnd/>
          </a:ln>
        </p:spPr>
        <p:txBody>
          <a:bodyPr wrap="square">
            <a:prstTxWarp prst="textNoShape">
              <a:avLst/>
            </a:prstTxWarp>
            <a:spAutoFit/>
          </a:bodyPr>
          <a:lstStyle/>
          <a:p>
            <a:r>
              <a:rPr lang="es-ES" sz="3200" b="1" dirty="0" err="1">
                <a:solidFill>
                  <a:schemeClr val="accent2"/>
                </a:solidFill>
                <a:latin typeface="Gill Sans MT" panose="020B0502020104020203" pitchFamily="34" charset="77"/>
              </a:rPr>
              <a:t>Canvas</a:t>
            </a:r>
            <a:r>
              <a:rPr lang="es-ES" sz="3200" b="1" dirty="0">
                <a:solidFill>
                  <a:schemeClr val="accent2"/>
                </a:solidFill>
                <a:latin typeface="Gill Sans MT" panose="020B0502020104020203" pitchFamily="34" charset="77"/>
              </a:rPr>
              <a:t> del Curso - Calendario</a:t>
            </a:r>
          </a:p>
          <a:p>
            <a:endParaRPr lang="es-CL" b="1" dirty="0">
              <a:solidFill>
                <a:schemeClr val="accent2"/>
              </a:solidFill>
              <a:latin typeface="Gill Sans MT" panose="020B0502020104020203" pitchFamily="34" charset="77"/>
            </a:endParaRPr>
          </a:p>
        </p:txBody>
      </p:sp>
      <p:pic>
        <p:nvPicPr>
          <p:cNvPr id="8" name="Picture 7">
            <a:extLst>
              <a:ext uri="{FF2B5EF4-FFF2-40B4-BE49-F238E27FC236}">
                <a16:creationId xmlns:a16="http://schemas.microsoft.com/office/drawing/2014/main" id="{5DE1B933-CA1E-B2C0-86BD-C28DD88CE5E8}"/>
              </a:ext>
            </a:extLst>
          </p:cNvPr>
          <p:cNvPicPr>
            <a:picLocks noChangeAspect="1"/>
          </p:cNvPicPr>
          <p:nvPr/>
        </p:nvPicPr>
        <p:blipFill>
          <a:blip r:embed="rId2"/>
          <a:stretch>
            <a:fillRect/>
          </a:stretch>
        </p:blipFill>
        <p:spPr>
          <a:xfrm>
            <a:off x="1754545" y="1396145"/>
            <a:ext cx="6367479" cy="5216729"/>
          </a:xfrm>
          <a:prstGeom prst="rect">
            <a:avLst/>
          </a:prstGeom>
        </p:spPr>
      </p:pic>
      <p:pic>
        <p:nvPicPr>
          <p:cNvPr id="9" name="Picture 8">
            <a:extLst>
              <a:ext uri="{FF2B5EF4-FFF2-40B4-BE49-F238E27FC236}">
                <a16:creationId xmlns:a16="http://schemas.microsoft.com/office/drawing/2014/main" id="{D8E4E4F9-A655-2453-00D3-DB664622217A}"/>
              </a:ext>
            </a:extLst>
          </p:cNvPr>
          <p:cNvPicPr>
            <a:picLocks noChangeAspect="1"/>
          </p:cNvPicPr>
          <p:nvPr/>
        </p:nvPicPr>
        <p:blipFill>
          <a:blip r:embed="rId3"/>
          <a:srcRect/>
          <a:stretch/>
        </p:blipFill>
        <p:spPr>
          <a:xfrm>
            <a:off x="8950058" y="206252"/>
            <a:ext cx="2589499" cy="2589499"/>
          </a:xfrm>
          <a:prstGeom prst="rect">
            <a:avLst/>
          </a:prstGeom>
        </p:spPr>
      </p:pic>
      <p:sp>
        <p:nvSpPr>
          <p:cNvPr id="2" name="Date Placeholder 1">
            <a:extLst>
              <a:ext uri="{FF2B5EF4-FFF2-40B4-BE49-F238E27FC236}">
                <a16:creationId xmlns:a16="http://schemas.microsoft.com/office/drawing/2014/main" id="{A36854D7-3322-D3EA-942C-267B1DC6FFF8}"/>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72472466-8C95-A6B2-0C26-05D0243B0D07}"/>
              </a:ext>
            </a:extLst>
          </p:cNvPr>
          <p:cNvSpPr>
            <a:spLocks noGrp="1"/>
          </p:cNvSpPr>
          <p:nvPr>
            <p:ph type="sldNum" sz="quarter" idx="12"/>
          </p:nvPr>
        </p:nvSpPr>
        <p:spPr/>
        <p:txBody>
          <a:bodyPr/>
          <a:lstStyle/>
          <a:p>
            <a:fld id="{006AE8E3-C79C-E14F-9140-34B0C7F543F1}" type="slidenum">
              <a:rPr lang="en-CL" smtClean="0"/>
              <a:t>16</a:t>
            </a:fld>
            <a:endParaRPr lang="en-CL"/>
          </a:p>
        </p:txBody>
      </p:sp>
    </p:spTree>
    <p:extLst>
      <p:ext uri="{BB962C8B-B14F-4D97-AF65-F5344CB8AC3E}">
        <p14:creationId xmlns:p14="http://schemas.microsoft.com/office/powerpoint/2010/main" val="2776460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3A26-0488-051B-0101-A1B79A80C882}"/>
            </a:ext>
          </a:extLst>
        </p:cNvPr>
        <p:cNvGrpSpPr/>
        <p:nvPr/>
      </p:nvGrpSpPr>
      <p:grpSpPr>
        <a:xfrm>
          <a:off x="0" y="0"/>
          <a:ext cx="0" cy="0"/>
          <a:chOff x="0" y="0"/>
          <a:chExt cx="0" cy="0"/>
        </a:xfrm>
      </p:grpSpPr>
      <p:sp>
        <p:nvSpPr>
          <p:cNvPr id="6" name="Text Box 2">
            <a:extLst>
              <a:ext uri="{FF2B5EF4-FFF2-40B4-BE49-F238E27FC236}">
                <a16:creationId xmlns:a16="http://schemas.microsoft.com/office/drawing/2014/main" id="{7A6B67C6-071F-1AB2-9B4F-E780DF398A93}"/>
              </a:ext>
            </a:extLst>
          </p:cNvPr>
          <p:cNvSpPr txBox="1">
            <a:spLocks noChangeArrowheads="1"/>
          </p:cNvSpPr>
          <p:nvPr/>
        </p:nvSpPr>
        <p:spPr bwMode="auto">
          <a:xfrm>
            <a:off x="1947192" y="474338"/>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bg1"/>
                </a:solidFill>
                <a:latin typeface="Trebuchet MS" charset="0"/>
              </a:rPr>
              <a:t>Calendario del Curso</a:t>
            </a:r>
          </a:p>
          <a:p>
            <a:endParaRPr lang="es-CL" b="1" dirty="0">
              <a:solidFill>
                <a:schemeClr val="bg1"/>
              </a:solidFill>
              <a:latin typeface="Trebuchet MS" charset="0"/>
            </a:endParaRPr>
          </a:p>
        </p:txBody>
      </p:sp>
      <p:pic>
        <p:nvPicPr>
          <p:cNvPr id="3" name="Picture 2" descr="A screenshot of a phone&#10;&#10;AI-generated content may be incorrect.">
            <a:extLst>
              <a:ext uri="{FF2B5EF4-FFF2-40B4-BE49-F238E27FC236}">
                <a16:creationId xmlns:a16="http://schemas.microsoft.com/office/drawing/2014/main" id="{3369DD5A-4684-1A39-D1CF-41FF7A3E336E}"/>
              </a:ext>
            </a:extLst>
          </p:cNvPr>
          <p:cNvPicPr>
            <a:picLocks noChangeAspect="1"/>
          </p:cNvPicPr>
          <p:nvPr/>
        </p:nvPicPr>
        <p:blipFill>
          <a:blip r:embed="rId3"/>
          <a:stretch>
            <a:fillRect/>
          </a:stretch>
        </p:blipFill>
        <p:spPr>
          <a:xfrm>
            <a:off x="1353185" y="1188007"/>
            <a:ext cx="3262210" cy="2954662"/>
          </a:xfrm>
          <a:prstGeom prst="rect">
            <a:avLst/>
          </a:prstGeom>
        </p:spPr>
      </p:pic>
      <p:pic>
        <p:nvPicPr>
          <p:cNvPr id="5" name="Picture 4" descr="A screenshot of a phone&#10;&#10;AI-generated content may be incorrect.">
            <a:extLst>
              <a:ext uri="{FF2B5EF4-FFF2-40B4-BE49-F238E27FC236}">
                <a16:creationId xmlns:a16="http://schemas.microsoft.com/office/drawing/2014/main" id="{A5B428FC-9C4B-BC57-7D17-8CB9C21855D1}"/>
              </a:ext>
            </a:extLst>
          </p:cNvPr>
          <p:cNvPicPr>
            <a:picLocks noChangeAspect="1"/>
          </p:cNvPicPr>
          <p:nvPr/>
        </p:nvPicPr>
        <p:blipFill>
          <a:blip r:embed="rId4"/>
          <a:stretch>
            <a:fillRect/>
          </a:stretch>
        </p:blipFill>
        <p:spPr>
          <a:xfrm>
            <a:off x="6631770" y="0"/>
            <a:ext cx="4030857" cy="6858000"/>
          </a:xfrm>
          <a:prstGeom prst="rect">
            <a:avLst/>
          </a:prstGeom>
        </p:spPr>
      </p:pic>
      <p:pic>
        <p:nvPicPr>
          <p:cNvPr id="10" name="Picture 9" descr="A screenshot of a phone&#10;&#10;AI-generated content may be incorrect.">
            <a:extLst>
              <a:ext uri="{FF2B5EF4-FFF2-40B4-BE49-F238E27FC236}">
                <a16:creationId xmlns:a16="http://schemas.microsoft.com/office/drawing/2014/main" id="{6079B8E0-C203-247F-6A9F-17636859F335}"/>
              </a:ext>
            </a:extLst>
          </p:cNvPr>
          <p:cNvPicPr>
            <a:picLocks noChangeAspect="1"/>
          </p:cNvPicPr>
          <p:nvPr/>
        </p:nvPicPr>
        <p:blipFill>
          <a:blip r:embed="rId5"/>
          <a:stretch>
            <a:fillRect/>
          </a:stretch>
        </p:blipFill>
        <p:spPr>
          <a:xfrm>
            <a:off x="1353185" y="4192666"/>
            <a:ext cx="4207046" cy="2190996"/>
          </a:xfrm>
          <a:prstGeom prst="rect">
            <a:avLst/>
          </a:prstGeom>
        </p:spPr>
      </p:pic>
      <p:sp>
        <p:nvSpPr>
          <p:cNvPr id="12" name="Text Box 2">
            <a:extLst>
              <a:ext uri="{FF2B5EF4-FFF2-40B4-BE49-F238E27FC236}">
                <a16:creationId xmlns:a16="http://schemas.microsoft.com/office/drawing/2014/main" id="{5781E40D-BBED-A986-7B26-A010492763F7}"/>
              </a:ext>
            </a:extLst>
          </p:cNvPr>
          <p:cNvSpPr txBox="1">
            <a:spLocks noChangeArrowheads="1"/>
          </p:cNvSpPr>
          <p:nvPr/>
        </p:nvSpPr>
        <p:spPr bwMode="auto">
          <a:xfrm>
            <a:off x="638345" y="474338"/>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Fechas Importantes</a:t>
            </a:r>
          </a:p>
          <a:p>
            <a:endParaRPr lang="es-CL"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1B059FFE-B38B-2653-698C-CD35591367EF}"/>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652CEAC5-24FE-BA58-8B8F-56D611E857D2}"/>
              </a:ext>
            </a:extLst>
          </p:cNvPr>
          <p:cNvSpPr>
            <a:spLocks noGrp="1"/>
          </p:cNvSpPr>
          <p:nvPr>
            <p:ph type="sldNum" sz="quarter" idx="12"/>
          </p:nvPr>
        </p:nvSpPr>
        <p:spPr/>
        <p:txBody>
          <a:bodyPr/>
          <a:lstStyle/>
          <a:p>
            <a:fld id="{006AE8E3-C79C-E14F-9140-34B0C7F543F1}" type="slidenum">
              <a:rPr lang="en-CL" smtClean="0"/>
              <a:t>17</a:t>
            </a:fld>
            <a:endParaRPr lang="en-CL"/>
          </a:p>
        </p:txBody>
      </p:sp>
    </p:spTree>
    <p:extLst>
      <p:ext uri="{BB962C8B-B14F-4D97-AF65-F5344CB8AC3E}">
        <p14:creationId xmlns:p14="http://schemas.microsoft.com/office/powerpoint/2010/main" val="222510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qr code with a white background&#10;&#10;AI-generated content may be incorrect.">
            <a:extLst>
              <a:ext uri="{FF2B5EF4-FFF2-40B4-BE49-F238E27FC236}">
                <a16:creationId xmlns:a16="http://schemas.microsoft.com/office/drawing/2014/main" id="{998B3FFC-740B-32CF-3F59-C3D1FA282568}"/>
              </a:ext>
            </a:extLst>
          </p:cNvPr>
          <p:cNvPicPr>
            <a:picLocks noChangeAspect="1"/>
          </p:cNvPicPr>
          <p:nvPr/>
        </p:nvPicPr>
        <p:blipFill>
          <a:blip r:embed="rId2"/>
          <a:stretch>
            <a:fillRect/>
          </a:stretch>
        </p:blipFill>
        <p:spPr>
          <a:xfrm>
            <a:off x="-430164" y="0"/>
            <a:ext cx="6858000" cy="6858000"/>
          </a:xfrm>
          <a:prstGeom prst="rect">
            <a:avLst/>
          </a:prstGeom>
        </p:spPr>
      </p:pic>
      <p:sp>
        <p:nvSpPr>
          <p:cNvPr id="6" name="TextBox 5">
            <a:extLst>
              <a:ext uri="{FF2B5EF4-FFF2-40B4-BE49-F238E27FC236}">
                <a16:creationId xmlns:a16="http://schemas.microsoft.com/office/drawing/2014/main" id="{EB1B4D3B-E17D-772A-1A09-36115E0C5CFE}"/>
              </a:ext>
            </a:extLst>
          </p:cNvPr>
          <p:cNvSpPr txBox="1"/>
          <p:nvPr/>
        </p:nvSpPr>
        <p:spPr>
          <a:xfrm>
            <a:off x="4817806" y="5742039"/>
            <a:ext cx="6811480" cy="461665"/>
          </a:xfrm>
          <a:prstGeom prst="rect">
            <a:avLst/>
          </a:prstGeom>
          <a:solidFill>
            <a:schemeClr val="bg1"/>
          </a:solidFill>
        </p:spPr>
        <p:txBody>
          <a:bodyPr wrap="none" rtlCol="0">
            <a:spAutoFit/>
          </a:bodyPr>
          <a:lstStyle/>
          <a:p>
            <a:r>
              <a:rPr lang="en-US" sz="2400" dirty="0">
                <a:latin typeface="Consolas" panose="020B0609020204030204" pitchFamily="49" charset="0"/>
                <a:cs typeface="Consolas" panose="020B0609020204030204" pitchFamily="49" charset="0"/>
              </a:rPr>
              <a:t>https://</a:t>
            </a:r>
            <a:r>
              <a:rPr lang="en-US" sz="2400" dirty="0" err="1">
                <a:latin typeface="Consolas" panose="020B0609020204030204" pitchFamily="49" charset="0"/>
                <a:cs typeface="Consolas" panose="020B0609020204030204" pitchFamily="49" charset="0"/>
              </a:rPr>
              <a:t>github.com</a:t>
            </a:r>
            <a:r>
              <a:rPr lang="en-US" sz="2400">
                <a:latin typeface="Consolas" panose="020B0609020204030204" pitchFamily="49" charset="0"/>
                <a:cs typeface="Consolas" panose="020B0609020204030204" pitchFamily="49" charset="0"/>
              </a:rPr>
              <a:t>/</a:t>
            </a:r>
            <a:r>
              <a:rPr lang="en-US" sz="2400" err="1">
                <a:latin typeface="Consolas" panose="020B0609020204030204" pitchFamily="49" charset="0"/>
                <a:cs typeface="Consolas" panose="020B0609020204030204" pitchFamily="49" charset="0"/>
              </a:rPr>
              <a:t>domingomery</a:t>
            </a:r>
            <a:r>
              <a:rPr lang="en-US" sz="2400">
                <a:latin typeface="Consolas" panose="020B0609020204030204" pitchFamily="49" charset="0"/>
                <a:cs typeface="Consolas" panose="020B0609020204030204" pitchFamily="49" charset="0"/>
              </a:rPr>
              <a:t>/</a:t>
            </a:r>
            <a:r>
              <a:rPr lang="en-US" sz="2400" err="1">
                <a:latin typeface="Consolas" panose="020B0609020204030204" pitchFamily="49" charset="0"/>
                <a:cs typeface="Consolas" panose="020B0609020204030204" pitchFamily="49" charset="0"/>
              </a:rPr>
              <a:t>patrones</a:t>
            </a:r>
            <a:endParaRPr lang="en-CL" sz="240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1AA5EF0F-C645-0BEA-B6B4-684D9265714B}"/>
              </a:ext>
            </a:extLst>
          </p:cNvPr>
          <p:cNvSpPr txBox="1"/>
          <p:nvPr/>
        </p:nvSpPr>
        <p:spPr>
          <a:xfrm>
            <a:off x="6213987" y="654296"/>
            <a:ext cx="4724820" cy="1446550"/>
          </a:xfrm>
          <a:prstGeom prst="rect">
            <a:avLst/>
          </a:prstGeom>
          <a:noFill/>
        </p:spPr>
        <p:txBody>
          <a:bodyPr wrap="none" rtlCol="0">
            <a:spAutoFit/>
          </a:bodyPr>
          <a:lstStyle/>
          <a:p>
            <a:r>
              <a:rPr lang="en-CL" sz="3200" b="1" dirty="0">
                <a:solidFill>
                  <a:schemeClr val="accent2"/>
                </a:solidFill>
                <a:latin typeface="Gill Sans MT" panose="020B0502020104020203" pitchFamily="34" charset="77"/>
                <a:cs typeface="Consolas" panose="020B0609020204030204" pitchFamily="49" charset="0"/>
              </a:rPr>
              <a:t>Material del Curso</a:t>
            </a:r>
          </a:p>
          <a:p>
            <a:endParaRPr lang="en-CL" sz="3200" b="1" dirty="0">
              <a:solidFill>
                <a:schemeClr val="accent2"/>
              </a:solidFill>
              <a:latin typeface="Gill Sans MT" panose="020B0502020104020203" pitchFamily="34" charset="77"/>
              <a:cs typeface="Consolas" panose="020B0609020204030204" pitchFamily="49" charset="0"/>
            </a:endParaRPr>
          </a:p>
          <a:p>
            <a:r>
              <a:rPr lang="en-CL" sz="2400" dirty="0">
                <a:latin typeface="Gill Sans MT" panose="020B0502020104020203" pitchFamily="34" charset="77"/>
                <a:cs typeface="Consolas" panose="020B0609020204030204" pitchFamily="49" charset="0"/>
              </a:rPr>
              <a:t>Aquí está todo el material del curso.</a:t>
            </a:r>
          </a:p>
        </p:txBody>
      </p:sp>
      <p:sp>
        <p:nvSpPr>
          <p:cNvPr id="2" name="Date Placeholder 1">
            <a:extLst>
              <a:ext uri="{FF2B5EF4-FFF2-40B4-BE49-F238E27FC236}">
                <a16:creationId xmlns:a16="http://schemas.microsoft.com/office/drawing/2014/main" id="{BA3CEE1A-E968-000B-FBF5-3B586A48AF82}"/>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F6B88860-1923-2D97-CB87-95833419AEF7}"/>
              </a:ext>
            </a:extLst>
          </p:cNvPr>
          <p:cNvSpPr>
            <a:spLocks noGrp="1"/>
          </p:cNvSpPr>
          <p:nvPr>
            <p:ph type="sldNum" sz="quarter" idx="12"/>
          </p:nvPr>
        </p:nvSpPr>
        <p:spPr/>
        <p:txBody>
          <a:bodyPr/>
          <a:lstStyle/>
          <a:p>
            <a:fld id="{006AE8E3-C79C-E14F-9140-34B0C7F543F1}" type="slidenum">
              <a:rPr lang="en-CL" smtClean="0"/>
              <a:t>18</a:t>
            </a:fld>
            <a:endParaRPr lang="en-CL"/>
          </a:p>
        </p:txBody>
      </p:sp>
    </p:spTree>
    <p:extLst>
      <p:ext uri="{BB962C8B-B14F-4D97-AF65-F5344CB8AC3E}">
        <p14:creationId xmlns:p14="http://schemas.microsoft.com/office/powerpoint/2010/main" val="2869770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FED3F-6F82-F353-B534-DAB61C4F1E00}"/>
            </a:ext>
          </a:extLst>
        </p:cNvPr>
        <p:cNvGrpSpPr/>
        <p:nvPr/>
      </p:nvGrpSpPr>
      <p:grpSpPr>
        <a:xfrm>
          <a:off x="0" y="0"/>
          <a:ext cx="0" cy="0"/>
          <a:chOff x="0" y="0"/>
          <a:chExt cx="0" cy="0"/>
        </a:xfrm>
      </p:grpSpPr>
      <p:sp>
        <p:nvSpPr>
          <p:cNvPr id="6" name="Text Box 2">
            <a:extLst>
              <a:ext uri="{FF2B5EF4-FFF2-40B4-BE49-F238E27FC236}">
                <a16:creationId xmlns:a16="http://schemas.microsoft.com/office/drawing/2014/main" id="{EDD728B5-763A-D7C2-72DD-21E87C9FEF7C}"/>
              </a:ext>
            </a:extLst>
          </p:cNvPr>
          <p:cNvSpPr txBox="1">
            <a:spLocks noChangeArrowheads="1"/>
          </p:cNvSpPr>
          <p:nvPr/>
        </p:nvSpPr>
        <p:spPr bwMode="auto">
          <a:xfrm>
            <a:off x="772747" y="639228"/>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YouTube del Curso (2025)</a:t>
            </a:r>
          </a:p>
          <a:p>
            <a:endParaRPr lang="es-CL" b="1" dirty="0">
              <a:solidFill>
                <a:schemeClr val="accent2"/>
              </a:solidFill>
              <a:latin typeface="Gill Sans MT" panose="020B0502020104020203" pitchFamily="34" charset="77"/>
            </a:endParaRPr>
          </a:p>
        </p:txBody>
      </p:sp>
      <p:sp>
        <p:nvSpPr>
          <p:cNvPr id="5" name="TextBox 4">
            <a:extLst>
              <a:ext uri="{FF2B5EF4-FFF2-40B4-BE49-F238E27FC236}">
                <a16:creationId xmlns:a16="http://schemas.microsoft.com/office/drawing/2014/main" id="{8D85A4D6-BAD9-B5D1-2A2F-D53F25A4A41E}"/>
              </a:ext>
            </a:extLst>
          </p:cNvPr>
          <p:cNvSpPr txBox="1"/>
          <p:nvPr/>
        </p:nvSpPr>
        <p:spPr>
          <a:xfrm>
            <a:off x="7651234" y="5616116"/>
            <a:ext cx="4092787" cy="461665"/>
          </a:xfrm>
          <a:prstGeom prst="rect">
            <a:avLst/>
          </a:prstGeom>
          <a:noFill/>
        </p:spPr>
        <p:txBody>
          <a:bodyPr wrap="none" rtlCol="0">
            <a:spAutoFit/>
          </a:bodyPr>
          <a:lstStyle/>
          <a:p>
            <a:r>
              <a:rPr lang="en-US" sz="2400" dirty="0">
                <a:latin typeface="Consolas" panose="020B0609020204030204" pitchFamily="49" charset="0"/>
                <a:cs typeface="Consolas" panose="020B0609020204030204" pitchFamily="49" charset="0"/>
                <a:hlinkClick r:id="rId2"/>
              </a:rPr>
              <a:t>https://bit.ly/4syPtMU</a:t>
            </a:r>
            <a:r>
              <a:rPr lang="en-US" sz="2400" dirty="0">
                <a:latin typeface="Consolas" panose="020B0609020204030204" pitchFamily="49" charset="0"/>
                <a:cs typeface="Consolas" panose="020B0609020204030204" pitchFamily="49" charset="0"/>
              </a:rPr>
              <a:t> </a:t>
            </a:r>
            <a:endParaRPr lang="en-CL" sz="2400" dirty="0">
              <a:latin typeface="Consolas" panose="020B0609020204030204" pitchFamily="49" charset="0"/>
              <a:cs typeface="Consolas" panose="020B0609020204030204" pitchFamily="49" charset="0"/>
            </a:endParaRPr>
          </a:p>
        </p:txBody>
      </p:sp>
      <p:pic>
        <p:nvPicPr>
          <p:cNvPr id="3" name="Picture 2">
            <a:extLst>
              <a:ext uri="{FF2B5EF4-FFF2-40B4-BE49-F238E27FC236}">
                <a16:creationId xmlns:a16="http://schemas.microsoft.com/office/drawing/2014/main" id="{69024FF5-1413-9D80-BE94-9792CFEB6750}"/>
              </a:ext>
            </a:extLst>
          </p:cNvPr>
          <p:cNvPicPr>
            <a:picLocks noChangeAspect="1"/>
          </p:cNvPicPr>
          <p:nvPr/>
        </p:nvPicPr>
        <p:blipFill>
          <a:blip r:embed="rId3"/>
          <a:srcRect/>
          <a:stretch/>
        </p:blipFill>
        <p:spPr>
          <a:xfrm>
            <a:off x="9544369" y="220818"/>
            <a:ext cx="2199652" cy="2199652"/>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C1ABE81-95C9-1D1C-EBF5-D499F27F68D6}"/>
              </a:ext>
            </a:extLst>
          </p:cNvPr>
          <p:cNvPicPr>
            <a:picLocks noChangeAspect="1"/>
          </p:cNvPicPr>
          <p:nvPr/>
        </p:nvPicPr>
        <p:blipFill>
          <a:blip r:embed="rId4"/>
          <a:stretch>
            <a:fillRect/>
          </a:stretch>
        </p:blipFill>
        <p:spPr>
          <a:xfrm>
            <a:off x="772747" y="1501002"/>
            <a:ext cx="6291442" cy="4576779"/>
          </a:xfrm>
          <a:prstGeom prst="rect">
            <a:avLst/>
          </a:prstGeom>
        </p:spPr>
      </p:pic>
      <p:sp>
        <p:nvSpPr>
          <p:cNvPr id="2" name="Date Placeholder 1">
            <a:extLst>
              <a:ext uri="{FF2B5EF4-FFF2-40B4-BE49-F238E27FC236}">
                <a16:creationId xmlns:a16="http://schemas.microsoft.com/office/drawing/2014/main" id="{2924B9C7-EF88-0EBC-40F7-DF6226E6AF68}"/>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66A5551B-3905-D66A-AA2D-977E2A4ECABE}"/>
              </a:ext>
            </a:extLst>
          </p:cNvPr>
          <p:cNvSpPr>
            <a:spLocks noGrp="1"/>
          </p:cNvSpPr>
          <p:nvPr>
            <p:ph type="sldNum" sz="quarter" idx="12"/>
          </p:nvPr>
        </p:nvSpPr>
        <p:spPr/>
        <p:txBody>
          <a:bodyPr/>
          <a:lstStyle/>
          <a:p>
            <a:fld id="{006AE8E3-C79C-E14F-9140-34B0C7F543F1}" type="slidenum">
              <a:rPr lang="en-CL" smtClean="0"/>
              <a:t>19</a:t>
            </a:fld>
            <a:endParaRPr lang="en-CL"/>
          </a:p>
        </p:txBody>
      </p:sp>
    </p:spTree>
    <p:extLst>
      <p:ext uri="{BB962C8B-B14F-4D97-AF65-F5344CB8AC3E}">
        <p14:creationId xmlns:p14="http://schemas.microsoft.com/office/powerpoint/2010/main" val="2051774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971676" y="313137"/>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Trabajo en Clases</a:t>
            </a:r>
          </a:p>
          <a:p>
            <a:endParaRPr lang="es-CL"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D3617796-6F32-039B-9EAD-84D99A186663}"/>
              </a:ext>
            </a:extLst>
          </p:cNvPr>
          <p:cNvSpPr>
            <a:spLocks noGrp="1"/>
          </p:cNvSpPr>
          <p:nvPr>
            <p:ph type="dt" sz="half" idx="10"/>
          </p:nvPr>
        </p:nvSpPr>
        <p:spPr/>
        <p:txBody>
          <a:bodyPr/>
          <a:lstStyle/>
          <a:p>
            <a:r>
              <a:rPr lang="en-US"/>
              <a:t>(c) D.Mery - PR00</a:t>
            </a:r>
            <a:endParaRPr lang="en-CL"/>
          </a:p>
        </p:txBody>
      </p:sp>
      <p:sp>
        <p:nvSpPr>
          <p:cNvPr id="3" name="Slide Number Placeholder 2">
            <a:extLst>
              <a:ext uri="{FF2B5EF4-FFF2-40B4-BE49-F238E27FC236}">
                <a16:creationId xmlns:a16="http://schemas.microsoft.com/office/drawing/2014/main" id="{7E1D71C6-A26C-E7D3-0226-2DFD9F99D809}"/>
              </a:ext>
            </a:extLst>
          </p:cNvPr>
          <p:cNvSpPr>
            <a:spLocks noGrp="1"/>
          </p:cNvSpPr>
          <p:nvPr>
            <p:ph type="sldNum" sz="quarter" idx="12"/>
          </p:nvPr>
        </p:nvSpPr>
        <p:spPr/>
        <p:txBody>
          <a:bodyPr/>
          <a:lstStyle/>
          <a:p>
            <a:fld id="{006AE8E3-C79C-E14F-9140-34B0C7F543F1}" type="slidenum">
              <a:rPr lang="en-CL" smtClean="0"/>
              <a:t>20</a:t>
            </a:fld>
            <a:endParaRPr lang="en-CL"/>
          </a:p>
        </p:txBody>
      </p:sp>
    </p:spTree>
    <p:extLst>
      <p:ext uri="{BB962C8B-B14F-4D97-AF65-F5344CB8AC3E}">
        <p14:creationId xmlns:p14="http://schemas.microsoft.com/office/powerpoint/2010/main" val="1160867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971676" y="313137"/>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Trabajo en Clases</a:t>
            </a:r>
          </a:p>
          <a:p>
            <a:endParaRPr lang="es-CL" b="1" dirty="0">
              <a:solidFill>
                <a:schemeClr val="accent2"/>
              </a:solidFill>
              <a:latin typeface="Gill Sans MT" panose="020B0502020104020203" pitchFamily="34" charset="77"/>
            </a:endParaRPr>
          </a:p>
        </p:txBody>
      </p:sp>
      <p:sp>
        <p:nvSpPr>
          <p:cNvPr id="3" name="TextBox 2">
            <a:extLst>
              <a:ext uri="{FF2B5EF4-FFF2-40B4-BE49-F238E27FC236}">
                <a16:creationId xmlns:a16="http://schemas.microsoft.com/office/drawing/2014/main" id="{55D4560E-C34D-C05E-868E-AC7593F4B5C1}"/>
              </a:ext>
            </a:extLst>
          </p:cNvPr>
          <p:cNvSpPr txBox="1"/>
          <p:nvPr/>
        </p:nvSpPr>
        <p:spPr>
          <a:xfrm>
            <a:off x="2074912" y="1152536"/>
            <a:ext cx="8135885" cy="4832092"/>
          </a:xfrm>
          <a:prstGeom prst="rect">
            <a:avLst/>
          </a:prstGeom>
          <a:noFill/>
        </p:spPr>
        <p:txBody>
          <a:bodyPr wrap="square">
            <a:spAutoFit/>
          </a:bodyPr>
          <a:lstStyle/>
          <a:p>
            <a:r>
              <a:rPr lang="es-ES_tradnl" sz="2800" dirty="0">
                <a:solidFill>
                  <a:schemeClr val="accent2"/>
                </a:solidFill>
                <a:latin typeface="Gill Sans MT" panose="020B0502020104020203" pitchFamily="34" charset="77"/>
              </a:rPr>
              <a:t>Son 12 Ejercicios en Clase</a:t>
            </a:r>
          </a:p>
          <a:p>
            <a:pPr algn="l"/>
            <a:endParaRPr lang="en-US" sz="2800" dirty="0">
              <a:solidFill>
                <a:srgbClr val="2D3B45"/>
              </a:solidFill>
              <a:latin typeface="Gill Sans MT" panose="020B0502020104020203" pitchFamily="34" charset="77"/>
            </a:endParaRPr>
          </a:p>
          <a:p>
            <a:pPr algn="l"/>
            <a:r>
              <a:rPr lang="en-US" sz="2800" dirty="0">
                <a:solidFill>
                  <a:srgbClr val="2D3B45"/>
                </a:solidFill>
                <a:latin typeface="Gill Sans MT" panose="020B0502020104020203" pitchFamily="34" charset="77"/>
              </a:rPr>
              <a:t>Esta </a:t>
            </a:r>
            <a:r>
              <a:rPr lang="en-US" sz="2800" dirty="0" err="1">
                <a:solidFill>
                  <a:srgbClr val="2D3B45"/>
                </a:solidFill>
                <a:latin typeface="Gill Sans MT" panose="020B0502020104020203" pitchFamily="34" charset="77"/>
              </a:rPr>
              <a:t>actividad</a:t>
            </a:r>
            <a:r>
              <a:rPr lang="en-US" sz="2800" dirty="0">
                <a:solidFill>
                  <a:srgbClr val="2D3B45"/>
                </a:solidFill>
                <a:latin typeface="Gill Sans MT" panose="020B0502020104020203" pitchFamily="34" charset="77"/>
              </a:rPr>
              <a:t>, es un </a:t>
            </a:r>
            <a:r>
              <a:rPr lang="en-US" sz="2800" dirty="0" err="1">
                <a:solidFill>
                  <a:srgbClr val="2D3B45"/>
                </a:solidFill>
                <a:latin typeface="Gill Sans MT" panose="020B0502020104020203" pitchFamily="34" charset="77"/>
              </a:rPr>
              <a:t>trabajo</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en</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clases</a:t>
            </a:r>
            <a:r>
              <a:rPr lang="en-US" sz="2800" dirty="0">
                <a:solidFill>
                  <a:srgbClr val="2D3B45"/>
                </a:solidFill>
                <a:latin typeface="Gill Sans MT" panose="020B0502020104020203" pitchFamily="34" charset="77"/>
              </a:rPr>
              <a:t>. La idea es que </a:t>
            </a:r>
            <a:r>
              <a:rPr lang="en-US" sz="2800" dirty="0" err="1">
                <a:solidFill>
                  <a:srgbClr val="2D3B45"/>
                </a:solidFill>
                <a:latin typeface="Gill Sans MT" panose="020B0502020104020203" pitchFamily="34" charset="77"/>
              </a:rPr>
              <a:t>vayas</a:t>
            </a:r>
            <a:r>
              <a:rPr lang="en-US" sz="2800" dirty="0">
                <a:solidFill>
                  <a:srgbClr val="2D3B45"/>
                </a:solidFill>
                <a:latin typeface="Gill Sans MT" panose="020B0502020104020203" pitchFamily="34" charset="77"/>
              </a:rPr>
              <a:t> a la </a:t>
            </a:r>
            <a:r>
              <a:rPr lang="en-US" sz="2800" dirty="0" err="1">
                <a:solidFill>
                  <a:srgbClr val="2D3B45"/>
                </a:solidFill>
                <a:latin typeface="Gill Sans MT" panose="020B0502020104020203" pitchFamily="34" charset="77"/>
              </a:rPr>
              <a:t>clase</a:t>
            </a:r>
            <a:r>
              <a:rPr lang="en-US" sz="2800" dirty="0">
                <a:solidFill>
                  <a:srgbClr val="2D3B45"/>
                </a:solidFill>
                <a:latin typeface="Gill Sans MT" panose="020B0502020104020203" pitchFamily="34" charset="77"/>
              </a:rPr>
              <a:t> del día </a:t>
            </a:r>
            <a:r>
              <a:rPr lang="en-US" sz="2800" dirty="0" err="1">
                <a:solidFill>
                  <a:srgbClr val="2D3B45"/>
                </a:solidFill>
                <a:latin typeface="Gill Sans MT" panose="020B0502020104020203" pitchFamily="34" charset="77"/>
              </a:rPr>
              <a:t>correspondiente</a:t>
            </a:r>
            <a:r>
              <a:rPr lang="en-US" sz="2800" dirty="0">
                <a:solidFill>
                  <a:srgbClr val="2D3B45"/>
                </a:solidFill>
                <a:latin typeface="Gill Sans MT" panose="020B0502020104020203" pitchFamily="34" charset="77"/>
              </a:rPr>
              <a:t> (que coincide con </a:t>
            </a:r>
            <a:r>
              <a:rPr lang="en-US" sz="2800" dirty="0" err="1">
                <a:solidFill>
                  <a:srgbClr val="2D3B45"/>
                </a:solidFill>
                <a:latin typeface="Gill Sans MT" panose="020B0502020104020203" pitchFamily="34" charset="77"/>
              </a:rPr>
              <a:t>el</a:t>
            </a:r>
            <a:r>
              <a:rPr lang="en-US" sz="2800" dirty="0">
                <a:solidFill>
                  <a:srgbClr val="2D3B45"/>
                </a:solidFill>
                <a:latin typeface="Gill Sans MT" panose="020B0502020104020203" pitchFamily="34" charset="77"/>
              </a:rPr>
              <a:t> día de la </a:t>
            </a:r>
            <a:r>
              <a:rPr lang="en-US" sz="2800" dirty="0" err="1">
                <a:solidFill>
                  <a:srgbClr val="2D3B45"/>
                </a:solidFill>
                <a:latin typeface="Gill Sans MT" panose="020B0502020104020203" pitchFamily="34" charset="77"/>
              </a:rPr>
              <a:t>entrega</a:t>
            </a:r>
            <a:r>
              <a:rPr lang="en-US" sz="2800" dirty="0">
                <a:solidFill>
                  <a:srgbClr val="2D3B45"/>
                </a:solidFill>
                <a:latin typeface="Gill Sans MT" panose="020B0502020104020203" pitchFamily="34" charset="77"/>
              </a:rPr>
              <a:t> de </a:t>
            </a:r>
            <a:r>
              <a:rPr lang="en-US" sz="2800" dirty="0" err="1">
                <a:solidFill>
                  <a:srgbClr val="2D3B45"/>
                </a:solidFill>
                <a:latin typeface="Gill Sans MT" panose="020B0502020104020203" pitchFamily="34" charset="77"/>
              </a:rPr>
              <a:t>esta</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actividad</a:t>
            </a:r>
            <a:r>
              <a:rPr lang="en-US" sz="2800" dirty="0">
                <a:solidFill>
                  <a:srgbClr val="2D3B45"/>
                </a:solidFill>
                <a:latin typeface="Gill Sans MT" panose="020B0502020104020203" pitchFamily="34" charset="77"/>
              </a:rPr>
              <a:t>) y que uses la </a:t>
            </a:r>
            <a:r>
              <a:rPr lang="en-US" sz="2800" dirty="0" err="1">
                <a:solidFill>
                  <a:srgbClr val="2D3B45"/>
                </a:solidFill>
                <a:latin typeface="Gill Sans MT" panose="020B0502020104020203" pitchFamily="34" charset="77"/>
              </a:rPr>
              <a:t>instancia</a:t>
            </a:r>
            <a:r>
              <a:rPr lang="en-US" sz="2800" dirty="0">
                <a:solidFill>
                  <a:srgbClr val="2D3B45"/>
                </a:solidFill>
                <a:latin typeface="Gill Sans MT" panose="020B0502020104020203" pitchFamily="34" charset="77"/>
              </a:rPr>
              <a:t> de </a:t>
            </a:r>
            <a:r>
              <a:rPr lang="en-US" sz="2800" dirty="0" err="1">
                <a:solidFill>
                  <a:srgbClr val="2D3B45"/>
                </a:solidFill>
                <a:latin typeface="Gill Sans MT" panose="020B0502020104020203" pitchFamily="34" charset="77"/>
              </a:rPr>
              <a:t>conversación</a:t>
            </a:r>
            <a:r>
              <a:rPr lang="en-US" sz="2800" dirty="0">
                <a:solidFill>
                  <a:srgbClr val="2D3B45"/>
                </a:solidFill>
                <a:latin typeface="Gill Sans MT" panose="020B0502020104020203" pitchFamily="34" charset="77"/>
              </a:rPr>
              <a:t> con </a:t>
            </a:r>
            <a:r>
              <a:rPr lang="en-US" sz="2800" dirty="0" err="1">
                <a:solidFill>
                  <a:srgbClr val="2D3B45"/>
                </a:solidFill>
                <a:latin typeface="Gill Sans MT" panose="020B0502020104020203" pitchFamily="34" charset="77"/>
              </a:rPr>
              <a:t>el</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profesor</a:t>
            </a:r>
            <a:r>
              <a:rPr lang="en-US" sz="2800" dirty="0">
                <a:solidFill>
                  <a:srgbClr val="2D3B45"/>
                </a:solidFill>
                <a:latin typeface="Gill Sans MT" panose="020B0502020104020203" pitchFamily="34" charset="77"/>
              </a:rPr>
              <a:t> del </a:t>
            </a:r>
            <a:r>
              <a:rPr lang="en-US" sz="2800" dirty="0" err="1">
                <a:solidFill>
                  <a:srgbClr val="2D3B45"/>
                </a:solidFill>
                <a:latin typeface="Gill Sans MT" panose="020B0502020104020203" pitchFamily="34" charset="77"/>
              </a:rPr>
              <a:t>curso</a:t>
            </a:r>
            <a:r>
              <a:rPr lang="en-US" sz="2800" dirty="0">
                <a:solidFill>
                  <a:srgbClr val="2D3B45"/>
                </a:solidFill>
                <a:latin typeface="Gill Sans MT" panose="020B0502020104020203" pitchFamily="34" charset="77"/>
              </a:rPr>
              <a:t> y </a:t>
            </a:r>
            <a:r>
              <a:rPr lang="en-US" sz="2800" dirty="0" err="1">
                <a:solidFill>
                  <a:srgbClr val="2D3B45"/>
                </a:solidFill>
                <a:latin typeface="Gill Sans MT" panose="020B0502020104020203" pitchFamily="34" charset="77"/>
              </a:rPr>
              <a:t>otros</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estudiantes</a:t>
            </a:r>
            <a:r>
              <a:rPr lang="en-US" sz="2800" dirty="0">
                <a:solidFill>
                  <a:srgbClr val="2D3B45"/>
                </a:solidFill>
                <a:latin typeface="Gill Sans MT" panose="020B0502020104020203" pitchFamily="34" charset="77"/>
              </a:rPr>
              <a:t> para </a:t>
            </a:r>
            <a:r>
              <a:rPr lang="en-US" sz="2800" dirty="0" err="1">
                <a:solidFill>
                  <a:srgbClr val="2D3B45"/>
                </a:solidFill>
                <a:latin typeface="Gill Sans MT" panose="020B0502020104020203" pitchFamily="34" charset="77"/>
              </a:rPr>
              <a:t>aclarar</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todas</a:t>
            </a:r>
            <a:r>
              <a:rPr lang="en-US" sz="2800" dirty="0">
                <a:solidFill>
                  <a:srgbClr val="2D3B45"/>
                </a:solidFill>
                <a:latin typeface="Gill Sans MT" panose="020B0502020104020203" pitchFamily="34" charset="77"/>
              </a:rPr>
              <a:t> las </a:t>
            </a:r>
            <a:r>
              <a:rPr lang="en-US" sz="2800" dirty="0" err="1">
                <a:solidFill>
                  <a:srgbClr val="2D3B45"/>
                </a:solidFill>
                <a:latin typeface="Gill Sans MT" panose="020B0502020104020203" pitchFamily="34" charset="77"/>
              </a:rPr>
              <a:t>dudas</a:t>
            </a:r>
            <a:r>
              <a:rPr lang="en-US" sz="2800" dirty="0">
                <a:solidFill>
                  <a:srgbClr val="2D3B45"/>
                </a:solidFill>
                <a:latin typeface="Gill Sans MT" panose="020B0502020104020203" pitchFamily="34" charset="77"/>
              </a:rPr>
              <a:t> que </a:t>
            </a:r>
            <a:r>
              <a:rPr lang="en-US" sz="2800" dirty="0" err="1">
                <a:solidFill>
                  <a:srgbClr val="2D3B45"/>
                </a:solidFill>
                <a:latin typeface="Gill Sans MT" panose="020B0502020104020203" pitchFamily="34" charset="77"/>
              </a:rPr>
              <a:t>tengas</a:t>
            </a:r>
            <a:r>
              <a:rPr lang="en-US" sz="2800" dirty="0">
                <a:solidFill>
                  <a:srgbClr val="2D3B45"/>
                </a:solidFill>
                <a:latin typeface="Gill Sans MT" panose="020B0502020104020203" pitchFamily="34" charset="77"/>
              </a:rPr>
              <a:t>.</a:t>
            </a:r>
          </a:p>
          <a:p>
            <a:pPr algn="l"/>
            <a:endParaRPr lang="en-US" sz="2800" dirty="0">
              <a:solidFill>
                <a:srgbClr val="2D3B45"/>
              </a:solidFill>
              <a:latin typeface="Gill Sans MT" panose="020B0502020104020203" pitchFamily="34" charset="77"/>
            </a:endParaRPr>
          </a:p>
          <a:p>
            <a:pPr algn="l"/>
            <a:r>
              <a:rPr lang="en-US" sz="2800" dirty="0">
                <a:solidFill>
                  <a:srgbClr val="2D3B45"/>
                </a:solidFill>
                <a:latin typeface="Gill Sans MT" panose="020B0502020104020203" pitchFamily="34" charset="77"/>
              </a:rPr>
              <a:t>La </a:t>
            </a:r>
            <a:r>
              <a:rPr lang="en-US" sz="2800" dirty="0" err="1">
                <a:solidFill>
                  <a:srgbClr val="2D3B45"/>
                </a:solidFill>
                <a:latin typeface="Gill Sans MT" panose="020B0502020104020203" pitchFamily="34" charset="77"/>
              </a:rPr>
              <a:t>actividad</a:t>
            </a:r>
            <a:r>
              <a:rPr lang="en-US" sz="2800" dirty="0">
                <a:solidFill>
                  <a:srgbClr val="2D3B45"/>
                </a:solidFill>
                <a:latin typeface="Gill Sans MT" panose="020B0502020104020203" pitchFamily="34" charset="77"/>
              </a:rPr>
              <a:t> es individual, </a:t>
            </a:r>
            <a:r>
              <a:rPr lang="en-US" sz="2800" dirty="0" err="1">
                <a:solidFill>
                  <a:srgbClr val="2D3B45"/>
                </a:solidFill>
                <a:latin typeface="Gill Sans MT" panose="020B0502020104020203" pitchFamily="34" charset="77"/>
              </a:rPr>
              <a:t>pero</a:t>
            </a:r>
            <a:r>
              <a:rPr lang="en-US" sz="2800" dirty="0">
                <a:solidFill>
                  <a:srgbClr val="2D3B45"/>
                </a:solidFill>
                <a:latin typeface="Gill Sans MT" panose="020B0502020104020203" pitchFamily="34" charset="77"/>
              </a:rPr>
              <a:t> se </a:t>
            </a:r>
            <a:r>
              <a:rPr lang="en-US" sz="2800" dirty="0" err="1">
                <a:solidFill>
                  <a:srgbClr val="2D3B45"/>
                </a:solidFill>
                <a:latin typeface="Gill Sans MT" panose="020B0502020104020203" pitchFamily="34" charset="77"/>
              </a:rPr>
              <a:t>puede</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conversar</a:t>
            </a:r>
            <a:r>
              <a:rPr lang="en-US" sz="2800" dirty="0">
                <a:solidFill>
                  <a:srgbClr val="2D3B45"/>
                </a:solidFill>
                <a:latin typeface="Gill Sans MT" panose="020B0502020104020203" pitchFamily="34" charset="77"/>
              </a:rPr>
              <a:t> con </a:t>
            </a:r>
            <a:r>
              <a:rPr lang="en-US" sz="2800" dirty="0" err="1">
                <a:solidFill>
                  <a:srgbClr val="2D3B45"/>
                </a:solidFill>
                <a:latin typeface="Gill Sans MT" panose="020B0502020104020203" pitchFamily="34" charset="77"/>
              </a:rPr>
              <a:t>otros</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estudiantes</a:t>
            </a:r>
            <a:r>
              <a:rPr lang="en-US" sz="2800" dirty="0">
                <a:solidFill>
                  <a:srgbClr val="2D3B45"/>
                </a:solidFill>
                <a:latin typeface="Gill Sans MT" panose="020B0502020104020203" pitchFamily="34" charset="77"/>
              </a:rPr>
              <a:t> del </a:t>
            </a:r>
            <a:r>
              <a:rPr lang="en-US" sz="2800" dirty="0" err="1">
                <a:solidFill>
                  <a:srgbClr val="2D3B45"/>
                </a:solidFill>
                <a:latin typeface="Gill Sans MT" panose="020B0502020104020203" pitchFamily="34" charset="77"/>
              </a:rPr>
              <a:t>curso</a:t>
            </a:r>
            <a:r>
              <a:rPr lang="en-US" sz="2800" dirty="0">
                <a:solidFill>
                  <a:srgbClr val="2D3B45"/>
                </a:solidFill>
                <a:latin typeface="Gill Sans MT" panose="020B0502020104020203" pitchFamily="34" charset="77"/>
              </a:rPr>
              <a:t>.</a:t>
            </a:r>
          </a:p>
        </p:txBody>
      </p:sp>
      <p:sp>
        <p:nvSpPr>
          <p:cNvPr id="2" name="Date Placeholder 1">
            <a:extLst>
              <a:ext uri="{FF2B5EF4-FFF2-40B4-BE49-F238E27FC236}">
                <a16:creationId xmlns:a16="http://schemas.microsoft.com/office/drawing/2014/main" id="{1C381D52-23A7-24BE-8A56-7B19C012B3F5}"/>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4561F125-713B-8A0D-E3F0-158AA8AF9EF8}"/>
              </a:ext>
            </a:extLst>
          </p:cNvPr>
          <p:cNvSpPr>
            <a:spLocks noGrp="1"/>
          </p:cNvSpPr>
          <p:nvPr>
            <p:ph type="sldNum" sz="quarter" idx="12"/>
          </p:nvPr>
        </p:nvSpPr>
        <p:spPr/>
        <p:txBody>
          <a:bodyPr/>
          <a:lstStyle/>
          <a:p>
            <a:fld id="{006AE8E3-C79C-E14F-9140-34B0C7F543F1}" type="slidenum">
              <a:rPr lang="en-CL" smtClean="0"/>
              <a:t>21</a:t>
            </a:fld>
            <a:endParaRPr lang="en-CL"/>
          </a:p>
        </p:txBody>
      </p:sp>
    </p:spTree>
    <p:extLst>
      <p:ext uri="{BB962C8B-B14F-4D97-AF65-F5344CB8AC3E}">
        <p14:creationId xmlns:p14="http://schemas.microsoft.com/office/powerpoint/2010/main" val="2890203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27562974-A8B3-EAFC-1AE1-AF94766A6E9A}"/>
              </a:ext>
            </a:extLst>
          </p:cNvPr>
          <p:cNvSpPr txBox="1">
            <a:spLocks noChangeArrowheads="1"/>
          </p:cNvSpPr>
          <p:nvPr/>
        </p:nvSpPr>
        <p:spPr bwMode="auto">
          <a:xfrm>
            <a:off x="1930579" y="1406832"/>
            <a:ext cx="8490263" cy="584775"/>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Tareas</a:t>
            </a:r>
            <a:endParaRPr lang="es-CL" b="1" dirty="0">
              <a:solidFill>
                <a:schemeClr val="accent2"/>
              </a:solidFill>
              <a:latin typeface="Gill Sans MT" panose="020B0502020104020203" pitchFamily="34" charset="77"/>
            </a:endParaRPr>
          </a:p>
        </p:txBody>
      </p:sp>
      <p:sp>
        <p:nvSpPr>
          <p:cNvPr id="2" name="TextBox 1">
            <a:extLst>
              <a:ext uri="{FF2B5EF4-FFF2-40B4-BE49-F238E27FC236}">
                <a16:creationId xmlns:a16="http://schemas.microsoft.com/office/drawing/2014/main" id="{616007C7-8C86-9FD9-A0E4-4740C101329D}"/>
              </a:ext>
            </a:extLst>
          </p:cNvPr>
          <p:cNvSpPr txBox="1"/>
          <p:nvPr/>
        </p:nvSpPr>
        <p:spPr>
          <a:xfrm>
            <a:off x="1930579" y="2404180"/>
            <a:ext cx="8490263" cy="3046988"/>
          </a:xfrm>
          <a:prstGeom prst="rect">
            <a:avLst/>
          </a:prstGeom>
          <a:noFill/>
        </p:spPr>
        <p:txBody>
          <a:bodyPr wrap="square" rtlCol="0">
            <a:spAutoFit/>
          </a:bodyPr>
          <a:lstStyle/>
          <a:p>
            <a:r>
              <a:rPr lang="es-ES_tradnl" sz="2400" dirty="0">
                <a:latin typeface="Gill Sans MT" panose="020B0502020104020203" pitchFamily="34" charset="77"/>
              </a:rPr>
              <a:t>Son tres tareas</a:t>
            </a:r>
          </a:p>
          <a:p>
            <a:endParaRPr lang="es-ES_tradnl" sz="2400" dirty="0">
              <a:latin typeface="Gill Sans MT" panose="020B0502020104020203" pitchFamily="34" charset="77"/>
            </a:endParaRPr>
          </a:p>
          <a:p>
            <a:r>
              <a:rPr lang="es-ES_tradnl" sz="2400" dirty="0">
                <a:latin typeface="Gill Sans MT" panose="020B0502020104020203" pitchFamily="34" charset="77"/>
              </a:rPr>
              <a:t>La tarea consiste en un código desarrollado en Python bajo la plataforma de Google </a:t>
            </a:r>
            <a:r>
              <a:rPr lang="es-ES_tradnl" sz="2400" dirty="0" err="1">
                <a:latin typeface="Gill Sans MT" panose="020B0502020104020203" pitchFamily="34" charset="77"/>
              </a:rPr>
              <a:t>Colab</a:t>
            </a:r>
            <a:r>
              <a:rPr lang="es-ES_tradnl" sz="2400" dirty="0">
                <a:latin typeface="Gill Sans MT" panose="020B0502020104020203" pitchFamily="34" charset="77"/>
              </a:rPr>
              <a:t>, y un informe de una página (en Times New </a:t>
            </a:r>
            <a:r>
              <a:rPr lang="es-ES_tradnl" sz="2400" dirty="0" err="1">
                <a:latin typeface="Gill Sans MT" panose="020B0502020104020203" pitchFamily="34" charset="77"/>
              </a:rPr>
              <a:t>Roman</a:t>
            </a:r>
            <a:r>
              <a:rPr lang="es-ES_tradnl" sz="2400" dirty="0">
                <a:latin typeface="Gill Sans MT" panose="020B0502020104020203" pitchFamily="34" charset="77"/>
              </a:rPr>
              <a:t>, tamaño 12 espacio simple y márgenes de no menos de 2.5cm). Si el informe tiene más de una página, sólo se revisará la primera página. Se puede aprovechar los comentarios en el código de </a:t>
            </a:r>
            <a:r>
              <a:rPr lang="es-ES_tradnl" sz="2400" dirty="0" err="1">
                <a:latin typeface="Gill Sans MT" panose="020B0502020104020203" pitchFamily="34" charset="77"/>
              </a:rPr>
              <a:t>Colab</a:t>
            </a:r>
            <a:r>
              <a:rPr lang="es-ES_tradnl" sz="2400" dirty="0">
                <a:latin typeface="Gill Sans MT" panose="020B0502020104020203" pitchFamily="34" charset="77"/>
              </a:rPr>
              <a:t> para hacer explicaciones más detalladas.</a:t>
            </a:r>
          </a:p>
        </p:txBody>
      </p:sp>
      <p:sp>
        <p:nvSpPr>
          <p:cNvPr id="4" name="Date Placeholder 3">
            <a:extLst>
              <a:ext uri="{FF2B5EF4-FFF2-40B4-BE49-F238E27FC236}">
                <a16:creationId xmlns:a16="http://schemas.microsoft.com/office/drawing/2014/main" id="{92FCDC0E-7F58-D883-5D17-678FF37ED683}"/>
              </a:ext>
            </a:extLst>
          </p:cNvPr>
          <p:cNvSpPr>
            <a:spLocks noGrp="1"/>
          </p:cNvSpPr>
          <p:nvPr>
            <p:ph type="dt" sz="half" idx="10"/>
          </p:nvPr>
        </p:nvSpPr>
        <p:spPr/>
        <p:txBody>
          <a:bodyPr/>
          <a:lstStyle/>
          <a:p>
            <a:r>
              <a:rPr lang="en-US"/>
              <a:t>(c) D.Mery - PR00</a:t>
            </a:r>
            <a:endParaRPr lang="en-CL"/>
          </a:p>
        </p:txBody>
      </p:sp>
      <p:sp>
        <p:nvSpPr>
          <p:cNvPr id="5" name="Slide Number Placeholder 4">
            <a:extLst>
              <a:ext uri="{FF2B5EF4-FFF2-40B4-BE49-F238E27FC236}">
                <a16:creationId xmlns:a16="http://schemas.microsoft.com/office/drawing/2014/main" id="{C4EFCC52-2089-52D7-4D83-F3A4B0EF9115}"/>
              </a:ext>
            </a:extLst>
          </p:cNvPr>
          <p:cNvSpPr>
            <a:spLocks noGrp="1"/>
          </p:cNvSpPr>
          <p:nvPr>
            <p:ph type="sldNum" sz="quarter" idx="12"/>
          </p:nvPr>
        </p:nvSpPr>
        <p:spPr/>
        <p:txBody>
          <a:bodyPr/>
          <a:lstStyle/>
          <a:p>
            <a:fld id="{006AE8E3-C79C-E14F-9140-34B0C7F543F1}" type="slidenum">
              <a:rPr lang="en-CL" smtClean="0"/>
              <a:t>22</a:t>
            </a:fld>
            <a:endParaRPr lang="en-CL"/>
          </a:p>
        </p:txBody>
      </p:sp>
    </p:spTree>
    <p:extLst>
      <p:ext uri="{BB962C8B-B14F-4D97-AF65-F5344CB8AC3E}">
        <p14:creationId xmlns:p14="http://schemas.microsoft.com/office/powerpoint/2010/main" val="349284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397E9-CF53-E304-FC05-5CAF804464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AD3A43-1C16-02F3-5EA8-CE56DFA14651}"/>
              </a:ext>
            </a:extLst>
          </p:cNvPr>
          <p:cNvSpPr txBox="1"/>
          <p:nvPr/>
        </p:nvSpPr>
        <p:spPr>
          <a:xfrm>
            <a:off x="1568067" y="2594126"/>
            <a:ext cx="9055866" cy="3416320"/>
          </a:xfrm>
          <a:prstGeom prst="rect">
            <a:avLst/>
          </a:prstGeom>
          <a:noFill/>
        </p:spPr>
        <p:txBody>
          <a:bodyPr wrap="square" rtlCol="0">
            <a:spAutoFit/>
          </a:bodyPr>
          <a:lstStyle/>
          <a:p>
            <a:pPr marL="342900" indent="-342900">
              <a:buFont typeface="Arial" panose="020B0604020202020204" pitchFamily="34" charset="0"/>
              <a:buChar char="•"/>
            </a:pPr>
            <a:r>
              <a:rPr lang="es-ES_tradnl" sz="2400" dirty="0">
                <a:latin typeface="Gill Sans MT" panose="020B0502020104020203" pitchFamily="34" charset="77"/>
              </a:rPr>
              <a:t>La fecha y hora están definidos por la DIPRE.</a:t>
            </a:r>
          </a:p>
          <a:p>
            <a:pPr marL="342900" indent="-342900">
              <a:buFont typeface="Arial" panose="020B0604020202020204" pitchFamily="34" charset="0"/>
              <a:buChar char="•"/>
            </a:pPr>
            <a:r>
              <a:rPr lang="es-ES_tradnl" sz="2400" dirty="0">
                <a:latin typeface="Gill Sans MT" panose="020B0502020104020203" pitchFamily="34" charset="77"/>
              </a:rPr>
              <a:t>No hay eximición.</a:t>
            </a:r>
          </a:p>
          <a:p>
            <a:pPr marL="342900" indent="-342900">
              <a:buFont typeface="Arial" panose="020B0604020202020204" pitchFamily="34" charset="0"/>
              <a:buChar char="•"/>
            </a:pPr>
            <a:r>
              <a:rPr lang="es-ES_tradnl" sz="2400" dirty="0">
                <a:latin typeface="Gill Sans MT" panose="020B0502020104020203" pitchFamily="34" charset="77"/>
              </a:rPr>
              <a:t>Se podrá llevar un cuaderno de no más de 100 hojas con apuntes escritos a mano de la materia del curso (no se acepta impresiones, fotocopias, hojas sueltas, ni ningún tipo de reproducción, sólo un cuaderno escrito a mano).</a:t>
            </a:r>
          </a:p>
          <a:p>
            <a:pPr marL="342900" indent="-342900">
              <a:buFont typeface="Arial" panose="020B0604020202020204" pitchFamily="34" charset="0"/>
              <a:buChar char="•"/>
            </a:pPr>
            <a:r>
              <a:rPr lang="es-ES_tradnl" sz="2400" dirty="0">
                <a:latin typeface="Gill Sans MT" panose="020B0502020104020203" pitchFamily="34" charset="77"/>
              </a:rPr>
              <a:t>En el examen no se admite ningún tipo de dispositivo electrónico.</a:t>
            </a:r>
          </a:p>
          <a:p>
            <a:pPr marL="342900" indent="-342900">
              <a:buFont typeface="Arial" panose="020B0604020202020204" pitchFamily="34" charset="0"/>
              <a:buChar char="•"/>
            </a:pPr>
            <a:endParaRPr lang="es-ES_tradnl" sz="2400" dirty="0">
              <a:latin typeface="Gill Sans MT" panose="020B0502020104020203" pitchFamily="34" charset="77"/>
            </a:endParaRPr>
          </a:p>
          <a:p>
            <a:pPr marL="342900" indent="-342900">
              <a:buFont typeface="Arial" panose="020B0604020202020204" pitchFamily="34" charset="0"/>
              <a:buChar char="•"/>
            </a:pPr>
            <a:endParaRPr lang="es-ES_tradnl" sz="2400" dirty="0">
              <a:latin typeface="Gill Sans MT" panose="020B0502020104020203" pitchFamily="34" charset="77"/>
            </a:endParaRPr>
          </a:p>
        </p:txBody>
      </p:sp>
      <p:sp>
        <p:nvSpPr>
          <p:cNvPr id="3" name="Text Box 2">
            <a:extLst>
              <a:ext uri="{FF2B5EF4-FFF2-40B4-BE49-F238E27FC236}">
                <a16:creationId xmlns:a16="http://schemas.microsoft.com/office/drawing/2014/main" id="{0F48AB43-F72A-3CA9-0FBE-60FC1DD7FD8D}"/>
              </a:ext>
            </a:extLst>
          </p:cNvPr>
          <p:cNvSpPr txBox="1">
            <a:spLocks noChangeArrowheads="1"/>
          </p:cNvSpPr>
          <p:nvPr/>
        </p:nvSpPr>
        <p:spPr bwMode="auto">
          <a:xfrm>
            <a:off x="1927609" y="1263397"/>
            <a:ext cx="8490263" cy="584775"/>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Interrogaciones</a:t>
            </a:r>
            <a:endParaRPr lang="es-CL"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21BE5DC2-DAC8-1F30-8F5C-AD9CE91E984B}"/>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A10936B8-4672-5A62-59FA-98704ED79BA9}"/>
              </a:ext>
            </a:extLst>
          </p:cNvPr>
          <p:cNvSpPr>
            <a:spLocks noGrp="1"/>
          </p:cNvSpPr>
          <p:nvPr>
            <p:ph type="sldNum" sz="quarter" idx="12"/>
          </p:nvPr>
        </p:nvSpPr>
        <p:spPr/>
        <p:txBody>
          <a:bodyPr/>
          <a:lstStyle/>
          <a:p>
            <a:fld id="{006AE8E3-C79C-E14F-9140-34B0C7F543F1}" type="slidenum">
              <a:rPr lang="en-CL" smtClean="0"/>
              <a:t>23</a:t>
            </a:fld>
            <a:endParaRPr lang="en-CL"/>
          </a:p>
        </p:txBody>
      </p:sp>
    </p:spTree>
    <p:extLst>
      <p:ext uri="{BB962C8B-B14F-4D97-AF65-F5344CB8AC3E}">
        <p14:creationId xmlns:p14="http://schemas.microsoft.com/office/powerpoint/2010/main" val="205737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8F736-9CDA-1B18-D2F0-533CCBCE11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83BA5D-B9F5-07E3-F7F6-AF91E8689142}"/>
              </a:ext>
            </a:extLst>
          </p:cNvPr>
          <p:cNvSpPr txBox="1"/>
          <p:nvPr/>
        </p:nvSpPr>
        <p:spPr>
          <a:xfrm>
            <a:off x="1612134" y="1643867"/>
            <a:ext cx="9055866" cy="4524315"/>
          </a:xfrm>
          <a:prstGeom prst="rect">
            <a:avLst/>
          </a:prstGeom>
          <a:noFill/>
        </p:spPr>
        <p:txBody>
          <a:bodyPr wrap="square" rtlCol="0">
            <a:spAutoFit/>
          </a:bodyPr>
          <a:lstStyle/>
          <a:p>
            <a:pPr marL="342900" indent="-342900">
              <a:buFont typeface="Arial" panose="020B0604020202020204" pitchFamily="34" charset="0"/>
              <a:buChar char="•"/>
            </a:pPr>
            <a:r>
              <a:rPr lang="es-ES_tradnl" sz="2400" dirty="0">
                <a:latin typeface="Gill Sans MT" panose="020B0502020104020203" pitchFamily="34" charset="77"/>
              </a:rPr>
              <a:t>En la semana de exámenes, habrá un Examen Final INDIVIDUAL que entra toda la materia del curso.</a:t>
            </a:r>
          </a:p>
          <a:p>
            <a:pPr marL="342900" indent="-342900">
              <a:buFont typeface="Arial" panose="020B0604020202020204" pitchFamily="34" charset="0"/>
              <a:buChar char="•"/>
            </a:pPr>
            <a:r>
              <a:rPr lang="es-ES_tradnl" sz="2400" dirty="0">
                <a:latin typeface="Gill Sans MT" panose="020B0502020104020203" pitchFamily="34" charset="77"/>
              </a:rPr>
              <a:t>La fecha y hora están definidos por la DIPRE.</a:t>
            </a:r>
          </a:p>
          <a:p>
            <a:pPr marL="342900" indent="-342900">
              <a:buFont typeface="Arial" panose="020B0604020202020204" pitchFamily="34" charset="0"/>
              <a:buChar char="•"/>
            </a:pPr>
            <a:r>
              <a:rPr lang="es-ES_tradnl" sz="2400" dirty="0">
                <a:latin typeface="Gill Sans MT" panose="020B0502020104020203" pitchFamily="34" charset="77"/>
              </a:rPr>
              <a:t>No hay eximición.</a:t>
            </a:r>
          </a:p>
          <a:p>
            <a:pPr marL="342900" indent="-342900">
              <a:buFont typeface="Arial" panose="020B0604020202020204" pitchFamily="34" charset="0"/>
              <a:buChar char="•"/>
            </a:pPr>
            <a:r>
              <a:rPr lang="es-ES_tradnl" sz="2400" dirty="0">
                <a:solidFill>
                  <a:srgbClr val="FF0000"/>
                </a:solidFill>
                <a:latin typeface="Gill Sans MT" panose="020B0502020104020203" pitchFamily="34" charset="77"/>
              </a:rPr>
              <a:t>Si más de un 85% de los estudiantes contestan la encuesta docente final del curso,</a:t>
            </a:r>
            <a:r>
              <a:rPr lang="es-ES_tradnl" sz="2400" dirty="0">
                <a:latin typeface="Gill Sans MT" panose="020B0502020104020203" pitchFamily="34" charset="77"/>
              </a:rPr>
              <a:t> se podrá llevar un cuaderno de no más de 100 hojas con apuntes escritos a mano de la materia del curso (no se acepta impresiones, fotocopias, hojas sueltas, ni ningún tipo de reproducción, sólo un cuaderno escrito a mano).</a:t>
            </a:r>
          </a:p>
          <a:p>
            <a:pPr marL="342900" indent="-342900">
              <a:buFont typeface="Arial" panose="020B0604020202020204" pitchFamily="34" charset="0"/>
              <a:buChar char="•"/>
            </a:pPr>
            <a:r>
              <a:rPr lang="es-ES_tradnl" sz="2400" dirty="0">
                <a:latin typeface="Gill Sans MT" panose="020B0502020104020203" pitchFamily="34" charset="77"/>
              </a:rPr>
              <a:t>En el examen no se admite ningún tipo de dispositivo electrónico.</a:t>
            </a:r>
          </a:p>
          <a:p>
            <a:pPr marL="342900" indent="-342900">
              <a:buFont typeface="Arial" panose="020B0604020202020204" pitchFamily="34" charset="0"/>
              <a:buChar char="•"/>
            </a:pPr>
            <a:endParaRPr lang="es-ES_tradnl" sz="2400" dirty="0">
              <a:latin typeface="Gill Sans MT" panose="020B0502020104020203" pitchFamily="34" charset="77"/>
            </a:endParaRPr>
          </a:p>
          <a:p>
            <a:pPr marL="342900" indent="-342900">
              <a:buFont typeface="Arial" panose="020B0604020202020204" pitchFamily="34" charset="0"/>
              <a:buChar char="•"/>
            </a:pPr>
            <a:endParaRPr lang="es-ES_tradnl" sz="2400" dirty="0">
              <a:latin typeface="Gill Sans MT" panose="020B0502020104020203" pitchFamily="34" charset="77"/>
            </a:endParaRPr>
          </a:p>
        </p:txBody>
      </p:sp>
      <p:sp>
        <p:nvSpPr>
          <p:cNvPr id="3" name="Text Box 2">
            <a:extLst>
              <a:ext uri="{FF2B5EF4-FFF2-40B4-BE49-F238E27FC236}">
                <a16:creationId xmlns:a16="http://schemas.microsoft.com/office/drawing/2014/main" id="{FC3EE630-3EBE-C4AD-EA7D-4F1E0E085345}"/>
              </a:ext>
            </a:extLst>
          </p:cNvPr>
          <p:cNvSpPr txBox="1">
            <a:spLocks noChangeArrowheads="1"/>
          </p:cNvSpPr>
          <p:nvPr/>
        </p:nvSpPr>
        <p:spPr bwMode="auto">
          <a:xfrm>
            <a:off x="1971676" y="313138"/>
            <a:ext cx="8490263" cy="584775"/>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Examen Final</a:t>
            </a:r>
            <a:endParaRPr lang="es-CL" b="1" dirty="0">
              <a:solidFill>
                <a:schemeClr val="accent2"/>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A95132D5-892A-B5CA-E367-93DA5CD76646}"/>
              </a:ext>
            </a:extLst>
          </p:cNvPr>
          <p:cNvSpPr>
            <a:spLocks noGrp="1"/>
          </p:cNvSpPr>
          <p:nvPr>
            <p:ph type="dt" sz="half" idx="10"/>
          </p:nvPr>
        </p:nvSpPr>
        <p:spPr/>
        <p:txBody>
          <a:bodyPr/>
          <a:lstStyle/>
          <a:p>
            <a:r>
              <a:rPr lang="en-US"/>
              <a:t>(c) D.Mery - PR00</a:t>
            </a:r>
            <a:endParaRPr lang="en-CL"/>
          </a:p>
        </p:txBody>
      </p:sp>
      <p:sp>
        <p:nvSpPr>
          <p:cNvPr id="4" name="Slide Number Placeholder 3">
            <a:extLst>
              <a:ext uri="{FF2B5EF4-FFF2-40B4-BE49-F238E27FC236}">
                <a16:creationId xmlns:a16="http://schemas.microsoft.com/office/drawing/2014/main" id="{CBB053F0-F6C1-A879-7B62-23BB6F16E254}"/>
              </a:ext>
            </a:extLst>
          </p:cNvPr>
          <p:cNvSpPr>
            <a:spLocks noGrp="1"/>
          </p:cNvSpPr>
          <p:nvPr>
            <p:ph type="sldNum" sz="quarter" idx="12"/>
          </p:nvPr>
        </p:nvSpPr>
        <p:spPr/>
        <p:txBody>
          <a:bodyPr/>
          <a:lstStyle/>
          <a:p>
            <a:fld id="{006AE8E3-C79C-E14F-9140-34B0C7F543F1}" type="slidenum">
              <a:rPr lang="en-CL" smtClean="0"/>
              <a:t>24</a:t>
            </a:fld>
            <a:endParaRPr lang="en-CL"/>
          </a:p>
        </p:txBody>
      </p:sp>
    </p:spTree>
    <p:extLst>
      <p:ext uri="{BB962C8B-B14F-4D97-AF65-F5344CB8AC3E}">
        <p14:creationId xmlns:p14="http://schemas.microsoft.com/office/powerpoint/2010/main" val="105885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1498</TotalTime>
  <Words>1891</Words>
  <Application>Microsoft Macintosh PowerPoint</Application>
  <PresentationFormat>Widescreen</PresentationFormat>
  <Paragraphs>227</Paragraphs>
  <Slides>24</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Consolas</vt:lpstr>
      <vt:lpstr>Gill Sans MT</vt:lpstr>
      <vt:lpstr>Trebuchet MS</vt:lpstr>
      <vt:lpstr>Office Theme</vt:lpstr>
      <vt:lpstr>PowerPoint Presentation</vt:lpstr>
      <vt:lpstr>PowerPoint Presentation</vt:lpstr>
      <vt:lpstr>PowerPoint Presentation</vt:lpstr>
      <vt:lpstr>PowerPoint Presentation</vt:lpstr>
      <vt:lpstr>Contenido del Curso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Domingo Mery</dc:creator>
  <cp:lastModifiedBy>Domingo Mery</cp:lastModifiedBy>
  <cp:revision>21</cp:revision>
  <dcterms:created xsi:type="dcterms:W3CDTF">2026-03-08T16:41:49Z</dcterms:created>
  <dcterms:modified xsi:type="dcterms:W3CDTF">2026-08-04T21:40:21Z</dcterms:modified>
</cp:coreProperties>
</file>