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481" r:id="rId3"/>
    <p:sldId id="483" r:id="rId4"/>
    <p:sldId id="509" r:id="rId5"/>
    <p:sldId id="290" r:id="rId6"/>
    <p:sldId id="494" r:id="rId7"/>
    <p:sldId id="4665" r:id="rId8"/>
    <p:sldId id="496" r:id="rId9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01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9748F-0FE7-C64C-B0B9-9306A54D4824}" type="datetimeFigureOut">
              <a:rPr lang="en-CL" smtClean="0"/>
              <a:t>12-08-26</a:t>
            </a:fld>
            <a:endParaRPr lang="en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36E6B2-EC45-1147-8496-DFA2586CC8C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FD062D-3B2E-8A41-9873-26D975095FBE}" type="slidenum">
              <a:rPr lang="en-US"/>
              <a:pPr/>
              <a:t>2</a:t>
            </a:fld>
            <a:endParaRPr lang="en-US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680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A2240F7-6F1E-9F4C-9E07-A7340A9556CF}" type="slidenum">
              <a:rPr lang="en-US"/>
              <a:pPr/>
              <a:t>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754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A2240F7-6F1E-9F4C-9E07-A7340A9556CF}" type="slidenum">
              <a:rPr lang="en-US"/>
              <a:pPr/>
              <a:t>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99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9AE7BC3-F9F8-6E4C-ADBA-62FC91F8CFD3}" type="slidenum">
              <a:rPr lang="en-US"/>
              <a:pPr/>
              <a:t>6</a:t>
            </a:fld>
            <a:endParaRPr lang="en-US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93443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66C18-F249-8C35-980B-28CE85EB8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>
            <a:extLst>
              <a:ext uri="{FF2B5EF4-FFF2-40B4-BE49-F238E27FC236}">
                <a16:creationId xmlns:a16="http://schemas.microsoft.com/office/drawing/2014/main" id="{0682013C-746B-AB7B-3FBD-4577917368A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6AB4ACC-898F-094F-890C-FD5BBBEB5189}" type="slidenum">
              <a:rPr lang="en-US"/>
              <a:pPr/>
              <a:t>7</a:t>
            </a:fld>
            <a:endParaRPr lang="en-US"/>
          </a:p>
        </p:txBody>
      </p:sp>
      <p:sp>
        <p:nvSpPr>
          <p:cNvPr id="45059" name="Rectangle 2">
            <a:extLst>
              <a:ext uri="{FF2B5EF4-FFF2-40B4-BE49-F238E27FC236}">
                <a16:creationId xmlns:a16="http://schemas.microsoft.com/office/drawing/2014/main" id="{C3A4F909-6D52-0193-12CB-453CD064ECC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>
            <a:extLst>
              <a:ext uri="{FF2B5EF4-FFF2-40B4-BE49-F238E27FC236}">
                <a16:creationId xmlns:a16="http://schemas.microsoft.com/office/drawing/2014/main" id="{76E72522-155B-1456-307D-A6F2A339A9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0647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E623B0D-C2BC-E742-94BB-E3F3E8EB397C}" type="slidenum">
              <a:rPr lang="en-US"/>
              <a:pPr/>
              <a:t>8</a:t>
            </a:fld>
            <a:endParaRPr lang="en-US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14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554183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Presentación del Curso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0 – PR00)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close-up of a document&#10;&#10;AI-generated content may be incorrect.">
            <a:extLst>
              <a:ext uri="{FF2B5EF4-FFF2-40B4-BE49-F238E27FC236}">
                <a16:creationId xmlns:a16="http://schemas.microsoft.com/office/drawing/2014/main" id="{53D4AA79-91DC-DD9F-9FD4-D031B7355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4845">
            <a:off x="7347329" y="2364783"/>
            <a:ext cx="2959782" cy="3973283"/>
          </a:xfrm>
          <a:prstGeom prst="rect">
            <a:avLst/>
          </a:prstGeom>
          <a:solidFill>
            <a:srgbClr val="FFFFFF">
              <a:shade val="85000"/>
            </a:srgbClr>
          </a:solidFill>
          <a:ln w="101600" cap="sq">
            <a:solidFill>
              <a:srgbClr val="FDFDFD"/>
            </a:solidFill>
            <a:miter lim="800000"/>
          </a:ln>
          <a:effectLst>
            <a:outerShdw blurRad="57150" dist="37500" dir="7560000" sy="98000" kx="110000" ky="200000" algn="tl" rotWithShape="0">
              <a:srgbClr val="000000">
                <a:alpha val="20000"/>
              </a:srgbClr>
            </a:outerShdw>
          </a:effectLst>
          <a:scene3d>
            <a:camera prst="perspectiveRelaxed">
              <a:rot lat="18960000" lon="0" rev="0"/>
            </a:camera>
            <a:lightRig rig="twoPt" dir="t">
              <a:rot lat="0" lon="0" rev="7200000"/>
            </a:lightRig>
          </a:scene3d>
          <a:sp3d prstMaterial="matte">
            <a:bevelT w="22860" h="12700"/>
            <a:contourClr>
              <a:srgbClr val="FFFFFF"/>
            </a:contourClr>
          </a:sp3d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5DAE6-1265-4A2F-F814-3F201FD3F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A675C-B538-E38C-6BA5-0361461F7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1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2"/>
          <p:cNvSpPr txBox="1">
            <a:spLocks noChangeArrowheads="1"/>
          </p:cNvSpPr>
          <p:nvPr/>
        </p:nvSpPr>
        <p:spPr bwMode="auto">
          <a:xfrm>
            <a:off x="1039905" y="733246"/>
            <a:ext cx="9466730" cy="6124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r>
              <a:rPr lang="es-ES" sz="28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Descripción</a:t>
            </a:r>
          </a:p>
          <a:p>
            <a:endParaRPr lang="es-ES" sz="28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endParaRPr lang="es-ES" sz="28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just"/>
            <a:r>
              <a:rPr lang="es-E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Gill Sans MT" panose="020B0502020104020203" pitchFamily="34" charset="77"/>
              </a:rPr>
              <a:t>El reconocimiento, la descripción, la clasificación y la agrupación de patrones de forma automática, son problemas importantes en una gran variedad de aplicaciones de ingeniería, psicología, medicina, economía, biologías, etc. El problema consiste en asignar automáticamente a una clase una muestra según las mediciones realizadas sobre la muestra. En el curso se estudiará la teoría necesaria para resolver este problema, y se aplicará la teoría en ejemplos prácticos tales como detección automática de tumores, reconocimiento de caracteres, detección de defectos, etc.</a:t>
            </a:r>
          </a:p>
          <a:p>
            <a:endParaRPr lang="es-ES" sz="28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F5FE8045-116E-29F6-1915-A75934AD1D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9905" y="733245"/>
            <a:ext cx="9466730" cy="6124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r>
              <a:rPr lang="es-ES" sz="28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Descripción</a:t>
            </a:r>
          </a:p>
          <a:p>
            <a:endParaRPr lang="es-ES" sz="28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endParaRPr lang="es-ES" sz="28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algn="just"/>
            <a:r>
              <a:rPr lang="es-E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Gill Sans MT" panose="020B0502020104020203" pitchFamily="34" charset="77"/>
              </a:rPr>
              <a:t>El reconocimiento, la descripción, la clasificación y la agrupación de patrones de forma automática, son problemas importantes en una gran variedad de aplicaciones de ingeniería, psicología, medicina, economía, biologías, etc. </a:t>
            </a:r>
            <a:r>
              <a:rPr lang="es-ES" sz="2800" dirty="0">
                <a:solidFill>
                  <a:schemeClr val="accent2"/>
                </a:solidFill>
                <a:latin typeface="Gill Sans MT" panose="020B0502020104020203" pitchFamily="34" charset="77"/>
              </a:rPr>
              <a:t>El problema consiste en asignar automáticamente a una clase una muestra según las mediciones realizadas sobre la muestra.</a:t>
            </a:r>
            <a:r>
              <a:rPr lang="es-ES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Gill Sans MT" panose="020B0502020104020203" pitchFamily="34" charset="77"/>
              </a:rPr>
              <a:t> En el curso se estudiará la teoría necesaria para resolver este problema, y se aplicará la teoría en ejemplos prácticos tales como detección automática de tumores, reconocimiento de caracteres, detección de defectos, etc.</a:t>
            </a:r>
          </a:p>
          <a:p>
            <a:endParaRPr lang="es-ES" sz="2800" dirty="0">
              <a:solidFill>
                <a:schemeClr val="tx1">
                  <a:lumMod val="95000"/>
                  <a:lumOff val="5000"/>
                </a:schemeClr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019BE4-CDC9-5A3F-C9A9-0239289B6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0F0C1-CDAC-C998-B0D0-993739337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2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434353" y="1644376"/>
            <a:ext cx="9825318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Analizar las nociones básicas de extracción de características, selección de características, clasificación y evaluación de desempeño.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Aplicar técnicas basadas en procesamiento de imágenes para la extracción de características geométricas y cromáticas en problemas donde el reconocimiento de patrones se realice a  partir de información visual.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Diseñar y evaluar características a ser extraídas donde la reconocimiento de patrones se realiza a partir de información visual u otro tipo de información.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Evaluar algoritmos eficientes para seleccionar características: Análisis de componentes principales, discriminante de Fisher, búsqueda exhaustiva, búsqueda secuencial, Branch&amp;Bound, entre otros.</a:t>
            </a:r>
          </a:p>
        </p:txBody>
      </p:sp>
      <p:sp>
        <p:nvSpPr>
          <p:cNvPr id="8195" name="Text Box 4"/>
          <p:cNvSpPr txBox="1">
            <a:spLocks noChangeArrowheads="1"/>
          </p:cNvSpPr>
          <p:nvPr/>
        </p:nvSpPr>
        <p:spPr bwMode="auto">
          <a:xfrm>
            <a:off x="1974851" y="656579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32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Objetivos (1/2) </a:t>
            </a:r>
            <a:endParaRPr lang="es-ES" sz="32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8FE1D6-27FA-2843-7BE5-4894D716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5A7CDC-A94D-6F75-8916-CBC1E1ABE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3</a:t>
            </a:fld>
            <a:endParaRPr lang="en-C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>
            <a:extLst>
              <a:ext uri="{FF2B5EF4-FFF2-40B4-BE49-F238E27FC236}">
                <a16:creationId xmlns:a16="http://schemas.microsoft.com/office/drawing/2014/main" id="{85076E2F-253B-584B-B667-EA70417671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851" y="656579"/>
            <a:ext cx="3198311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s-CL" sz="32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Objetivos (2/2) </a:t>
            </a:r>
            <a:endParaRPr lang="es-ES" sz="32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4FFF040D-EC83-461A-4B72-05A00C68B5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4353" y="2170846"/>
            <a:ext cx="9825318" cy="3354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 startAt="5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Diseñar clasificadores capaces de resolver problemas reales basados en las técnicas de clasificador lineal, árbol binario de decisión, vecino más cercano, Mahalanobis, Bayes, SVM, redes neuronales entre otros.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 startAt="5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Aplicar técnicas para establecer y comparar el desempeño de los clasificadores: Validación cruzada, bootstrap, e intervalos de confianza basados en distribuciones estadísticas.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spcAft>
                <a:spcPts val="1200"/>
              </a:spcAft>
              <a:buFont typeface="+mj-lt"/>
              <a:buAutoNum type="arabicPeriod" startAt="5"/>
            </a:pPr>
            <a:r>
              <a:rPr lang="es-CL" sz="2400" dirty="0">
                <a:latin typeface="Gill Sans MT" panose="020B0502020104020203" pitchFamily="34" charset="77"/>
                <a:cs typeface="Trebuchet MS"/>
              </a:rPr>
              <a:t>Diseñar un sistema automático de reconocimiento de patrones capaz de resolver un problema real.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1068B5-1CE4-AE3D-BC62-E93161373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3B761C-1BE8-5E12-4F6A-5F39E00A2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4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4145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990F0-D433-C30E-8E68-E33A081F6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CL" dirty="0">
                <a:solidFill>
                  <a:schemeClr val="accent2"/>
                </a:solidFill>
                <a:latin typeface="Gill Sans MT" panose="020B0502020104020203" pitchFamily="34" charset="77"/>
              </a:rPr>
              <a:t>Contenido del Curso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946F9478-8DCF-4D56-A88A-DF3EE4117EB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15345" y="1881051"/>
          <a:ext cx="10277617" cy="4414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754630">
                  <a:extLst>
                    <a:ext uri="{9D8B030D-6E8A-4147-A177-3AD203B41FA5}">
                      <a16:colId xmlns:a16="http://schemas.microsoft.com/office/drawing/2014/main" val="2421783922"/>
                    </a:ext>
                  </a:extLst>
                </a:gridCol>
                <a:gridCol w="9522987">
                  <a:extLst>
                    <a:ext uri="{9D8B030D-6E8A-4147-A177-3AD203B41FA5}">
                      <a16:colId xmlns:a16="http://schemas.microsoft.com/office/drawing/2014/main" val="3367667918"/>
                    </a:ext>
                  </a:extLst>
                </a:gridCol>
              </a:tblGrid>
              <a:tr h="882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L" sz="3100" b="1" cap="none" spc="0">
                          <a:solidFill>
                            <a:schemeClr val="accent1"/>
                          </a:solidFill>
                          <a:effectLst/>
                          <a:latin typeface="Gill Sans MT" panose="020B0502020104020203" pitchFamily="34" charset="77"/>
                        </a:rPr>
                        <a:t>1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0" cap="none" spc="0">
                          <a:solidFill>
                            <a:schemeClr val="tx1"/>
                          </a:solidFill>
                          <a:latin typeface="Gill Sans MT" panose="020B0502020104020203" pitchFamily="34" charset="77"/>
                        </a:rPr>
                        <a:t>INTRODUCCIÓN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1711322"/>
                  </a:ext>
                </a:extLst>
              </a:tr>
              <a:tr h="882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L" sz="3100" b="1" cap="none" spc="0">
                          <a:solidFill>
                            <a:schemeClr val="accent1"/>
                          </a:solidFill>
                          <a:effectLst/>
                          <a:latin typeface="Gill Sans MT" panose="020B0502020104020203" pitchFamily="34" charset="77"/>
                        </a:rPr>
                        <a:t>2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0" cap="none" spc="0">
                          <a:solidFill>
                            <a:schemeClr val="tx1"/>
                          </a:solidFill>
                          <a:latin typeface="Gill Sans MT" panose="020B0502020104020203" pitchFamily="34" charset="77"/>
                        </a:rPr>
                        <a:t>EXTRACCIÓN</a:t>
                      </a:r>
                      <a:r>
                        <a:rPr lang="en-US" sz="2400" b="0" cap="none" spc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Gill Sans MT" panose="020B0502020104020203" pitchFamily="34" charset="77"/>
                        </a:rPr>
                        <a:t> </a:t>
                      </a:r>
                      <a:r>
                        <a:rPr lang="en-US" sz="2400" b="0" cap="none" spc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ill Sans MT" panose="020B0502020104020203" pitchFamily="34" charset="77"/>
                        </a:rPr>
                        <a:t>(DE CARACTERÍSTICAS)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9911"/>
                  </a:ext>
                </a:extLst>
              </a:tr>
              <a:tr h="882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L" sz="3100" b="1" cap="none" spc="0">
                          <a:solidFill>
                            <a:schemeClr val="accent1"/>
                          </a:solidFill>
                          <a:effectLst/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0" cap="none" spc="0">
                          <a:solidFill>
                            <a:schemeClr val="tx1"/>
                          </a:solidFill>
                          <a:latin typeface="Gill Sans MT" panose="020B0502020104020203" pitchFamily="34" charset="77"/>
                        </a:rPr>
                        <a:t>SELECCIÓN</a:t>
                      </a:r>
                      <a:r>
                        <a:rPr lang="en-US" sz="2400" b="0" cap="none" spc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Gill Sans MT" panose="020B0502020104020203" pitchFamily="34" charset="77"/>
                        </a:rPr>
                        <a:t> (DE CARACTERÍSTICAS)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5478"/>
                  </a:ext>
                </a:extLst>
              </a:tr>
              <a:tr h="882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L" sz="3100" b="1" cap="none" spc="0">
                          <a:solidFill>
                            <a:schemeClr val="accent1"/>
                          </a:solidFill>
                          <a:effectLst/>
                          <a:latin typeface="Gill Sans MT" panose="020B0502020104020203" pitchFamily="34" charset="77"/>
                        </a:rPr>
                        <a:t>4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0" cap="none" spc="0">
                          <a:solidFill>
                            <a:schemeClr val="tx1"/>
                          </a:solidFill>
                          <a:latin typeface="Gill Sans MT" panose="020B0502020104020203" pitchFamily="34" charset="77"/>
                        </a:rPr>
                        <a:t>CLASIFICACIÓN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1392496"/>
                  </a:ext>
                </a:extLst>
              </a:tr>
              <a:tr h="8828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CL" sz="3100" b="1" cap="none" spc="0">
                          <a:solidFill>
                            <a:schemeClr val="accent1"/>
                          </a:solidFill>
                          <a:effectLst/>
                          <a:latin typeface="Gill Sans MT" panose="020B0502020104020203" pitchFamily="34" charset="77"/>
                        </a:rPr>
                        <a:t>5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400" b="0" cap="none" spc="0" dirty="0">
                          <a:solidFill>
                            <a:schemeClr val="tx1"/>
                          </a:solidFill>
                          <a:latin typeface="Gill Sans MT" panose="020B0502020104020203" pitchFamily="34" charset="77"/>
                        </a:rPr>
                        <a:t>EVALUACIÓN</a:t>
                      </a:r>
                    </a:p>
                  </a:txBody>
                  <a:tcPr marL="131554" marR="131554" marT="131554" marB="1315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408495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179903-7BEA-7880-2FB2-959061EE4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550FD-050A-CEC4-6BBC-33696C395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5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55885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971676" y="1903414"/>
            <a:ext cx="7966075" cy="3016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prstTxWarp prst="textNoShape">
              <a:avLst/>
            </a:prstTxWarp>
            <a:spAutoFit/>
          </a:bodyPr>
          <a:lstStyle/>
          <a:p>
            <a:r>
              <a:rPr lang="es-ES" sz="32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Metodología</a:t>
            </a:r>
          </a:p>
          <a:p>
            <a:endParaRPr lang="es-ES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r>
              <a:rPr lang="es-CL" sz="2800" dirty="0">
                <a:latin typeface="Gill Sans MT" panose="020B0502020104020203" pitchFamily="34" charset="77"/>
              </a:rPr>
              <a:t>El curso contempla clases expositivas teóricas, trabajo en clase, ejercicios en grupo y tareas individuales de programación en computador. Se realizan 2 Interrogaciones durante el semestre. El curso termina con un examen final. </a:t>
            </a:r>
            <a:endParaRPr lang="es-ES" sz="28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E98903-23E8-4521-4D34-C438BA71C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3E80DA-AD51-5FB0-574C-19CF29DD0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6</a:t>
            </a:fld>
            <a:endParaRPr lang="en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6DDF7-7B6E-31FD-E0DA-5131BD16B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606721-D801-2BCC-B786-988934EA77C2}"/>
              </a:ext>
            </a:extLst>
          </p:cNvPr>
          <p:cNvSpPr txBox="1"/>
          <p:nvPr/>
        </p:nvSpPr>
        <p:spPr>
          <a:xfrm>
            <a:off x="1346264" y="2274838"/>
            <a:ext cx="1018390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Fechas Importantes:</a:t>
            </a:r>
            <a:endParaRPr lang="en-CL" sz="24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r>
              <a:rPr lang="es-ES" sz="2400" dirty="0">
                <a:latin typeface="Gill Sans MT" panose="020B0502020104020203" pitchFamily="34" charset="77"/>
              </a:rPr>
              <a:t> </a:t>
            </a:r>
            <a:endParaRPr lang="en-CL" sz="24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latin typeface="Gill Sans MT" panose="020B0502020104020203" pitchFamily="34" charset="77"/>
              </a:rPr>
              <a:t>Primera Interrogación: 		Mar. 22/09/26 17:30 – 19:30 </a:t>
            </a:r>
            <a:r>
              <a:rPr lang="es-ES_tradnl" sz="2400" dirty="0" err="1">
                <a:latin typeface="Gill Sans MT" panose="020B0502020104020203" pitchFamily="34" charset="77"/>
              </a:rPr>
              <a:t>hrs</a:t>
            </a:r>
            <a:r>
              <a:rPr lang="es-ES_tradnl" sz="2400" dirty="0">
                <a:latin typeface="Gill Sans MT" panose="020B0502020104020203" pitchFamily="34" charset="77"/>
              </a:rPr>
              <a:t>.</a:t>
            </a:r>
            <a:endParaRPr lang="en-CL" sz="2400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r>
              <a:rPr lang="es-ES_tradnl" sz="2400" dirty="0">
                <a:latin typeface="Gill Sans MT" panose="020B0502020104020203" pitchFamily="34" charset="77"/>
              </a:rPr>
              <a:t>Segunda Interrogación: 		Vie. 06/11/26 17:30 – 19:30 </a:t>
            </a:r>
            <a:r>
              <a:rPr lang="es-ES_tradnl" sz="2400" dirty="0" err="1">
                <a:latin typeface="Gill Sans MT" panose="020B0502020104020203" pitchFamily="34" charset="77"/>
              </a:rPr>
              <a:t>hrs</a:t>
            </a:r>
            <a:r>
              <a:rPr lang="es-ES_tradnl" sz="2400" dirty="0">
                <a:latin typeface="Gill Sans MT" panose="020B0502020104020203" pitchFamily="34" charset="77"/>
              </a:rPr>
              <a:t>.</a:t>
            </a:r>
            <a:endParaRPr lang="en-CL" sz="2400" dirty="0">
              <a:latin typeface="Gill Sans MT" panose="020B0502020104020203" pitchFamily="34" charset="77"/>
            </a:endParaRPr>
          </a:p>
          <a:p>
            <a:r>
              <a:rPr lang="en-US" sz="2400" dirty="0">
                <a:latin typeface="Gill Sans MT" panose="020B0502020104020203" pitchFamily="34" charset="77"/>
              </a:rPr>
              <a:t>Examen Final:				Jue. 03/12/26	9:00 – 12:00 </a:t>
            </a:r>
            <a:r>
              <a:rPr lang="en-US" sz="2400" dirty="0" err="1">
                <a:latin typeface="Gill Sans MT" panose="020B0502020104020203" pitchFamily="34" charset="77"/>
              </a:rPr>
              <a:t>hrs</a:t>
            </a:r>
            <a:endParaRPr lang="en-CL" sz="2400" dirty="0">
              <a:latin typeface="Gill Sans MT" panose="020B0502020104020203" pitchFamily="34" charset="77"/>
            </a:endParaRPr>
          </a:p>
          <a:p>
            <a:endParaRPr lang="en-CL" sz="2400" dirty="0">
              <a:latin typeface="Gill Sans MT" panose="020B0502020104020203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7C4660-465E-E5D4-A430-D6205D5DC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AF5DF-AD0D-BCA8-06D4-0C76CCA3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7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14524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2"/>
          <p:cNvSpPr txBox="1">
            <a:spLocks noChangeArrowheads="1"/>
          </p:cNvSpPr>
          <p:nvPr/>
        </p:nvSpPr>
        <p:spPr bwMode="auto">
          <a:xfrm>
            <a:off x="277906" y="735039"/>
            <a:ext cx="11636188" cy="6432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r>
              <a:rPr lang="es-ES" sz="2800" b="1" dirty="0">
                <a:solidFill>
                  <a:schemeClr val="accent2"/>
                </a:solidFill>
                <a:latin typeface="Gill Sans MT" panose="020B0502020104020203" pitchFamily="34" charset="77"/>
              </a:rPr>
              <a:t>Bibliografía</a:t>
            </a:r>
          </a:p>
          <a:p>
            <a:endParaRPr lang="es-ES" sz="2400" b="1" dirty="0">
              <a:solidFill>
                <a:schemeClr val="accent2"/>
              </a:solidFill>
              <a:latin typeface="Gill Sans MT" panose="020B0502020104020203" pitchFamily="34" charset="77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Gill Sans MT" panose="020B0502020104020203" pitchFamily="34" charset="77"/>
              </a:rPr>
              <a:t>Bishop</a:t>
            </a:r>
            <a:r>
              <a:rPr lang="es-ES" sz="2000" dirty="0">
                <a:latin typeface="Gill Sans MT" panose="020B0502020104020203" pitchFamily="34" charset="77"/>
              </a:rPr>
              <a:t>, C.,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Recognition</a:t>
            </a:r>
            <a:r>
              <a:rPr lang="es-ES" sz="2000" dirty="0">
                <a:latin typeface="Gill Sans MT" panose="020B0502020104020203" pitchFamily="34" charset="77"/>
              </a:rPr>
              <a:t> and machine </a:t>
            </a:r>
            <a:r>
              <a:rPr lang="es-ES" sz="2000" dirty="0" err="1">
                <a:latin typeface="Gill Sans MT" panose="020B0502020104020203" pitchFamily="34" charset="77"/>
              </a:rPr>
              <a:t>Learning</a:t>
            </a:r>
            <a:r>
              <a:rPr lang="es-ES" sz="2000" dirty="0">
                <a:latin typeface="Gill Sans MT" panose="020B0502020104020203" pitchFamily="34" charset="77"/>
              </a:rPr>
              <a:t>, Springer, 2006.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Gill Sans MT" panose="020B0502020104020203" pitchFamily="34" charset="77"/>
              </a:rPr>
              <a:t>Bishop</a:t>
            </a:r>
            <a:r>
              <a:rPr lang="es-ES" sz="2000" dirty="0">
                <a:latin typeface="Gill Sans MT" panose="020B0502020104020203" pitchFamily="34" charset="77"/>
              </a:rPr>
              <a:t>, C., Neural Network </a:t>
            </a:r>
            <a:r>
              <a:rPr lang="es-ES" sz="2000" dirty="0" err="1">
                <a:latin typeface="Gill Sans MT" panose="020B0502020104020203" pitchFamily="34" charset="77"/>
              </a:rPr>
              <a:t>for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Recognition</a:t>
            </a:r>
            <a:r>
              <a:rPr lang="es-ES" sz="2000" dirty="0">
                <a:latin typeface="Gill Sans MT" panose="020B0502020104020203" pitchFamily="34" charset="77"/>
              </a:rPr>
              <a:t>, New York, Oxford </a:t>
            </a:r>
            <a:r>
              <a:rPr lang="es-ES" sz="2000" dirty="0" err="1">
                <a:latin typeface="Gill Sans MT" panose="020B0502020104020203" pitchFamily="34" charset="77"/>
              </a:rPr>
              <a:t>University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Press</a:t>
            </a:r>
            <a:r>
              <a:rPr lang="es-ES" sz="2000" dirty="0">
                <a:latin typeface="Gill Sans MT" panose="020B0502020104020203" pitchFamily="34" charset="77"/>
              </a:rPr>
              <a:t> Inc., </a:t>
            </a:r>
            <a:r>
              <a:rPr lang="es-ES" sz="2000" dirty="0" err="1">
                <a:latin typeface="Gill Sans MT" panose="020B0502020104020203" pitchFamily="34" charset="77"/>
              </a:rPr>
              <a:t>Reprinted</a:t>
            </a:r>
            <a:r>
              <a:rPr lang="es-ES" sz="2000" dirty="0">
                <a:latin typeface="Gill Sans MT" panose="020B0502020104020203" pitchFamily="34" charset="77"/>
              </a:rPr>
              <a:t>, 2005.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da Fontoura, L.; </a:t>
            </a:r>
            <a:r>
              <a:rPr lang="es-ES" sz="2000" dirty="0" err="1">
                <a:latin typeface="Gill Sans MT" panose="020B0502020104020203" pitchFamily="34" charset="77"/>
              </a:rPr>
              <a:t>Marcondes</a:t>
            </a:r>
            <a:r>
              <a:rPr lang="es-ES" sz="2000" dirty="0">
                <a:latin typeface="Gill Sans MT" panose="020B0502020104020203" pitchFamily="34" charset="77"/>
              </a:rPr>
              <a:t>, R., </a:t>
            </a:r>
            <a:r>
              <a:rPr lang="es-ES" sz="2000" dirty="0" err="1">
                <a:latin typeface="Gill Sans MT" panose="020B0502020104020203" pitchFamily="34" charset="77"/>
              </a:rPr>
              <a:t>Shape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Analysis</a:t>
            </a:r>
            <a:r>
              <a:rPr lang="es-ES" sz="2000" dirty="0">
                <a:latin typeface="Gill Sans MT" panose="020B0502020104020203" pitchFamily="34" charset="77"/>
              </a:rPr>
              <a:t> and </a:t>
            </a:r>
            <a:r>
              <a:rPr lang="es-ES" sz="2000" dirty="0" err="1">
                <a:latin typeface="Gill Sans MT" panose="020B0502020104020203" pitchFamily="34" charset="77"/>
              </a:rPr>
              <a:t>Classification</a:t>
            </a:r>
            <a:r>
              <a:rPr lang="es-ES" sz="2000" dirty="0">
                <a:latin typeface="Gill Sans MT" panose="020B0502020104020203" pitchFamily="34" charset="77"/>
              </a:rPr>
              <a:t>, Boca </a:t>
            </a:r>
            <a:r>
              <a:rPr lang="es-ES" sz="2000" dirty="0" err="1">
                <a:latin typeface="Gill Sans MT" panose="020B0502020104020203" pitchFamily="34" charset="77"/>
              </a:rPr>
              <a:t>Raton</a:t>
            </a:r>
            <a:r>
              <a:rPr lang="es-ES" sz="2000" dirty="0">
                <a:latin typeface="Gill Sans MT" panose="020B0502020104020203" pitchFamily="34" charset="77"/>
              </a:rPr>
              <a:t>, CRC </a:t>
            </a:r>
            <a:r>
              <a:rPr lang="es-ES" sz="2000" dirty="0" err="1">
                <a:latin typeface="Gill Sans MT" panose="020B0502020104020203" pitchFamily="34" charset="77"/>
              </a:rPr>
              <a:t>Press</a:t>
            </a:r>
            <a:r>
              <a:rPr lang="es-ES" sz="2000" dirty="0">
                <a:latin typeface="Gill Sans MT" panose="020B0502020104020203" pitchFamily="34" charset="77"/>
              </a:rPr>
              <a:t>, 2001.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Duda, R.; Hart, P.; </a:t>
            </a:r>
            <a:r>
              <a:rPr lang="es-ES" sz="2000" dirty="0" err="1">
                <a:latin typeface="Gill Sans MT" panose="020B0502020104020203" pitchFamily="34" charset="77"/>
              </a:rPr>
              <a:t>Stork</a:t>
            </a:r>
            <a:r>
              <a:rPr lang="es-ES" sz="2000" dirty="0">
                <a:latin typeface="Gill Sans MT" panose="020B0502020104020203" pitchFamily="34" charset="77"/>
              </a:rPr>
              <a:t>, D.,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Classification</a:t>
            </a:r>
            <a:r>
              <a:rPr lang="es-ES" sz="2000" dirty="0">
                <a:latin typeface="Gill Sans MT" panose="020B0502020104020203" pitchFamily="34" charset="77"/>
              </a:rPr>
              <a:t>, New York, John Wiley &amp; </a:t>
            </a:r>
            <a:r>
              <a:rPr lang="es-ES" sz="2000" dirty="0" err="1">
                <a:latin typeface="Gill Sans MT" panose="020B0502020104020203" pitchFamily="34" charset="77"/>
              </a:rPr>
              <a:t>Sons</a:t>
            </a:r>
            <a:r>
              <a:rPr lang="es-ES" sz="2000" dirty="0">
                <a:latin typeface="Gill Sans MT" panose="020B0502020104020203" pitchFamily="34" charset="77"/>
              </a:rPr>
              <a:t>, Inc., 2001.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Hastie, T.; </a:t>
            </a:r>
            <a:r>
              <a:rPr lang="es-ES" sz="2000" dirty="0" err="1">
                <a:latin typeface="Gill Sans MT" panose="020B0502020104020203" pitchFamily="34" charset="77"/>
              </a:rPr>
              <a:t>Tibshirani</a:t>
            </a:r>
            <a:r>
              <a:rPr lang="es-ES" sz="2000" dirty="0">
                <a:latin typeface="Gill Sans MT" panose="020B0502020104020203" pitchFamily="34" charset="77"/>
              </a:rPr>
              <a:t>, R.; Friedman, J., </a:t>
            </a:r>
            <a:r>
              <a:rPr lang="es-ES" sz="2000" dirty="0" err="1">
                <a:latin typeface="Gill Sans MT" panose="020B0502020104020203" pitchFamily="34" charset="77"/>
              </a:rPr>
              <a:t>The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Elements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of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Statistical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Learning</a:t>
            </a:r>
            <a:r>
              <a:rPr lang="es-ES" sz="2000" dirty="0">
                <a:latin typeface="Gill Sans MT" panose="020B0502020104020203" pitchFamily="34" charset="77"/>
              </a:rPr>
              <a:t>, Springer, 2001.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Gill Sans MT" panose="020B0502020104020203" pitchFamily="34" charset="77"/>
              </a:rPr>
              <a:t>Marsland</a:t>
            </a:r>
            <a:r>
              <a:rPr lang="es-ES" sz="2000" dirty="0">
                <a:latin typeface="Gill Sans MT" panose="020B0502020104020203" pitchFamily="34" charset="77"/>
              </a:rPr>
              <a:t>, S., Machine </a:t>
            </a:r>
            <a:r>
              <a:rPr lang="es-ES" sz="2000" dirty="0" err="1">
                <a:latin typeface="Gill Sans MT" panose="020B0502020104020203" pitchFamily="34" charset="77"/>
              </a:rPr>
              <a:t>Learning</a:t>
            </a:r>
            <a:r>
              <a:rPr lang="es-ES" sz="2000" dirty="0">
                <a:latin typeface="Gill Sans MT" panose="020B0502020104020203" pitchFamily="34" charset="77"/>
              </a:rPr>
              <a:t>: </a:t>
            </a:r>
            <a:r>
              <a:rPr lang="es-ES" sz="2000" dirty="0" err="1">
                <a:latin typeface="Gill Sans MT" panose="020B0502020104020203" pitchFamily="34" charset="77"/>
              </a:rPr>
              <a:t>An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algorithmic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Perspective</a:t>
            </a:r>
            <a:r>
              <a:rPr lang="es-ES" sz="2000" dirty="0">
                <a:latin typeface="Gill Sans MT" panose="020B0502020104020203" pitchFamily="34" charset="77"/>
              </a:rPr>
              <a:t>, CRC </a:t>
            </a:r>
            <a:r>
              <a:rPr lang="es-ES" sz="2000" dirty="0" err="1">
                <a:latin typeface="Gill Sans MT" panose="020B0502020104020203" pitchFamily="34" charset="77"/>
              </a:rPr>
              <a:t>Press</a:t>
            </a:r>
            <a:r>
              <a:rPr lang="es-ES" sz="2000" dirty="0">
                <a:latin typeface="Gill Sans MT" panose="020B0502020104020203" pitchFamily="34" charset="77"/>
              </a:rPr>
              <a:t>, 2009.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Mery, D.; </a:t>
            </a:r>
            <a:r>
              <a:rPr lang="es-ES" sz="2000" dirty="0" err="1">
                <a:latin typeface="Gill Sans MT" panose="020B0502020104020203" pitchFamily="34" charset="77"/>
              </a:rPr>
              <a:t>Pieringer</a:t>
            </a:r>
            <a:r>
              <a:rPr lang="es-ES" sz="2000" dirty="0">
                <a:latin typeface="Gill Sans MT" panose="020B0502020104020203" pitchFamily="34" charset="77"/>
              </a:rPr>
              <a:t>, C., </a:t>
            </a:r>
            <a:r>
              <a:rPr lang="es-ES" sz="2000" dirty="0" err="1">
                <a:latin typeface="Gill Sans MT" panose="020B0502020104020203" pitchFamily="34" charset="77"/>
              </a:rPr>
              <a:t>Computer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Vision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for</a:t>
            </a:r>
            <a:r>
              <a:rPr lang="es-ES" sz="2000" dirty="0">
                <a:latin typeface="Gill Sans MT" panose="020B0502020104020203" pitchFamily="34" charset="77"/>
              </a:rPr>
              <a:t> X-</a:t>
            </a:r>
            <a:r>
              <a:rPr lang="es-ES" sz="2000" dirty="0" err="1">
                <a:latin typeface="Gill Sans MT" panose="020B0502020104020203" pitchFamily="34" charset="77"/>
              </a:rPr>
              <a:t>ray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Testing</a:t>
            </a:r>
            <a:r>
              <a:rPr lang="es-ES" sz="2000" dirty="0">
                <a:latin typeface="Gill Sans MT" panose="020B0502020104020203" pitchFamily="34" charset="77"/>
              </a:rPr>
              <a:t>, Springer, 2021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Nixon, M.; Aguado, A., </a:t>
            </a:r>
            <a:r>
              <a:rPr lang="es-ES" sz="2000" dirty="0" err="1">
                <a:latin typeface="Gill Sans MT" panose="020B0502020104020203" pitchFamily="34" charset="77"/>
              </a:rPr>
              <a:t>Feature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Extraction</a:t>
            </a:r>
            <a:r>
              <a:rPr lang="es-ES" sz="2000" dirty="0">
                <a:latin typeface="Gill Sans MT" panose="020B0502020104020203" pitchFamily="34" charset="77"/>
              </a:rPr>
              <a:t> &amp; </a:t>
            </a:r>
            <a:r>
              <a:rPr lang="es-ES" sz="2000" dirty="0" err="1">
                <a:latin typeface="Gill Sans MT" panose="020B0502020104020203" pitchFamily="34" charset="77"/>
              </a:rPr>
              <a:t>Image</a:t>
            </a:r>
            <a:r>
              <a:rPr lang="es-ES" sz="2000" dirty="0">
                <a:latin typeface="Gill Sans MT" panose="020B0502020104020203" pitchFamily="34" charset="77"/>
              </a:rPr>
              <a:t> Processing, </a:t>
            </a:r>
            <a:r>
              <a:rPr lang="es-ES" sz="2000" dirty="0" err="1">
                <a:latin typeface="Gill Sans MT" panose="020B0502020104020203" pitchFamily="34" charset="77"/>
              </a:rPr>
              <a:t>Amsterdam</a:t>
            </a:r>
            <a:r>
              <a:rPr lang="es-ES" sz="2000" dirty="0">
                <a:latin typeface="Gill Sans MT" panose="020B0502020104020203" pitchFamily="34" charset="77"/>
              </a:rPr>
              <a:t>, Elsevier, 2004.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>
                <a:latin typeface="Gill Sans MT" panose="020B0502020104020203" pitchFamily="34" charset="77"/>
              </a:rPr>
              <a:t>Webb</a:t>
            </a:r>
            <a:r>
              <a:rPr lang="es-ES" sz="2000" dirty="0">
                <a:latin typeface="Gill Sans MT" panose="020B0502020104020203" pitchFamily="34" charset="77"/>
              </a:rPr>
              <a:t>, A., </a:t>
            </a:r>
            <a:r>
              <a:rPr lang="es-ES" sz="2000" dirty="0" err="1">
                <a:latin typeface="Gill Sans MT" panose="020B0502020104020203" pitchFamily="34" charset="77"/>
              </a:rPr>
              <a:t>Statistical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Recognition</a:t>
            </a:r>
            <a:r>
              <a:rPr lang="es-ES" sz="2000" dirty="0">
                <a:latin typeface="Gill Sans MT" panose="020B0502020104020203" pitchFamily="34" charset="77"/>
              </a:rPr>
              <a:t>, Wiley, </a:t>
            </a:r>
            <a:r>
              <a:rPr lang="es-ES" sz="2000" dirty="0" err="1">
                <a:latin typeface="Gill Sans MT" panose="020B0502020104020203" pitchFamily="34" charset="77"/>
              </a:rPr>
              <a:t>Second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Edition</a:t>
            </a:r>
            <a:r>
              <a:rPr lang="es-ES" sz="2000" dirty="0">
                <a:latin typeface="Gill Sans MT" panose="020B0502020104020203" pitchFamily="34" charset="77"/>
              </a:rPr>
              <a:t>, 2002.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>
                <a:latin typeface="Gill Sans MT" panose="020B0502020104020203" pitchFamily="34" charset="77"/>
              </a:rPr>
              <a:t>Witten, I.H; Frank, E., Data </a:t>
            </a:r>
            <a:r>
              <a:rPr lang="es-ES" sz="2000" dirty="0" err="1">
                <a:latin typeface="Gill Sans MT" panose="020B0502020104020203" pitchFamily="34" charset="77"/>
              </a:rPr>
              <a:t>Mining</a:t>
            </a:r>
            <a:r>
              <a:rPr lang="es-ES" sz="2000" dirty="0">
                <a:latin typeface="Gill Sans MT" panose="020B0502020104020203" pitchFamily="34" charset="77"/>
              </a:rPr>
              <a:t>: </a:t>
            </a:r>
            <a:r>
              <a:rPr lang="es-ES" sz="2000" dirty="0" err="1">
                <a:latin typeface="Gill Sans MT" panose="020B0502020104020203" pitchFamily="34" charset="77"/>
              </a:rPr>
              <a:t>Practical</a:t>
            </a:r>
            <a:r>
              <a:rPr lang="es-ES" sz="2000" dirty="0">
                <a:latin typeface="Gill Sans MT" panose="020B0502020104020203" pitchFamily="34" charset="77"/>
              </a:rPr>
              <a:t> Machine </a:t>
            </a:r>
            <a:r>
              <a:rPr lang="es-ES" sz="2000" dirty="0" err="1">
                <a:latin typeface="Gill Sans MT" panose="020B0502020104020203" pitchFamily="34" charset="77"/>
              </a:rPr>
              <a:t>Learning</a:t>
            </a:r>
            <a:r>
              <a:rPr lang="es-ES" sz="2000" dirty="0">
                <a:latin typeface="Gill Sans MT" panose="020B0502020104020203" pitchFamily="34" charset="77"/>
              </a:rPr>
              <a:t> Tools and </a:t>
            </a:r>
            <a:r>
              <a:rPr lang="es-ES" sz="2000" dirty="0" err="1">
                <a:latin typeface="Gill Sans MT" panose="020B0502020104020203" pitchFamily="34" charset="77"/>
              </a:rPr>
              <a:t>Techniques</a:t>
            </a:r>
            <a:r>
              <a:rPr lang="es-ES" sz="2000" dirty="0">
                <a:latin typeface="Gill Sans MT" panose="020B0502020104020203" pitchFamily="34" charset="77"/>
              </a:rPr>
              <a:t>, Elsevier, </a:t>
            </a:r>
            <a:r>
              <a:rPr lang="es-ES" sz="2000" dirty="0" err="1">
                <a:latin typeface="Gill Sans MT" panose="020B0502020104020203" pitchFamily="34" charset="77"/>
              </a:rPr>
              <a:t>Second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Edition</a:t>
            </a:r>
            <a:r>
              <a:rPr lang="es-ES" sz="2000" dirty="0">
                <a:latin typeface="Gill Sans MT" panose="020B0502020104020203" pitchFamily="34" charset="77"/>
              </a:rPr>
              <a:t>, 2005.</a:t>
            </a:r>
          </a:p>
          <a:p>
            <a:endParaRPr lang="es-ES" sz="2000" dirty="0">
              <a:latin typeface="Gill Sans MT" panose="020B0502020104020203" pitchFamily="34" charset="77"/>
            </a:endParaRPr>
          </a:p>
          <a:p>
            <a:r>
              <a:rPr lang="es-ES" sz="2000" dirty="0">
                <a:latin typeface="Gill Sans MT" panose="020B0502020104020203" pitchFamily="34" charset="77"/>
              </a:rPr>
              <a:t>Artículos seleccionados de IEEE </a:t>
            </a:r>
            <a:r>
              <a:rPr lang="es-ES" sz="2000" dirty="0" err="1">
                <a:latin typeface="Gill Sans MT" panose="020B0502020104020203" pitchFamily="34" charset="77"/>
              </a:rPr>
              <a:t>Transaction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on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Analysis</a:t>
            </a:r>
            <a:r>
              <a:rPr lang="es-ES" sz="2000" dirty="0">
                <a:latin typeface="Gill Sans MT" panose="020B0502020104020203" pitchFamily="34" charset="77"/>
              </a:rPr>
              <a:t> and Machine </a:t>
            </a:r>
            <a:r>
              <a:rPr lang="es-ES" sz="2000" dirty="0" err="1">
                <a:latin typeface="Gill Sans MT" panose="020B0502020104020203" pitchFamily="34" charset="77"/>
              </a:rPr>
              <a:t>Intelligence</a:t>
            </a:r>
            <a:r>
              <a:rPr lang="es-ES" sz="2000" dirty="0">
                <a:latin typeface="Gill Sans MT" panose="020B0502020104020203" pitchFamily="34" charset="77"/>
              </a:rPr>
              <a:t>, y de </a:t>
            </a:r>
            <a:r>
              <a:rPr lang="es-ES" sz="2000" dirty="0" err="1">
                <a:latin typeface="Gill Sans MT" panose="020B0502020104020203" pitchFamily="34" charset="77"/>
              </a:rPr>
              <a:t>Proceedings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of</a:t>
            </a:r>
            <a:r>
              <a:rPr lang="es-ES" sz="2000" dirty="0">
                <a:latin typeface="Gill Sans MT" panose="020B0502020104020203" pitchFamily="34" charset="77"/>
              </a:rPr>
              <a:t> International </a:t>
            </a:r>
            <a:r>
              <a:rPr lang="es-ES" sz="2000" dirty="0" err="1">
                <a:latin typeface="Gill Sans MT" panose="020B0502020104020203" pitchFamily="34" charset="77"/>
              </a:rPr>
              <a:t>Conferences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on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Pattern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Recognition</a:t>
            </a:r>
            <a:r>
              <a:rPr lang="es-ES" sz="2000" dirty="0">
                <a:latin typeface="Gill Sans MT" panose="020B0502020104020203" pitchFamily="34" charset="77"/>
              </a:rPr>
              <a:t> and </a:t>
            </a:r>
            <a:r>
              <a:rPr lang="es-ES" sz="2000" dirty="0" err="1">
                <a:latin typeface="Gill Sans MT" panose="020B0502020104020203" pitchFamily="34" charset="77"/>
              </a:rPr>
              <a:t>Computer</a:t>
            </a:r>
            <a:r>
              <a:rPr lang="es-ES" sz="2000" dirty="0">
                <a:latin typeface="Gill Sans MT" panose="020B0502020104020203" pitchFamily="34" charset="77"/>
              </a:rPr>
              <a:t> </a:t>
            </a:r>
            <a:r>
              <a:rPr lang="es-ES" sz="2000" dirty="0" err="1">
                <a:latin typeface="Gill Sans MT" panose="020B0502020104020203" pitchFamily="34" charset="77"/>
              </a:rPr>
              <a:t>Vision</a:t>
            </a:r>
            <a:r>
              <a:rPr lang="es-ES" sz="2000" dirty="0">
                <a:latin typeface="Gill Sans MT" panose="020B0502020104020203" pitchFamily="34" charset="77"/>
              </a:rPr>
              <a:t>.</a:t>
            </a:r>
          </a:p>
          <a:p>
            <a:endParaRPr lang="es-ES" sz="2000" dirty="0">
              <a:latin typeface="Gill Sans MT" panose="020B0502020104020203" pitchFamily="34" charset="77"/>
            </a:endParaRPr>
          </a:p>
          <a:p>
            <a:r>
              <a:rPr lang="es-ES" sz="2000" dirty="0">
                <a:latin typeface="Gill Sans MT" panose="020B0502020104020203" pitchFamily="34" charset="77"/>
              </a:rPr>
              <a:t> </a:t>
            </a:r>
          </a:p>
          <a:p>
            <a:endParaRPr lang="es-ES" sz="2000" dirty="0">
              <a:latin typeface="Gill Sans MT" panose="020B0502020104020203" pitchFamily="34" charset="77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334AFE-9533-017F-A841-5F9A1EE8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(c) D.Mery - PR00</a:t>
            </a:r>
            <a:endParaRPr lang="en-C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7CCD9E-086D-2ADA-6568-03B37FBD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8</a:t>
            </a:fld>
            <a:endParaRPr lang="en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1510</TotalTime>
  <Words>826</Words>
  <Application>Microsoft Macintosh PowerPoint</Application>
  <PresentationFormat>Widescreen</PresentationFormat>
  <Paragraphs>83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Contenido del Curso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22</cp:revision>
  <dcterms:created xsi:type="dcterms:W3CDTF">2026-03-08T16:41:49Z</dcterms:created>
  <dcterms:modified xsi:type="dcterms:W3CDTF">2026-08-12T23:39:19Z</dcterms:modified>
</cp:coreProperties>
</file>