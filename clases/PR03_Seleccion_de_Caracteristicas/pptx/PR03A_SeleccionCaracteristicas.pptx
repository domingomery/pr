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6"/>
  </p:notesMasterIdLst>
  <p:sldIdLst>
    <p:sldId id="257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409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5" r:id="rId19"/>
    <p:sldId id="299" r:id="rId20"/>
    <p:sldId id="308" r:id="rId21"/>
    <p:sldId id="261" r:id="rId22"/>
    <p:sldId id="301" r:id="rId23"/>
    <p:sldId id="303" r:id="rId24"/>
    <p:sldId id="304" r:id="rId25"/>
    <p:sldId id="305" r:id="rId26"/>
    <p:sldId id="289" r:id="rId27"/>
    <p:sldId id="290" r:id="rId28"/>
    <p:sldId id="291" r:id="rId29"/>
    <p:sldId id="292" r:id="rId30"/>
    <p:sldId id="293" r:id="rId31"/>
    <p:sldId id="294" r:id="rId32"/>
    <p:sldId id="296" r:id="rId33"/>
    <p:sldId id="295" r:id="rId34"/>
    <p:sldId id="306" r:id="rId35"/>
    <p:sldId id="307" r:id="rId36"/>
    <p:sldId id="311" r:id="rId37"/>
    <p:sldId id="260" r:id="rId38"/>
    <p:sldId id="262" r:id="rId39"/>
    <p:sldId id="264" r:id="rId40"/>
    <p:sldId id="309" r:id="rId41"/>
    <p:sldId id="310" r:id="rId42"/>
    <p:sldId id="335" r:id="rId43"/>
    <p:sldId id="326" r:id="rId44"/>
    <p:sldId id="271" r:id="rId45"/>
    <p:sldId id="272" r:id="rId46"/>
    <p:sldId id="274" r:id="rId47"/>
    <p:sldId id="273" r:id="rId48"/>
    <p:sldId id="327" r:id="rId49"/>
    <p:sldId id="328" r:id="rId50"/>
    <p:sldId id="329" r:id="rId51"/>
    <p:sldId id="330" r:id="rId52"/>
    <p:sldId id="331" r:id="rId53"/>
    <p:sldId id="280" r:id="rId54"/>
    <p:sldId id="332" r:id="rId55"/>
    <p:sldId id="256" r:id="rId56"/>
    <p:sldId id="333" r:id="rId57"/>
    <p:sldId id="334" r:id="rId58"/>
    <p:sldId id="283" r:id="rId59"/>
    <p:sldId id="408" r:id="rId60"/>
    <p:sldId id="407" r:id="rId61"/>
    <p:sldId id="383" r:id="rId62"/>
    <p:sldId id="336" r:id="rId63"/>
    <p:sldId id="337" r:id="rId64"/>
    <p:sldId id="384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  <p:sldId id="355" r:id="rId83"/>
    <p:sldId id="385" r:id="rId84"/>
    <p:sldId id="269" r:id="rId85"/>
    <p:sldId id="275" r:id="rId86"/>
    <p:sldId id="276" r:id="rId87"/>
    <p:sldId id="277" r:id="rId88"/>
    <p:sldId id="278" r:id="rId89"/>
    <p:sldId id="279" r:id="rId90"/>
    <p:sldId id="281" r:id="rId91"/>
    <p:sldId id="282" r:id="rId92"/>
    <p:sldId id="284" r:id="rId93"/>
    <p:sldId id="285" r:id="rId94"/>
    <p:sldId id="286" r:id="rId95"/>
    <p:sldId id="287" r:id="rId96"/>
    <p:sldId id="288" r:id="rId97"/>
    <p:sldId id="313" r:id="rId98"/>
    <p:sldId id="314" r:id="rId99"/>
    <p:sldId id="315" r:id="rId100"/>
    <p:sldId id="316" r:id="rId101"/>
    <p:sldId id="317" r:id="rId102"/>
    <p:sldId id="318" r:id="rId103"/>
    <p:sldId id="319" r:id="rId104"/>
    <p:sldId id="320" r:id="rId105"/>
    <p:sldId id="297" r:id="rId106"/>
    <p:sldId id="298" r:id="rId107"/>
    <p:sldId id="321" r:id="rId108"/>
    <p:sldId id="300" r:id="rId109"/>
    <p:sldId id="322" r:id="rId110"/>
    <p:sldId id="302" r:id="rId111"/>
    <p:sldId id="323" r:id="rId112"/>
    <p:sldId id="324" r:id="rId113"/>
    <p:sldId id="325" r:id="rId114"/>
    <p:sldId id="387" r:id="rId115"/>
    <p:sldId id="386" r:id="rId116"/>
    <p:sldId id="388" r:id="rId117"/>
    <p:sldId id="404" r:id="rId118"/>
    <p:sldId id="356" r:id="rId119"/>
    <p:sldId id="357" r:id="rId120"/>
    <p:sldId id="358" r:id="rId121"/>
    <p:sldId id="359" r:id="rId122"/>
    <p:sldId id="360" r:id="rId123"/>
    <p:sldId id="361" r:id="rId124"/>
    <p:sldId id="362" r:id="rId125"/>
    <p:sldId id="363" r:id="rId126"/>
    <p:sldId id="364" r:id="rId127"/>
    <p:sldId id="365" r:id="rId128"/>
    <p:sldId id="366" r:id="rId129"/>
    <p:sldId id="367" r:id="rId130"/>
    <p:sldId id="368" r:id="rId131"/>
    <p:sldId id="369" r:id="rId132"/>
    <p:sldId id="370" r:id="rId133"/>
    <p:sldId id="371" r:id="rId134"/>
    <p:sldId id="372" r:id="rId135"/>
    <p:sldId id="373" r:id="rId136"/>
    <p:sldId id="374" r:id="rId137"/>
    <p:sldId id="375" r:id="rId138"/>
    <p:sldId id="376" r:id="rId139"/>
    <p:sldId id="377" r:id="rId140"/>
    <p:sldId id="378" r:id="rId141"/>
    <p:sldId id="379" r:id="rId142"/>
    <p:sldId id="380" r:id="rId143"/>
    <p:sldId id="381" r:id="rId144"/>
    <p:sldId id="382" r:id="rId145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DAF2D1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37"/>
    <p:restoredTop sz="94675"/>
  </p:normalViewPr>
  <p:slideViewPr>
    <p:cSldViewPr snapToGrid="0">
      <p:cViewPr varScale="1">
        <p:scale>
          <a:sx n="89" d="100"/>
          <a:sy n="89" d="100"/>
        </p:scale>
        <p:origin x="17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05-10-26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21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05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A72C5B-864B-B546-AE12-F4B17EC872D4}" type="slidenum">
              <a:rPr lang="es-ES"/>
              <a:pPr/>
              <a:t>118</a:t>
            </a:fld>
            <a:endParaRPr lang="es-ES" dirty="0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E2B2FE-D504-524D-B8A6-EAE6FBAB4BC2}" type="slidenum">
              <a:rPr lang="es-ES"/>
              <a:pPr/>
              <a:t>119</a:t>
            </a:fld>
            <a:endParaRPr lang="es-ES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4FF0D3-8AF8-FD4A-A095-A82CD488FFAE}" type="slidenum">
              <a:rPr lang="es-ES"/>
              <a:pPr/>
              <a:t>120</a:t>
            </a:fld>
            <a:endParaRPr lang="es-ES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CE38B0-558B-FE45-BF84-FE7223C6C952}" type="slidenum">
              <a:rPr lang="es-ES"/>
              <a:pPr/>
              <a:t>121</a:t>
            </a:fld>
            <a:endParaRPr lang="es-ES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308503-5373-6642-949F-39711A151FB5}" type="slidenum">
              <a:rPr lang="es-ES"/>
              <a:pPr/>
              <a:t>122</a:t>
            </a:fld>
            <a:endParaRPr lang="es-ES" dirty="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B21C9-3220-5744-A5D7-E77B05E1F162}" type="slidenum">
              <a:rPr lang="es-ES"/>
              <a:pPr/>
              <a:t>123</a:t>
            </a:fld>
            <a:endParaRPr lang="es-ES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96FCB6-F28B-6541-8DF6-87C2AEDC47D2}" type="slidenum">
              <a:rPr lang="es-ES"/>
              <a:pPr/>
              <a:t>124</a:t>
            </a:fld>
            <a:endParaRPr lang="es-ES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1AC392-E497-0941-9181-D282C6DD1D77}" type="slidenum">
              <a:rPr lang="es-ES"/>
              <a:pPr/>
              <a:t>125</a:t>
            </a:fld>
            <a:endParaRPr lang="es-ES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FCB4CC-6018-5B43-BD39-31FBE5928FF2}" type="slidenum">
              <a:rPr lang="es-ES"/>
              <a:pPr/>
              <a:t>126</a:t>
            </a:fld>
            <a:endParaRPr lang="es-ES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5E3C7A-4728-E649-B036-6957DCF06383}" type="slidenum">
              <a:rPr lang="es-ES"/>
              <a:pPr/>
              <a:t>127</a:t>
            </a:fld>
            <a:endParaRPr lang="es-E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974AE8-61D6-9E46-A0A2-25668B721CF0}" type="slidenum">
              <a:rPr lang="es-ES"/>
              <a:pPr/>
              <a:t>128</a:t>
            </a:fld>
            <a:endParaRPr lang="es-E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129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130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24653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131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39517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132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814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133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11887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134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51725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135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826238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136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61722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137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8247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138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84704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139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08987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140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981056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141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677904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142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194589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143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67751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144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4417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PR03A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PR03A</a:t>
            </a:r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6.emf"/><Relationship Id="rId7" Type="http://schemas.openxmlformats.org/officeDocument/2006/relationships/image" Target="../media/image21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10" Type="http://schemas.openxmlformats.org/officeDocument/2006/relationships/image" Target="../media/image3.png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10" Type="http://schemas.openxmlformats.org/officeDocument/2006/relationships/image" Target="../media/image3.png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9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57583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Selección de Características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3 – PR03A</a:t>
            </a:r>
            <a:fld id="{18C6BBD9-DA00-E648-BF94-E8D78D94CF7C}" type="slidenum">
              <a:rPr lang="es-ES_tradnl" sz="1400" noProof="1" smtClean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1</a:t>
            </a:fld>
            <a:fld id="{52F448B0-F06C-8B41-8E1C-8F133D908D08}" type="slidenum">
              <a:rPr lang="es-ES_tradnl" sz="1400" noProof="1" smtClean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1</a:t>
            </a:fld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9869B-56A6-1FA2-9C67-1260AC21DC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84288" y="3978019"/>
            <a:ext cx="4158484" cy="206519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20C8624-DA86-398D-63D1-0E411AF26997}"/>
              </a:ext>
            </a:extLst>
          </p:cNvPr>
          <p:cNvGrpSpPr/>
          <p:nvPr/>
        </p:nvGrpSpPr>
        <p:grpSpPr>
          <a:xfrm>
            <a:off x="8225494" y="3749458"/>
            <a:ext cx="449571" cy="2608119"/>
            <a:chOff x="8177645" y="3771899"/>
            <a:chExt cx="449571" cy="260811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7822F1-EC17-2013-45EC-40BCA8C23D10}"/>
                </a:ext>
              </a:extLst>
            </p:cNvPr>
            <p:cNvCxnSpPr/>
            <p:nvPr/>
          </p:nvCxnSpPr>
          <p:spPr>
            <a:xfrm>
              <a:off x="8177645" y="3771900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EF88674-B894-1553-41C6-9C62498653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7645" y="3771899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12D300-21A3-793D-6FA7-D02162DA8E01}"/>
              </a:ext>
            </a:extLst>
          </p:cNvPr>
          <p:cNvGrpSpPr/>
          <p:nvPr/>
        </p:nvGrpSpPr>
        <p:grpSpPr>
          <a:xfrm>
            <a:off x="10399963" y="3706555"/>
            <a:ext cx="449571" cy="2608119"/>
            <a:chOff x="8177645" y="3771899"/>
            <a:chExt cx="449571" cy="260811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C71311-D4E2-93C8-FC81-C2D8CADDE2FC}"/>
                </a:ext>
              </a:extLst>
            </p:cNvPr>
            <p:cNvCxnSpPr/>
            <p:nvPr/>
          </p:nvCxnSpPr>
          <p:spPr>
            <a:xfrm>
              <a:off x="8177645" y="3771900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923685-6AA7-53D4-0A74-F9A4D33878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7645" y="3771899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A19D03-04EC-AA37-4938-DBADBB38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31E5C055-2252-E90F-6F4E-B5F18145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6DF1C-903A-1452-E154-C2020EC4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830529-9259-87AA-5A1B-217FDF02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240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25C0498E-A55B-C748-A6C5-AB5EEDCC9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4088779" y="1059367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D1359F54-43E3-E14B-BCF8-53B58E887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5360326" y="1059368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8E2C85BF-2A85-854F-AA60-07D96C8CD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6426817" y="1245220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2F7BB301-9EAF-8A44-A0E9-7D75C07CE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7698364" y="1245221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9B18F532-6E2F-9D40-9C7E-D355F70B0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7240854" y="241612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FFDE9D86-6ECF-8740-B346-32D4051E3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8512401" y="241613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CD5AB3B2-D6FF-AC44-9368-2D786D0354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 rot="891617">
            <a:off x="7302218" y="2319806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505A33A2-72B4-6642-865A-3811C1CE94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 rot="891617">
            <a:off x="8946328" y="1604928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918B9F25-4FDB-DC4D-A738-8DDD710B50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 rot="1694713">
            <a:off x="3595771" y="2145082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376B8D8A-375B-F845-9A7E-F4E9D4F1E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 rot="1694713">
            <a:off x="5849073" y="2235082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1C1FBA82-6BCF-8F41-A2B4-0EA687B82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>
            <a:off x="4309642" y="3420367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BEA047FC-B3AC-D74F-8402-43F5C2B7B7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>
            <a:off x="5970726" y="370325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1C2F4B32-93A4-5B43-A8CD-C4031004A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859635">
            <a:off x="7698364" y="4193177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23E3B3B3-52F9-9643-8A17-1354C3435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 rot="859635">
            <a:off x="9359448" y="447606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5E3D0AD9-F469-A84C-B184-87FF2CA16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>
            <a:off x="3625371" y="4754866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870933BA-8908-364C-A33D-AA1C353EE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>
            <a:off x="5021988" y="508333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E2EBB6BF-B70B-3845-BD7B-124D9CF33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3183889">
            <a:off x="6633011" y="5141083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3B54EA1F-CF22-3A40-8503-513C012C6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 rot="3183889">
            <a:off x="9004231" y="3102045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52D016E3-701F-1840-AF07-CEFBE1B5FF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20633623">
            <a:off x="8227541" y="5399789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DE82B02E-D245-F542-A66C-749842B2B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5166271">
            <a:off x="2958430" y="3420366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5F55D-3841-726D-A45A-33A2469F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0520F2B-998C-FE18-848B-47E0A60F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9447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2869535" y="478831"/>
            <a:ext cx="51420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latin typeface="Gill Sans MT" panose="020B0502020104020203" pitchFamily="34" charset="77"/>
                <a:cs typeface="Trebuchet MS"/>
              </a:rPr>
              <a:t>Ejemplo: Clasificación de monedas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4169317-2BDC-4D44-AAAF-B43170922BEF}"/>
              </a:ext>
            </a:extLst>
          </p:cNvPr>
          <p:cNvSpPr/>
          <p:nvPr/>
        </p:nvSpPr>
        <p:spPr>
          <a:xfrm>
            <a:off x="2572216" y="1204333"/>
            <a:ext cx="219262" cy="2442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7DEB759-ED67-8941-AF0D-4E0133A8C9FF}"/>
              </a:ext>
            </a:extLst>
          </p:cNvPr>
          <p:cNvSpPr/>
          <p:nvPr/>
        </p:nvSpPr>
        <p:spPr>
          <a:xfrm>
            <a:off x="2548031" y="3789385"/>
            <a:ext cx="219262" cy="2442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65BD4-1F46-DF48-9BA1-A106E1746A34}"/>
              </a:ext>
            </a:extLst>
          </p:cNvPr>
          <p:cNvSpPr txBox="1"/>
          <p:nvPr/>
        </p:nvSpPr>
        <p:spPr>
          <a:xfrm>
            <a:off x="1989288" y="2194558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FA230-E545-674F-8312-C61EEA57D5D9}"/>
              </a:ext>
            </a:extLst>
          </p:cNvPr>
          <p:cNvSpPr txBox="1"/>
          <p:nvPr/>
        </p:nvSpPr>
        <p:spPr>
          <a:xfrm>
            <a:off x="1989288" y="477961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B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5346D1-C8BB-5D38-52A8-2A16ABC8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2F0739C-79C7-F3AB-D0FA-AF13FEB8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847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891BA7-F60F-9031-9DA7-AD5546EEF445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B4E7B-F919-0716-658C-515ADFF0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5B89B8B-4B95-CD6E-7836-D6CC7917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5152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70" y="394355"/>
            <a:ext cx="10074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sz="2400">
                <a:latin typeface="Gill Sans MT" panose="020B0502020104020203" pitchFamily="34" charset="77"/>
                <a:cs typeface="Trebuchet MS"/>
              </a:rPr>
              <a:t>Para evitar características no discriminatorias – Promedio de valores de gris 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7ADA7B-6F3E-1C4F-BCB2-618E8B3777C3}"/>
              </a:ext>
            </a:extLst>
          </p:cNvPr>
          <p:cNvGrpSpPr/>
          <p:nvPr/>
        </p:nvGrpSpPr>
        <p:grpSpPr>
          <a:xfrm>
            <a:off x="8320586" y="530401"/>
            <a:ext cx="3223714" cy="325619"/>
            <a:chOff x="8077200" y="1817649"/>
            <a:chExt cx="765717" cy="18957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83BB80-BAB8-5D45-93C1-F6DCC0A49D22}"/>
                </a:ext>
              </a:extLst>
            </p:cNvPr>
            <p:cNvCxnSpPr/>
            <p:nvPr/>
          </p:nvCxnSpPr>
          <p:spPr>
            <a:xfrm>
              <a:off x="8084634" y="1817649"/>
              <a:ext cx="758283" cy="1895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F2177D-063E-504B-9523-49B75D96B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200" y="1843668"/>
              <a:ext cx="765717" cy="1375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6DDFE-EF7A-DEE1-EFB2-C6510D7E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CABBAE-CC9F-F9B0-9BB9-A8D56B93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168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0120F-CCE5-53E3-04D1-7274C3B2E8E2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846D-B4CE-0043-FD4F-A79CE4DD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EDCE3D-39ED-CB5A-FDD7-880A9163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6177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69" y="394355"/>
            <a:ext cx="9308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2. Para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–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Extraer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Área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y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Diámetro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FA990E-B10F-72A1-D6B3-4CC6494B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6F88A16-0552-4233-FECE-A4B8D271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12481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42C53-193A-B8CA-0347-D0B53EA9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359962-0F18-703E-BE5A-19206B521A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84C36B-4C07-A453-F0EC-825016281D7D}"/>
              </a:ext>
            </a:extLst>
          </p:cNvPr>
          <p:cNvSpPr/>
          <p:nvPr/>
        </p:nvSpPr>
        <p:spPr>
          <a:xfrm>
            <a:off x="1810169" y="394355"/>
            <a:ext cx="101005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2. Para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–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Extraer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Área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Diámetro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(NO AMBAS)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5452F3-536D-7C15-C93C-7F9465CC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7E87108-0690-8CA4-EBE0-E9286B11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469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6C4C6-7D8E-CFA7-9232-BEBC2BAF7125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BDCE9-824E-97FE-676E-F298C424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3F82CB-88D4-29A5-5378-0751CC0B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7581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70" y="394355"/>
            <a:ext cx="7527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  <a:cs typeface="Trebuchet MS"/>
              </a:rPr>
              <a:t>3. Para simplificar la fase de pruebas – Área vs.  Hu+Flusser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EECC6E-6878-A941-BA01-483F86818121}"/>
              </a:ext>
            </a:extLst>
          </p:cNvPr>
          <p:cNvGrpSpPr/>
          <p:nvPr/>
        </p:nvGrpSpPr>
        <p:grpSpPr>
          <a:xfrm>
            <a:off x="7564581" y="497143"/>
            <a:ext cx="1925663" cy="325619"/>
            <a:chOff x="8077200" y="1817649"/>
            <a:chExt cx="765717" cy="18957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6173D9F-D126-CF49-9914-B2AE2CA2754B}"/>
                </a:ext>
              </a:extLst>
            </p:cNvPr>
            <p:cNvCxnSpPr/>
            <p:nvPr/>
          </p:nvCxnSpPr>
          <p:spPr>
            <a:xfrm>
              <a:off x="8084634" y="1817649"/>
              <a:ext cx="758283" cy="1895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28E11F-FDC1-C241-B022-B07118153E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200" y="1843668"/>
              <a:ext cx="765717" cy="1375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261A01E-779C-9774-6727-C09E0AB6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73A33B7-EE45-5A55-95E2-B2E89FE3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24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B50EDA-8120-65A1-A29A-E08CD2CFDD9A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BC4FE-4264-CD64-2D01-C7B7CE4E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B5D838-D284-F4DB-9CCE-D6FA33E1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3631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69" y="394355"/>
            <a:ext cx="9957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4. Para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falsas –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Ubicación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(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centro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masa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dirección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y)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DDE645-B4EB-45FB-1DF6-68BBBD964AAB}"/>
              </a:ext>
            </a:extLst>
          </p:cNvPr>
          <p:cNvCxnSpPr/>
          <p:nvPr/>
        </p:nvCxnSpPr>
        <p:spPr>
          <a:xfrm>
            <a:off x="1810169" y="3782291"/>
            <a:ext cx="790533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4E7881-3308-1C0C-A077-74C0CB645459}"/>
              </a:ext>
            </a:extLst>
          </p:cNvPr>
          <p:cNvCxnSpPr/>
          <p:nvPr/>
        </p:nvCxnSpPr>
        <p:spPr>
          <a:xfrm flipV="1">
            <a:off x="2306782" y="1267691"/>
            <a:ext cx="0" cy="5081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B642CD-4E66-D771-5143-65E0F03D6462}"/>
              </a:ext>
            </a:extLst>
          </p:cNvPr>
          <p:cNvSpPr txBox="1"/>
          <p:nvPr/>
        </p:nvSpPr>
        <p:spPr>
          <a:xfrm>
            <a:off x="1843305" y="1100937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dirty="0">
                <a:latin typeface="Gill Sans MT" panose="020B0502020104020203" pitchFamily="34" charset="77"/>
              </a:rPr>
              <a:t>y</a:t>
            </a:r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CE9DD955-10F4-1EEF-D48A-C1C00F3C2F36}"/>
              </a:ext>
            </a:extLst>
          </p:cNvPr>
          <p:cNvSpPr/>
          <p:nvPr/>
        </p:nvSpPr>
        <p:spPr>
          <a:xfrm>
            <a:off x="1843305" y="3252354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F58B566D-032F-A74C-CDF8-A7C470F879A6}"/>
              </a:ext>
            </a:extLst>
          </p:cNvPr>
          <p:cNvSpPr/>
          <p:nvPr/>
        </p:nvSpPr>
        <p:spPr>
          <a:xfrm rot="10800000">
            <a:off x="1843305" y="3971711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516569-E6D6-2C0A-E48A-24F2B445F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717" y="3566465"/>
            <a:ext cx="203200" cy="342900"/>
          </a:xfrm>
          <a:prstGeom prst="rect">
            <a:avLst/>
          </a:prstGeom>
        </p:spPr>
      </p:pic>
      <p:sp>
        <p:nvSpPr>
          <p:cNvPr id="12" name="Up Arrow 11">
            <a:extLst>
              <a:ext uri="{FF2B5EF4-FFF2-40B4-BE49-F238E27FC236}">
                <a16:creationId xmlns:a16="http://schemas.microsoft.com/office/drawing/2014/main" id="{86F26E25-FC67-86F7-5E66-01CC001445B5}"/>
              </a:ext>
            </a:extLst>
          </p:cNvPr>
          <p:cNvSpPr/>
          <p:nvPr/>
        </p:nvSpPr>
        <p:spPr>
          <a:xfrm>
            <a:off x="9453595" y="3252354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B7641458-C5DC-90C0-622D-DA87B2F46D49}"/>
              </a:ext>
            </a:extLst>
          </p:cNvPr>
          <p:cNvSpPr/>
          <p:nvPr/>
        </p:nvSpPr>
        <p:spPr>
          <a:xfrm rot="10800000">
            <a:off x="9453595" y="3971711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981AD3C-B8E0-33FC-801C-1D17C5F9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8C49D42-E961-B220-493E-42DE0A14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79922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8A069-4F2E-6A27-03DE-D99A34C5E118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59D20-315C-F8E4-CDF0-33C6B861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4B55D1-481B-E3E7-340D-EFCD5D61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1120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1" y="664830"/>
            <a:ext cx="9474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dimensionalidad – 1D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9E5103-72AD-9341-9507-96ACDBB7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829" y="3841593"/>
            <a:ext cx="5669000" cy="7811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E429B4-5CDC-0040-8A3C-435687A6A85E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1D)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7EC76-4B76-1C87-4A42-72B3E826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11066BD-2135-CEC0-CCDD-FE697DB4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20912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3D7D2F-D2F6-414D-933B-9EE706A60F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23" t="5771" r="4233" b="3366"/>
          <a:stretch/>
        </p:blipFill>
        <p:spPr>
          <a:xfrm>
            <a:off x="3308195" y="1170879"/>
            <a:ext cx="5798635" cy="4638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2351" y="664830"/>
            <a:ext cx="9474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dimensionalidad – 2D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CF8A7-CDED-B749-B568-7D0B14682AEA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2D)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F5B39-3162-58E6-9238-6026C74B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4019C7-C731-1A6D-0CD4-538DFE43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230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d.mov" descr="3d.mov">
            <a:hlinkClick r:id="" action="ppaction://media"/>
            <a:extLst>
              <a:ext uri="{FF2B5EF4-FFF2-40B4-BE49-F238E27FC236}">
                <a16:creationId xmlns:a16="http://schemas.microsoft.com/office/drawing/2014/main" id="{D5D74943-B545-6F47-AB06-1F6E4439D1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5744" t="572" b="4204"/>
          <a:stretch/>
        </p:blipFill>
        <p:spPr>
          <a:xfrm>
            <a:off x="3638188" y="1806299"/>
            <a:ext cx="5376076" cy="4070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2351" y="664830"/>
            <a:ext cx="97369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adimensionalidad – 3D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587AB-06BE-8A41-8CD6-2A1EFC6AAC2B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3D)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C3E0D-48DA-004D-A4F2-2D1735BECF97}"/>
              </a:ext>
            </a:extLst>
          </p:cNvPr>
          <p:cNvSpPr txBox="1"/>
          <p:nvPr/>
        </p:nvSpPr>
        <p:spPr>
          <a:xfrm>
            <a:off x="642906" y="2255540"/>
            <a:ext cx="2363215" cy="3416320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Cuando la </a:t>
            </a:r>
            <a:r>
              <a:rPr lang="en-US" dirty="0" err="1">
                <a:latin typeface="Gill Sans MT" panose="020B0502020104020203" pitchFamily="34" charset="77"/>
              </a:rPr>
              <a:t>dimensionalidad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aumenta</a:t>
            </a:r>
            <a:r>
              <a:rPr lang="en-US" dirty="0">
                <a:latin typeface="Gill Sans MT" panose="020B0502020104020203" pitchFamily="34" charset="77"/>
              </a:rPr>
              <a:t>, </a:t>
            </a:r>
            <a:r>
              <a:rPr lang="en-US" dirty="0" err="1">
                <a:latin typeface="Gill Sans MT" panose="020B0502020104020203" pitchFamily="34" charset="77"/>
              </a:rPr>
              <a:t>el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volumen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espacio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aumenta</a:t>
            </a:r>
            <a:r>
              <a:rPr lang="en-US" dirty="0">
                <a:latin typeface="Gill Sans MT" panose="020B0502020104020203" pitchFamily="34" charset="77"/>
              </a:rPr>
              <a:t> tan </a:t>
            </a:r>
            <a:r>
              <a:rPr lang="en-US" dirty="0" err="1">
                <a:latin typeface="Gill Sans MT" panose="020B0502020104020203" pitchFamily="34" charset="77"/>
              </a:rPr>
              <a:t>rápido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los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datos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disponibles</a:t>
            </a:r>
            <a:r>
              <a:rPr lang="en-US" dirty="0">
                <a:latin typeface="Gill Sans MT" panose="020B0502020104020203" pitchFamily="34" charset="77"/>
              </a:rPr>
              <a:t> se </a:t>
            </a:r>
            <a:r>
              <a:rPr lang="en-US" dirty="0" err="1">
                <a:latin typeface="Gill Sans MT" panose="020B0502020104020203" pitchFamily="34" charset="77"/>
              </a:rPr>
              <a:t>vuelven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escasos</a:t>
            </a:r>
            <a:r>
              <a:rPr lang="en-US" dirty="0">
                <a:latin typeface="Gill Sans MT" panose="020B0502020104020203" pitchFamily="34" charset="77"/>
              </a:rPr>
              <a:t>. Esta </a:t>
            </a:r>
            <a:r>
              <a:rPr lang="en-US" dirty="0" err="1">
                <a:latin typeface="Gill Sans MT" panose="020B0502020104020203" pitchFamily="34" charset="77"/>
              </a:rPr>
              <a:t>escasez</a:t>
            </a:r>
            <a:r>
              <a:rPr lang="en-US" dirty="0">
                <a:latin typeface="Gill Sans MT" panose="020B0502020104020203" pitchFamily="34" charset="77"/>
              </a:rPr>
              <a:t> es </a:t>
            </a:r>
            <a:r>
              <a:rPr lang="en-US" dirty="0" err="1">
                <a:latin typeface="Gill Sans MT" panose="020B0502020104020203" pitchFamily="34" charset="77"/>
              </a:rPr>
              <a:t>problemática</a:t>
            </a:r>
            <a:r>
              <a:rPr lang="en-US" dirty="0">
                <a:latin typeface="Gill Sans MT" panose="020B0502020104020203" pitchFamily="34" charset="77"/>
              </a:rPr>
              <a:t> para </a:t>
            </a:r>
            <a:r>
              <a:rPr lang="en-US" dirty="0" err="1">
                <a:latin typeface="Gill Sans MT" panose="020B0502020104020203" pitchFamily="34" charset="77"/>
              </a:rPr>
              <a:t>cualquier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método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requiera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significación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estadística</a:t>
            </a:r>
            <a:r>
              <a:rPr lang="en-US" dirty="0">
                <a:latin typeface="Gill Sans MT" panose="020B0502020104020203" pitchFamily="34" charset="77"/>
              </a:rPr>
              <a:t>. 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18901C-F14D-A373-E15C-D58A08BD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2D62E2D-4338-C2CF-152F-80D0329F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9746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6A76-212C-6DFA-C0F5-A7A1EF8D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CA184E-72F7-3C11-5345-5C8D42510838}"/>
              </a:ext>
            </a:extLst>
          </p:cNvPr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3A549-3F6D-423A-8661-FE902A2D5516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02327-06AC-99DF-E6DF-C1AF0E54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AA0F9D-13FE-A264-EBF1-C0D4347D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26441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A7E269FC-06A1-9039-081D-5B048853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1" y="-241258"/>
            <a:ext cx="4141995" cy="2756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BA3967-4700-388E-CAE7-6567D3930263}"/>
              </a:ext>
            </a:extLst>
          </p:cNvPr>
          <p:cNvSpPr txBox="1"/>
          <p:nvPr/>
        </p:nvSpPr>
        <p:spPr>
          <a:xfrm>
            <a:off x="4051025" y="1056169"/>
            <a:ext cx="68675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Extracción de Características</a:t>
            </a:r>
            <a:endParaRPr lang="es-ES_tradnl" sz="1400" noProof="1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097D0-0ACD-7107-89AA-D35F2BFDAEFA}"/>
              </a:ext>
            </a:extLst>
          </p:cNvPr>
          <p:cNvSpPr txBox="1"/>
          <p:nvPr/>
        </p:nvSpPr>
        <p:spPr>
          <a:xfrm>
            <a:off x="519782" y="3894358"/>
            <a:ext cx="37545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latin typeface="Gill Sans MT" panose="020B0502020104020203" pitchFamily="34" charset="77"/>
              </a:rPr>
              <a:t>¿Cuáles sirven?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¿Son todas buenas?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¿Hay redundancia?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¿Son ‘correctas’?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1BCB8B-BAC4-11E9-8B26-DD4CD931C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5437" y="2518432"/>
            <a:ext cx="7556500" cy="37527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DEC694-16F3-A025-7656-17237FB3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B24137-5287-0904-9B42-F3747ED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7026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696D6-6197-27C3-6302-D4EC8202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DF22DD16-0624-B727-100F-B49EC46CE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1" y="-241258"/>
            <a:ext cx="4141995" cy="2756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EBA1EB-99DA-AE2C-7FB7-DCCE132A283B}"/>
              </a:ext>
            </a:extLst>
          </p:cNvPr>
          <p:cNvSpPr txBox="1"/>
          <p:nvPr/>
        </p:nvSpPr>
        <p:spPr>
          <a:xfrm>
            <a:off x="4051025" y="1056169"/>
            <a:ext cx="68675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Extracción de Características</a:t>
            </a:r>
            <a:endParaRPr lang="es-ES_tradnl" sz="1400" noProof="1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A7FF1-B4D6-68A8-D7A6-CAE764833656}"/>
              </a:ext>
            </a:extLst>
          </p:cNvPr>
          <p:cNvSpPr txBox="1"/>
          <p:nvPr/>
        </p:nvSpPr>
        <p:spPr>
          <a:xfrm>
            <a:off x="397325" y="2529725"/>
            <a:ext cx="2109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latin typeface="Gill Sans MT" panose="020B0502020104020203" pitchFamily="34" charset="77"/>
              </a:rPr>
              <a:t>Analicemos una característica…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67F22-D84A-A897-0E9E-AC102DF4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5437" y="2518432"/>
            <a:ext cx="7556500" cy="37527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E8B950F-228D-4CE4-3166-7E6240EBEADA}"/>
              </a:ext>
            </a:extLst>
          </p:cNvPr>
          <p:cNvSpPr/>
          <p:nvPr/>
        </p:nvSpPr>
        <p:spPr>
          <a:xfrm>
            <a:off x="6698760" y="2358887"/>
            <a:ext cx="2827354" cy="421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E8FE8-9333-A42D-761D-0CF2F925B464}"/>
              </a:ext>
            </a:extLst>
          </p:cNvPr>
          <p:cNvSpPr/>
          <p:nvPr/>
        </p:nvSpPr>
        <p:spPr>
          <a:xfrm>
            <a:off x="9325684" y="2206487"/>
            <a:ext cx="2827354" cy="421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FF64F-C28B-30EA-A171-7C73EF28A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381" y="3620780"/>
            <a:ext cx="501384" cy="320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47E0DA-2C3F-5343-DA4A-54341A7C0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9549" y="5154617"/>
            <a:ext cx="534630" cy="336053"/>
          </a:xfrm>
          <a:prstGeom prst="rect">
            <a:avLst/>
          </a:prstGeom>
        </p:spPr>
      </p:pic>
      <p:sp>
        <p:nvSpPr>
          <p:cNvPr id="11" name="Left Brace 10">
            <a:extLst>
              <a:ext uri="{FF2B5EF4-FFF2-40B4-BE49-F238E27FC236}">
                <a16:creationId xmlns:a16="http://schemas.microsoft.com/office/drawing/2014/main" id="{81C4F9A0-D5D2-FAE8-7B77-7892DEE6D674}"/>
              </a:ext>
            </a:extLst>
          </p:cNvPr>
          <p:cNvSpPr/>
          <p:nvPr/>
        </p:nvSpPr>
        <p:spPr>
          <a:xfrm>
            <a:off x="4055262" y="4644863"/>
            <a:ext cx="187902" cy="141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DF9571A-B002-AD93-5B69-46CE0FECD65F}"/>
              </a:ext>
            </a:extLst>
          </p:cNvPr>
          <p:cNvSpPr/>
          <p:nvPr/>
        </p:nvSpPr>
        <p:spPr>
          <a:xfrm>
            <a:off x="4051025" y="3075041"/>
            <a:ext cx="187902" cy="141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D8798-BAF6-9709-FC81-F1A4E8E03EF0}"/>
              </a:ext>
            </a:extLst>
          </p:cNvPr>
          <p:cNvSpPr txBox="1"/>
          <p:nvPr/>
        </p:nvSpPr>
        <p:spPr>
          <a:xfrm>
            <a:off x="701523" y="4404624"/>
            <a:ext cx="1186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latin typeface="Gill Sans MT" panose="020B0502020104020203" pitchFamily="34" charset="77"/>
              </a:rPr>
              <a:t>DOS CLASES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5B9903-6B7B-3609-F1E6-E25362BE288B}"/>
              </a:ext>
            </a:extLst>
          </p:cNvPr>
          <p:cNvCxnSpPr/>
          <p:nvPr/>
        </p:nvCxnSpPr>
        <p:spPr>
          <a:xfrm flipV="1">
            <a:off x="2123768" y="3780944"/>
            <a:ext cx="973393" cy="53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A6D404-0841-6E0E-2829-D3F71373B86C}"/>
              </a:ext>
            </a:extLst>
          </p:cNvPr>
          <p:cNvCxnSpPr>
            <a:cxnSpLocks/>
          </p:cNvCxnSpPr>
          <p:nvPr/>
        </p:nvCxnSpPr>
        <p:spPr>
          <a:xfrm>
            <a:off x="2117763" y="4590596"/>
            <a:ext cx="973393" cy="53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D4EE001-9B4B-773A-2BB5-67B357855EC1}"/>
              </a:ext>
            </a:extLst>
          </p:cNvPr>
          <p:cNvSpPr/>
          <p:nvPr/>
        </p:nvSpPr>
        <p:spPr>
          <a:xfrm>
            <a:off x="7874526" y="2441666"/>
            <a:ext cx="1692260" cy="424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87AAE-1A5E-4EBE-CC1E-73691ECACE97}"/>
              </a:ext>
            </a:extLst>
          </p:cNvPr>
          <p:cNvSpPr txBox="1"/>
          <p:nvPr/>
        </p:nvSpPr>
        <p:spPr>
          <a:xfrm>
            <a:off x="8470018" y="2377554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"/>
                <a:cs typeface="Times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B07B7C-80CA-DFD8-AB36-1E121A8516D2}"/>
              </a:ext>
            </a:extLst>
          </p:cNvPr>
          <p:cNvSpPr/>
          <p:nvPr/>
        </p:nvSpPr>
        <p:spPr>
          <a:xfrm>
            <a:off x="4372031" y="2445682"/>
            <a:ext cx="2359348" cy="424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FC611DB-E97E-3249-5C1E-B1FA30404B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7058" y="2488775"/>
            <a:ext cx="1620000" cy="38880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E2EE219-44BB-518C-BF54-9048D62D86AD}"/>
              </a:ext>
            </a:extLst>
          </p:cNvPr>
          <p:cNvSpPr txBox="1"/>
          <p:nvPr/>
        </p:nvSpPr>
        <p:spPr>
          <a:xfrm>
            <a:off x="8965308" y="1955498"/>
            <a:ext cx="206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latin typeface="Gill Sans MT" panose="020B0502020104020203" pitchFamily="34" charset="77"/>
              </a:rPr>
              <a:t>UNA CARACTERÍSTICA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5773BB-A571-8F32-91FE-2C4B0A7E1510}"/>
              </a:ext>
            </a:extLst>
          </p:cNvPr>
          <p:cNvCxnSpPr>
            <a:cxnSpLocks/>
          </p:cNvCxnSpPr>
          <p:nvPr/>
        </p:nvCxnSpPr>
        <p:spPr>
          <a:xfrm flipH="1">
            <a:off x="8813382" y="2312179"/>
            <a:ext cx="753404" cy="285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D212199-5738-044F-DE95-2E0218FA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0024417B-E111-EA5D-BABA-A3940B84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41317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8420BE-31C1-4044-AC7C-6285F47E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EA9D6-5B50-E9F1-5D60-9F8054F1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E9EE-84FD-EF54-E937-BE83B475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0E5276-22EB-AFF4-0441-F57CE3471A93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D1BAD6-B7EE-6416-B152-29EE3E12A61D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FBD8FCF-F8BB-4900-08E9-776194141D87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992F8F-70C5-435E-D45A-DF2BDA5D964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4DFCCD-29CC-B3D9-508A-89700B78402F}"/>
              </a:ext>
            </a:extLst>
          </p:cNvPr>
          <p:cNvSpPr txBox="1"/>
          <p:nvPr/>
        </p:nvSpPr>
        <p:spPr>
          <a:xfrm>
            <a:off x="2360663" y="2207837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D9A2097-0697-2F3D-39B8-655C25AA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2321841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B5AAB10-97D6-7ACB-37BB-2A504FA25820}"/>
              </a:ext>
            </a:extLst>
          </p:cNvPr>
          <p:cNvSpPr txBox="1"/>
          <p:nvPr/>
        </p:nvSpPr>
        <p:spPr>
          <a:xfrm>
            <a:off x="2367323" y="3914845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020631D-B3FE-33BB-A06C-A3B5665B1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4028849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3EBB6FFF-3620-BF80-CD60-B075E5DA43B3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B66D73B-5519-E50E-2F5C-ED996DD12890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8CE72C2-3941-927A-E837-308C123AB87C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1CEB309-0824-E976-90DF-CEC372E74D31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AB9BAF7-0043-AFE8-8BE6-887244238555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103C901-F036-E1E8-4D55-7634AC3AC9B3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32D7B05-49F3-76A0-F683-68B72F5A4434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AEB451F-10BD-3F73-B0B1-17E608367333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FA16A53-1137-FBFC-43FE-C53BB78E0DE3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CFD25EE-774E-9CBB-67AF-BBCFFB2941C9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267775-7257-C78E-8E95-D56AEED6CAFA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66693FE-6B21-BB13-15AF-8C4C3AE46BF3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6AD4F26-FAB0-5224-78BB-A74BC24B8D4B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69B68DA-06F1-E86A-D322-47756D306E8A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64B6864-3788-097B-C4A2-09DC96F3ECED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E9615C4-1141-94C1-56B8-39C0E7A4D263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54E7546-16D3-3E36-C256-004BDC865347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A4A872-7FEB-2CEB-B576-7B38B2C7BC41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80ECA78-239A-8439-F293-85478C938554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B9A968E-2CFE-052B-8F76-773241C41E25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924A30D-B82F-5889-BAC0-FFF7DB38E9B8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sp>
        <p:nvSpPr>
          <p:cNvPr id="93" name="Text Box 2">
            <a:extLst>
              <a:ext uri="{FF2B5EF4-FFF2-40B4-BE49-F238E27FC236}">
                <a16:creationId xmlns:a16="http://schemas.microsoft.com/office/drawing/2014/main" id="{FBDFDBA7-7DB3-7A20-D74C-B33DF995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A12EC1-6243-4580-4FC0-A004B481A24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7058" y="2488775"/>
            <a:ext cx="1620000" cy="388800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61D9127-D777-98E0-55A6-9FE542132205}"/>
              </a:ext>
            </a:extLst>
          </p:cNvPr>
          <p:cNvGrpSpPr/>
          <p:nvPr/>
        </p:nvGrpSpPr>
        <p:grpSpPr>
          <a:xfrm>
            <a:off x="2375580" y="2607390"/>
            <a:ext cx="6913525" cy="2098076"/>
            <a:chOff x="2377431" y="2554091"/>
            <a:chExt cx="6913525" cy="209807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B17F19F-CF9F-4182-3DCF-CCDBFDF38294}"/>
                </a:ext>
              </a:extLst>
            </p:cNvPr>
            <p:cNvSpPr/>
            <p:nvPr/>
          </p:nvSpPr>
          <p:spPr>
            <a:xfrm>
              <a:off x="8088314" y="2795179"/>
              <a:ext cx="1202642" cy="1856988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E72CF7-B0C9-0100-306B-D3C1FA07CE1F}"/>
                </a:ext>
              </a:extLst>
            </p:cNvPr>
            <p:cNvSpPr/>
            <p:nvPr/>
          </p:nvSpPr>
          <p:spPr>
            <a:xfrm rot="5400000">
              <a:off x="3034625" y="1896897"/>
              <a:ext cx="542600" cy="1856988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A8ACD5A-7F0F-5855-F63F-052DA4E46371}"/>
              </a:ext>
            </a:extLst>
          </p:cNvPr>
          <p:cNvGrpSpPr/>
          <p:nvPr/>
        </p:nvGrpSpPr>
        <p:grpSpPr>
          <a:xfrm>
            <a:off x="3625292" y="4306691"/>
            <a:ext cx="5671107" cy="2081747"/>
            <a:chOff x="3625292" y="4306691"/>
            <a:chExt cx="5671107" cy="2081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7840893-CEBB-E291-859C-E3959E615EB8}"/>
                </a:ext>
              </a:extLst>
            </p:cNvPr>
            <p:cNvSpPr/>
            <p:nvPr/>
          </p:nvSpPr>
          <p:spPr>
            <a:xfrm>
              <a:off x="8093757" y="4531450"/>
              <a:ext cx="1202642" cy="185698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982625-F24D-08D0-B921-DD63ED93454F}"/>
                </a:ext>
              </a:extLst>
            </p:cNvPr>
            <p:cNvSpPr/>
            <p:nvPr/>
          </p:nvSpPr>
          <p:spPr>
            <a:xfrm rot="5400000">
              <a:off x="4282486" y="3649497"/>
              <a:ext cx="542600" cy="185698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3B992A7-582A-E641-31A1-9A4BE4AD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736EE91-C8F1-CFAA-3B2B-0669C55D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78709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FB99-9804-DA0B-8F7B-B2C6ACC4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B56680-E3D6-BE6D-2491-BA8C742F20D0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518220-E73A-9AD9-BDA2-7234F3E78C9A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4C958A1-FDD3-98E1-D804-7C5487A9B667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9683F0-E743-C491-DD51-1409DA9E0169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8F8500-A9FE-13EE-F93D-C1FA2F9124B3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280A4FE-6459-83FA-F775-51433B48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B1B796A-9F74-D5AD-F453-BA7B879A2E86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BCC44BC-07B6-B1ED-B7D0-A25C4F7A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4DEFA108-46CD-3538-3422-2E4E81374152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F429D8B-E4A8-2CD7-2282-8694CEB1E60C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071CE22-A47A-477C-968F-A5AA23EE4BB3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A723E66-0285-6506-FD56-0965B846DF57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AF2A08D-A79B-A732-F39B-EA2E079A5208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4AD3CB3-67B6-DB06-EDAB-DDF93D9B2400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0C7CFF-3F1E-C2F4-9C91-538FD923B6F3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AC8AB0-803A-030F-8FE5-627278DFAEF7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9A7B966-03DF-33AB-5A47-FE179EF3CE5C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E267E73-FF59-FC00-F5D7-166A811BC189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EB5AE9B-E371-FF20-BECE-32CA83CC5E50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338E857-3A06-7152-CC7F-7C339E17D324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FEBD337-82A9-B129-8986-B9857276D675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DEBAFEB-F57A-E657-901B-B438A41BB43E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9A22405-A629-F697-5273-E99B77B513C2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59461FC-1443-3B06-A92D-22E453079739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3AE0730F-860E-ABDA-AF80-7BBFE2FC14E1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DE4939-E930-8942-E664-710AB4AB7853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835691F-7265-27ED-570D-EAE55C5E7F8F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65735C5-D8D5-6E47-0877-0EB796C933CD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2E5B52D-0C82-779C-C188-61F088A8BBF3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FF3A1A-DDF9-9CBD-B1E6-1190592A54AA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87E1DC-43FC-3257-4D87-DBFE5444C86C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BEAA27-5253-AF63-1156-881D72936D3C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146F0C-3B7D-63DF-495C-B9E569D9F134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1EFE91-31F5-E72F-13E0-F9A55CB72CF1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EC7C82-078F-6E0D-156E-3563728C5732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7D53EB-8275-74A8-A79F-12E5C127EC85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AA0837-DC58-FD3E-CC8A-2DF2C783AEA3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09AB73-80CE-1F73-F883-77800EC7F215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C94BBB-F2EA-5F49-718D-BCD87E9A282B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3B81F8-1ADF-4FB3-97D6-F5F36E6603BF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253598-C464-3444-C4F4-65341A387D8B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3BFB73-E0F4-F212-05A1-B22BDEA860DE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EDF9CE-F8C3-93A8-B943-97F766CED843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2FDDA2-4935-1F71-2D4B-03C0AD2DDB13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43A030-9B41-851E-75DC-D86C0BA3E7A1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63DD09-F5C0-CE4B-D8E4-27533D0C37C7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C039C5-54F3-508D-DD63-D8D5E31A1AC6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1B67EA9-0B73-C5A3-EAE9-D9E6DFED6173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3AED311-1199-58AC-7DF2-FD9C39DFC543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4477AB-FC69-8ED7-F531-76DED977DE1F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CE5F3E-E9DC-0932-C7C1-D27273ACEC67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EBF3DA0-FC5C-76AE-FC0C-F126B89973FA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30C402-5687-C266-AAF5-064DBB8BDF89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9F15D5-C6ED-55ED-2BC5-819ED8303F5E}"/>
              </a:ext>
            </a:extLst>
          </p:cNvPr>
          <p:cNvGrpSpPr/>
          <p:nvPr/>
        </p:nvGrpSpPr>
        <p:grpSpPr>
          <a:xfrm>
            <a:off x="2478070" y="2098532"/>
            <a:ext cx="2964370" cy="1964781"/>
            <a:chOff x="2478070" y="2098532"/>
            <a:chExt cx="2964370" cy="196478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A66E490-1506-2859-2995-8436B59BA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8070" y="3618324"/>
              <a:ext cx="1329186" cy="44498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2DA1D67-E454-3BFA-8DB1-922E20A38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94701" y="2098532"/>
              <a:ext cx="1347739" cy="447310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6AEC5B-9FE1-7FCC-AAAD-ACB7A5F43D7F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9F51BC-A6BC-6C6C-15C2-80728FC0EC0E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Box 2">
            <a:extLst>
              <a:ext uri="{FF2B5EF4-FFF2-40B4-BE49-F238E27FC236}">
                <a16:creationId xmlns:a16="http://schemas.microsoft.com/office/drawing/2014/main" id="{56318F8D-FF7D-24C1-8B88-0CFF99C15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C3272B56-5818-DACF-F4DC-2C3218F8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13F6ED31-8AB5-9A6E-6AA4-9636506F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04489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0A8E-FE9D-5201-CC77-C42ED0E8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A2C1C0-E688-6A0B-3139-0841C75D8129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196A9E-C80A-E1D9-F885-CC72EFA417EC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0236D74-BCAC-8E4A-952C-C08638F89C75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EE81B-2151-FBC1-246A-D2C87074168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D2B97B-463F-8D6A-92B5-E28A230C4923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E371CD9-5873-F40F-86BD-6980AA975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8906124-109C-7A56-70BF-85029D6C588B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4CD2A3E-0AD3-A3F0-4DA7-0B2B02683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FAB577-E4A5-896E-7EDC-53C0A226C49A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E4E8C4E-C4A4-B23B-483F-B3ACBA9306DE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C735BA5-FA45-7F16-16A5-5FB9544AA505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591EB3D-8BD9-FCDD-0637-B1E27386C373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FBF47E3-036D-8251-FB89-3EF873F4C4B2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B2763D2-72FD-EC45-4422-22A73EE9DE17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3DD4388-8DFF-E6C1-1687-80F38C1BE2B1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16FF23B-ECDD-14E9-041D-E737083B585E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ECFECEC-384E-5E33-E5E3-B4DC512850D0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438A7C8-720F-E8BE-5A6F-0DBD77B2A962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EE33020-465B-EA31-9DEA-F73A597D024F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5F64BC-5E27-13A9-0930-6336D8BABA69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AF0E67-6CF2-C38B-5E5F-E6A26EBDD20F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4FBE529-FBDC-2021-8DA0-87E7DC3419ED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7F08AC-BE42-9C13-1306-70A4D56BFD2F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B675F70-85DE-B028-33A7-FB124ADB1047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AAD0373-AFD9-9C88-D49B-A82CC4944A4B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D1D243-F796-5155-71CD-A50032AF7EAF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4805F4-1346-FD13-F54F-34B915EE2F75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37FBE7-C175-8E1C-E53A-A29DF345D197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19DBF1D-95B5-7011-A3A5-EE23953279B7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DA8727-B9C8-A236-F70E-6712AC5CB310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29343E-5197-45A1-6EC6-C3741FF474F3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48E290-D19D-6279-6B1F-13BBEFF974CB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313C4E-A992-2405-0176-7B6602B4871C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F67077-86D8-6A73-E376-3E63226AD92C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2D344F-074A-9B41-9D30-796F77188416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E6CF6E-136D-AB00-E276-ED6ECB67A2B8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3BC700-7DC7-682F-0D60-F2EA381D14C1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A99C15-02DD-5969-2FBA-EE739B7A6655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3ED780-D265-D39E-1503-44BCFC980504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6438B8-60A1-F339-9920-B8B148E20FC4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2657A-D232-A493-415F-54BF830204CD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850C51-4460-CA4E-CB0E-228EA1BD9104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091583-7459-B07E-3B81-D917A8BC3323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9575FC-C58F-AA0E-EBDC-0D514FFE5EA8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CC28AF-D556-7309-8A56-214EFF09C3C7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9403F1-853E-7A79-8CAC-183BA46B67A6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81FDB4-90B3-4F4B-AEE2-753C70622B56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E938BCC-1D47-94B9-A91A-7F11778A1012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67271F1-25A0-63C1-CBC7-7134E4A8CA58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3CBB97-D9D1-1E88-168E-E05E0E8EEA07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A95760-7CD9-C7AE-CF53-61F5A770EAC5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5C0800-5504-5B2C-6270-8E88A349DEE0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EEBD41-E53F-E111-4AD5-235933281B8A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D9D9732-F2DE-45EB-9D32-ADAC622D0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70" y="3618324"/>
            <a:ext cx="1329186" cy="444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8BF2EB-F1DE-42E1-74C4-1A57B63FD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701" y="2098532"/>
            <a:ext cx="1347739" cy="44731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98024C-796F-6DFF-7711-0804B8DCF12D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428A05-DD81-39B7-B3CC-E7D1DDD06686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1FA43D-F1B6-3E96-0024-4BFE7B0F33B0}"/>
              </a:ext>
            </a:extLst>
          </p:cNvPr>
          <p:cNvCxnSpPr/>
          <p:nvPr/>
        </p:nvCxnSpPr>
        <p:spPr>
          <a:xfrm flipH="1" flipV="1">
            <a:off x="6862170" y="2275817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DBB7EB85-C05F-1D0B-1085-6AD99079A3DC}"/>
              </a:ext>
            </a:extLst>
          </p:cNvPr>
          <p:cNvSpPr/>
          <p:nvPr/>
        </p:nvSpPr>
        <p:spPr>
          <a:xfrm>
            <a:off x="6882640" y="2816798"/>
            <a:ext cx="2963364" cy="825156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63364" h="825156">
                <a:moveTo>
                  <a:pt x="0" y="820696"/>
                </a:moveTo>
                <a:cubicBezTo>
                  <a:pt x="134305" y="826885"/>
                  <a:pt x="607155" y="825029"/>
                  <a:pt x="798400" y="824410"/>
                </a:cubicBezTo>
                <a:cubicBezTo>
                  <a:pt x="989645" y="823791"/>
                  <a:pt x="1065771" y="828743"/>
                  <a:pt x="1147468" y="816983"/>
                </a:cubicBezTo>
                <a:cubicBezTo>
                  <a:pt x="1229165" y="805223"/>
                  <a:pt x="1238449" y="773039"/>
                  <a:pt x="1288581" y="753852"/>
                </a:cubicBezTo>
                <a:cubicBezTo>
                  <a:pt x="1338713" y="734665"/>
                  <a:pt x="1396891" y="735904"/>
                  <a:pt x="1448261" y="701863"/>
                </a:cubicBezTo>
                <a:cubicBezTo>
                  <a:pt x="1499631" y="667822"/>
                  <a:pt x="1546668" y="611500"/>
                  <a:pt x="1596800" y="549607"/>
                </a:cubicBezTo>
                <a:cubicBezTo>
                  <a:pt x="1646932" y="487714"/>
                  <a:pt x="1699540" y="389305"/>
                  <a:pt x="1749053" y="330507"/>
                </a:cubicBezTo>
                <a:cubicBezTo>
                  <a:pt x="1798566" y="271709"/>
                  <a:pt x="1843128" y="248191"/>
                  <a:pt x="1893879" y="196820"/>
                </a:cubicBezTo>
                <a:cubicBezTo>
                  <a:pt x="1944630" y="145449"/>
                  <a:pt x="2000951" y="51372"/>
                  <a:pt x="2053559" y="22283"/>
                </a:cubicBezTo>
                <a:cubicBezTo>
                  <a:pt x="2106167" y="-6806"/>
                  <a:pt x="2160013" y="-8044"/>
                  <a:pt x="2209526" y="22283"/>
                </a:cubicBezTo>
                <a:cubicBezTo>
                  <a:pt x="2259039" y="52610"/>
                  <a:pt x="2300506" y="126263"/>
                  <a:pt x="2350638" y="204247"/>
                </a:cubicBezTo>
                <a:cubicBezTo>
                  <a:pt x="2400770" y="282231"/>
                  <a:pt x="2460186" y="414062"/>
                  <a:pt x="2510318" y="490190"/>
                </a:cubicBezTo>
                <a:cubicBezTo>
                  <a:pt x="2560450" y="566318"/>
                  <a:pt x="2601918" y="615831"/>
                  <a:pt x="2651431" y="661013"/>
                </a:cubicBezTo>
                <a:cubicBezTo>
                  <a:pt x="2700944" y="706194"/>
                  <a:pt x="2755408" y="735284"/>
                  <a:pt x="2807397" y="761279"/>
                </a:cubicBezTo>
                <a:cubicBezTo>
                  <a:pt x="2859386" y="787274"/>
                  <a:pt x="2963364" y="816983"/>
                  <a:pt x="2963364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8877589-ADD2-15F7-9AF4-C8BFC0DCCA4C}"/>
              </a:ext>
            </a:extLst>
          </p:cNvPr>
          <p:cNvSpPr/>
          <p:nvPr/>
        </p:nvSpPr>
        <p:spPr>
          <a:xfrm>
            <a:off x="6889926" y="2773953"/>
            <a:ext cx="2956079" cy="880577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56079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  <a:cubicBezTo>
                  <a:pt x="2161405" y="869733"/>
                  <a:pt x="2956079" y="862434"/>
                  <a:pt x="2956079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8A59D9-8742-E4B4-3A9C-24797E784567}"/>
              </a:ext>
            </a:extLst>
          </p:cNvPr>
          <p:cNvCxnSpPr/>
          <p:nvPr/>
        </p:nvCxnSpPr>
        <p:spPr>
          <a:xfrm>
            <a:off x="6862170" y="3644696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EF5BD3B-415B-0556-2D27-A1951B82E827}"/>
              </a:ext>
            </a:extLst>
          </p:cNvPr>
          <p:cNvSpPr txBox="1"/>
          <p:nvPr/>
        </p:nvSpPr>
        <p:spPr>
          <a:xfrm>
            <a:off x="10028558" y="3425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39" name="Text Box 2">
            <a:extLst>
              <a:ext uri="{FF2B5EF4-FFF2-40B4-BE49-F238E27FC236}">
                <a16:creationId xmlns:a16="http://schemas.microsoft.com/office/drawing/2014/main" id="{5005CF82-70DD-FB4D-866D-1C733CF5F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7D5B406-6CD6-1391-4E5C-924A3D02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CB22F236-D160-9E34-BC74-434CAC07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79835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144B-6532-0874-04B0-78E59FD6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55FF59-39F3-0ABF-F7B2-BC842E852A5C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72AE7A-9092-DC27-1C9C-B2D8F058D87E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2284F37-3DF0-A93E-C7DF-36AE7721F9B1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CD999A-7F84-9A38-D3AC-0124ECEE9E5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FC935D-4F26-2EE8-DA10-CC6E0CAA46C5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C812043-7918-0EAF-3C06-58EF7B21A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A61DF28-0976-CBF1-C08C-0BFB38C44F9C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C36F300-1716-B823-09E2-328756711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DABEB0AC-44C9-CB52-7E2B-6C7CBAEC06B3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BCC1E27-B1A1-0416-5F9C-71065B235647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7763663-1E68-BE4B-96C5-CE8008A5E871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7662BD-C613-EAEB-66D3-516A0CECB3F7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127BD8E-21E6-9FD5-30FC-E06102FDC26F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A9E59EA-212F-0C41-5017-772FABF233A5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6B7E51-E0EB-F16D-BC4A-EDCBB116FC86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5721F81-3634-6BEB-FE83-5A86747971C9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3D1B5D5-11C6-5C36-51F4-0F020756F753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9B75E2B-6F97-6D5F-8B66-382C4D0682EF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D42283A-3E5C-EECA-9194-9E3580CCAEFE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6FE8DC0-E20F-1346-F515-6C2AF2DA48F6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0BEB3E0-600E-F9A0-B521-781569EC292A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C8D96F-6E82-DB04-EB7F-EC322183D160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AD3DBCC-346E-F555-B7F2-F2F3A97F7709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100B210-9881-8978-B947-50AD134CFDE8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57A24788-C02C-9A2B-6376-45258BAB00A2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D9CE753-4821-CB64-3AE2-5B4667B48253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6E7BEAF-95C0-D20A-3FCB-C503F590887B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E819B33-39D9-7501-BD9B-ECA1928738E3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3A647DD-152B-E3F1-1797-50B97FA04A5B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0B840-DC62-5C74-B875-6814275E6224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6F4A586-397D-C4E8-013E-09B16F33ABD5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A79E1A-FC3F-94E3-8F0D-77773739263B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A27778-49C9-FFC3-4882-F9E113C50EC2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FCDB00-9322-21A1-A1C0-0845C3A31FF7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6E55CA-FB95-1805-AFF2-B943D0336207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A73C59-1602-70D7-3CE2-D6882B1899C8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CFDFFB-5590-928E-523C-881D09C5A8B3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52DC3D-3122-DE9D-8C20-F3C472A70F74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376D2A-B4F1-C728-221C-22BC90D8FB95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107532-4272-AAC9-5E2F-B95C57D00B00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209F50-3DF8-9C7C-B14A-FEEE53A955F4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1FABFC-30D3-1065-BAA6-845B0ACD4C72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4E64CA-D503-42F4-090A-509F720ACBDF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178515-211F-BF5F-BD82-37C699878E75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C9013D-00D5-4329-0A6E-C0916D4E105E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E0BBD8A-10C5-6FA6-9039-C13816CE12A7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DFC2C5-4CFF-452A-1D23-93C8B189D6CA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FDAC03-FFB0-DF6D-56D6-3BB279A62F09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79CB74-8EC4-BC9F-3949-80C42213319A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281579-32D9-AAB8-8276-7D5BA9EFDC84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A6ABE54-D806-9A07-AB5F-F15F6A19EBF1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B16B9CB-DB08-8D6A-31BA-9ABD165B18A3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8445DB-4EB0-CE94-07B7-E7A734C0CB52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7223AD3-0F04-94D7-13C0-5E9D72D3F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70" y="3618324"/>
            <a:ext cx="1329186" cy="444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46968F-5431-5663-AD7D-5F98B6EC7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701" y="2098532"/>
            <a:ext cx="1347739" cy="44731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811BCD-8D45-662A-31AF-37BAEBE24483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48D7E9-FC54-321B-C703-8B2ECF3139F9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2AF920-EB71-5466-35BB-D1FEC64D3555}"/>
              </a:ext>
            </a:extLst>
          </p:cNvPr>
          <p:cNvCxnSpPr/>
          <p:nvPr/>
        </p:nvCxnSpPr>
        <p:spPr>
          <a:xfrm flipH="1" flipV="1">
            <a:off x="6862170" y="2275817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F3B05FAD-52AB-B9D6-9C7B-26D97B907572}"/>
              </a:ext>
            </a:extLst>
          </p:cNvPr>
          <p:cNvSpPr/>
          <p:nvPr/>
        </p:nvSpPr>
        <p:spPr>
          <a:xfrm>
            <a:off x="6882640" y="2816798"/>
            <a:ext cx="2963364" cy="825156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63364" h="825156">
                <a:moveTo>
                  <a:pt x="0" y="820696"/>
                </a:moveTo>
                <a:cubicBezTo>
                  <a:pt x="134305" y="826885"/>
                  <a:pt x="607155" y="825029"/>
                  <a:pt x="798400" y="824410"/>
                </a:cubicBezTo>
                <a:cubicBezTo>
                  <a:pt x="989645" y="823791"/>
                  <a:pt x="1065771" y="828743"/>
                  <a:pt x="1147468" y="816983"/>
                </a:cubicBezTo>
                <a:cubicBezTo>
                  <a:pt x="1229165" y="805223"/>
                  <a:pt x="1238449" y="773039"/>
                  <a:pt x="1288581" y="753852"/>
                </a:cubicBezTo>
                <a:cubicBezTo>
                  <a:pt x="1338713" y="734665"/>
                  <a:pt x="1396891" y="735904"/>
                  <a:pt x="1448261" y="701863"/>
                </a:cubicBezTo>
                <a:cubicBezTo>
                  <a:pt x="1499631" y="667822"/>
                  <a:pt x="1546668" y="611500"/>
                  <a:pt x="1596800" y="549607"/>
                </a:cubicBezTo>
                <a:cubicBezTo>
                  <a:pt x="1646932" y="487714"/>
                  <a:pt x="1699540" y="389305"/>
                  <a:pt x="1749053" y="330507"/>
                </a:cubicBezTo>
                <a:cubicBezTo>
                  <a:pt x="1798566" y="271709"/>
                  <a:pt x="1843128" y="248191"/>
                  <a:pt x="1893879" y="196820"/>
                </a:cubicBezTo>
                <a:cubicBezTo>
                  <a:pt x="1944630" y="145449"/>
                  <a:pt x="2000951" y="51372"/>
                  <a:pt x="2053559" y="22283"/>
                </a:cubicBezTo>
                <a:cubicBezTo>
                  <a:pt x="2106167" y="-6806"/>
                  <a:pt x="2160013" y="-8044"/>
                  <a:pt x="2209526" y="22283"/>
                </a:cubicBezTo>
                <a:cubicBezTo>
                  <a:pt x="2259039" y="52610"/>
                  <a:pt x="2300506" y="126263"/>
                  <a:pt x="2350638" y="204247"/>
                </a:cubicBezTo>
                <a:cubicBezTo>
                  <a:pt x="2400770" y="282231"/>
                  <a:pt x="2460186" y="414062"/>
                  <a:pt x="2510318" y="490190"/>
                </a:cubicBezTo>
                <a:cubicBezTo>
                  <a:pt x="2560450" y="566318"/>
                  <a:pt x="2601918" y="615831"/>
                  <a:pt x="2651431" y="661013"/>
                </a:cubicBezTo>
                <a:cubicBezTo>
                  <a:pt x="2700944" y="706194"/>
                  <a:pt x="2755408" y="735284"/>
                  <a:pt x="2807397" y="761279"/>
                </a:cubicBezTo>
                <a:cubicBezTo>
                  <a:pt x="2859386" y="787274"/>
                  <a:pt x="2963364" y="816983"/>
                  <a:pt x="2963364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9725F4F-2EFC-F3C6-3EF7-D7DA68FF6C79}"/>
              </a:ext>
            </a:extLst>
          </p:cNvPr>
          <p:cNvSpPr/>
          <p:nvPr/>
        </p:nvSpPr>
        <p:spPr>
          <a:xfrm>
            <a:off x="6889926" y="2773953"/>
            <a:ext cx="2956079" cy="880577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56079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  <a:cubicBezTo>
                  <a:pt x="2161405" y="869733"/>
                  <a:pt x="2956079" y="862434"/>
                  <a:pt x="2956079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9BE674-C064-49E3-C959-DB7D2F9AA56C}"/>
              </a:ext>
            </a:extLst>
          </p:cNvPr>
          <p:cNvCxnSpPr/>
          <p:nvPr/>
        </p:nvCxnSpPr>
        <p:spPr>
          <a:xfrm>
            <a:off x="6862170" y="3644696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D9B6A5-8809-A2B7-B3F7-6141E8721E0F}"/>
              </a:ext>
            </a:extLst>
          </p:cNvPr>
          <p:cNvSpPr txBox="1"/>
          <p:nvPr/>
        </p:nvSpPr>
        <p:spPr>
          <a:xfrm>
            <a:off x="10028558" y="3425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C777D62-25F8-70CE-AF6A-FE6C9DD11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601" y="2421062"/>
            <a:ext cx="726077" cy="2377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1E65BBA-82E5-05F2-D228-DC50BEEAC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206" y="2418878"/>
            <a:ext cx="726080" cy="23774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F5961A2-465B-86C5-46D0-7915859456BB}"/>
              </a:ext>
            </a:extLst>
          </p:cNvPr>
          <p:cNvSpPr txBox="1"/>
          <p:nvPr/>
        </p:nvSpPr>
        <p:spPr>
          <a:xfrm>
            <a:off x="6739388" y="1898647"/>
            <a:ext cx="2591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Gill Sans MT" panose="020B0502020104020203" pitchFamily="34" charset="77"/>
                <a:cs typeface="Arial"/>
              </a:rPr>
              <a:t>Funciones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densidad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probabilidad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8E95A68-0726-B04A-CBA0-5DC05D236A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8933" y="3872676"/>
            <a:ext cx="1840174" cy="5342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4AADFDC-E803-CEB1-E8C5-3AC88A874E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9600" y="3872676"/>
            <a:ext cx="1840174" cy="534244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9CEAFD-DF97-E730-E1C0-FFC345054674}"/>
              </a:ext>
            </a:extLst>
          </p:cNvPr>
          <p:cNvCxnSpPr>
            <a:endCxn id="40" idx="0"/>
          </p:cNvCxnSpPr>
          <p:nvPr/>
        </p:nvCxnSpPr>
        <p:spPr>
          <a:xfrm flipH="1">
            <a:off x="7389021" y="3378358"/>
            <a:ext cx="214553" cy="494318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005568-D07A-5314-1AE2-A5715946DE6E}"/>
              </a:ext>
            </a:extLst>
          </p:cNvPr>
          <p:cNvCxnSpPr/>
          <p:nvPr/>
        </p:nvCxnSpPr>
        <p:spPr>
          <a:xfrm>
            <a:off x="9057547" y="3386123"/>
            <a:ext cx="338130" cy="534173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 Box 2">
            <a:extLst>
              <a:ext uri="{FF2B5EF4-FFF2-40B4-BE49-F238E27FC236}">
                <a16:creationId xmlns:a16="http://schemas.microsoft.com/office/drawing/2014/main" id="{DB9B0868-73A1-ED89-2AE0-763124DBD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71A9DD17-EE80-A3CD-4376-BE55042F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0D54D5D2-3720-A7BB-74B7-EB440763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7700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2D8910-32F8-E045-C435-E82DBDBA520C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A50177-F904-5B22-1E43-B94D10465AA3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53D8448-3B8A-6D25-47C3-B873D3A5766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15C0FB4-26C4-8FBC-5606-D4B118EF8300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EDCC1E-ECAB-F528-AA60-A5E6C3035FF4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69DAFA3-EE5C-E406-15B3-0939D7CE6E3E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71526C-625B-9FF0-60CE-52B5CBEDC06A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FC953B-B92E-F98E-FAB1-A9B4E625DFB0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576832E0-C667-7B60-1BE5-9CA7D5811C72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39E39375-09C5-FDCF-3BBC-817CD49DEDFC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15BE04A-B12F-CF79-EF5F-5DEB63C4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5CCE23-02D5-E9E7-B924-D5D832E5A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E3A123E-127C-68A9-8615-C8F5CDE3A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DF6ED7-E0C0-ECB4-8BDE-0B4193884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9B041-09B3-8F9C-54FE-DEB37282DA54}"/>
              </a:ext>
            </a:extLst>
          </p:cNvPr>
          <p:cNvSpPr txBox="1"/>
          <p:nvPr/>
        </p:nvSpPr>
        <p:spPr>
          <a:xfrm>
            <a:off x="1617644" y="250119"/>
            <a:ext cx="485100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Entre la a) y la b), cuál es la mejor?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E3732-2009-04EB-772A-1F65850E2CDF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9D7DE5D-5C22-8596-B9D7-4CE754874C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C581AAB-E10D-B707-3A30-75E7C002904F}"/>
              </a:ext>
            </a:extLst>
          </p:cNvPr>
          <p:cNvSpPr txBox="1"/>
          <p:nvPr/>
        </p:nvSpPr>
        <p:spPr>
          <a:xfrm>
            <a:off x="7921252" y="2004862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latin typeface="Gill Sans MT" panose="020B0502020104020203" pitchFamily="34" charset="77"/>
              </a:rPr>
              <a:t>a)               b)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2D6391-7FD9-483A-EBA0-9DDE5C4A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DB8637-B94D-598B-04D6-6AD7BDB1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27247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54309-0749-3071-77A0-D78EDDCB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B35AE1-DE3B-1533-9FAD-37180E3CDEC6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07C31A-CB30-2B1D-66BA-1E91DA0ACEB2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78F083-9A12-75AE-063E-DC4F082EE1D7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C4FA23F-CF9C-841E-29C1-459DC50B3B1A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175B53F-92F1-734D-F5B7-7C8D59844A32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7F51E2E-31D3-3B4F-330B-3E586E6B08C1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19F73F6-1294-0417-32E5-D5DD3A84DA55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B07ACB-1844-7BEF-77FF-696C29157A1B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00E9BF-E3DE-1895-0EEF-E8358C17CA4A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50AF3D-5385-5F21-A1BA-9F82F86BC4E1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11943E0-9234-BB66-158C-6972D9870B1E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27C8DC-9D6E-71EB-D97C-409F7C31CC1D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A60608-2E53-D077-520A-9BC2281A949E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EB79FB6-54FB-6265-E939-0982B713C43B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583AD90-3F93-2F38-2FF1-D044C296F8E8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653EB13-D8D6-ADB2-88DA-D1AD4A3AF451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991ACA-7946-8F77-7926-4DD09E45C168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BE1BA85-FF03-34D7-283F-99EF5BD3237C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9352135-37B4-F2AE-D300-FE0A0C1F27A7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E2C67C1E-A3CD-5A6A-1B1C-11314C27C553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B0EDCB-8EB1-126A-1C3F-832CA8794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40533E-2419-C42F-7C8E-CF6B81949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0BF875-0B2B-4A53-38A4-D6E9295B6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4D45591-2BE5-5844-9A86-DC994C7D6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E036AC-DD23-B667-F43F-34578FA4D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D58782-FA6C-CA97-C63B-C26BCF1913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6AFA7D-61F7-0216-47DC-98B6D390AD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24C4EC0-FB47-92E7-FA14-A1FB64488D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66C337-E3AD-0A5B-983B-CFE021130161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EF650-2F5E-A7B8-F256-C588C1B15141}"/>
              </a:ext>
            </a:extLst>
          </p:cNvPr>
          <p:cNvSpPr txBox="1"/>
          <p:nvPr/>
        </p:nvSpPr>
        <p:spPr>
          <a:xfrm>
            <a:off x="1617644" y="250119"/>
            <a:ext cx="485100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Entre la c) y la d) cuál es mejor?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9803D-1D94-FB88-C6A1-C979B645F578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361AA-550F-288E-C249-A56ADF0BDCB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65FBF4C-32B5-7F22-3F8C-DEEA14E048D0}"/>
              </a:ext>
            </a:extLst>
          </p:cNvPr>
          <p:cNvSpPr txBox="1"/>
          <p:nvPr/>
        </p:nvSpPr>
        <p:spPr>
          <a:xfrm>
            <a:off x="7921252" y="2004862"/>
            <a:ext cx="2533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77"/>
              </a:rPr>
              <a:t>a)               b) </a:t>
            </a:r>
            <a:r>
              <a:rPr lang="en-CL" sz="1200" dirty="0">
                <a:latin typeface="Gill Sans MT" panose="020B0502020104020203" pitchFamily="34" charset="77"/>
              </a:rPr>
              <a:t>             c)              d)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58F018B6-1254-8D99-87B5-513F067D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38BD20FF-C677-64AF-D933-59C5D226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28D1A1-103E-61F4-C103-19C8A9B7A0BD}"/>
              </a:ext>
            </a:extLst>
          </p:cNvPr>
          <p:cNvSpPr/>
          <p:nvPr/>
        </p:nvSpPr>
        <p:spPr>
          <a:xfrm>
            <a:off x="2678654" y="2366682"/>
            <a:ext cx="6712772" cy="1893346"/>
          </a:xfrm>
          <a:prstGeom prst="rect">
            <a:avLst/>
          </a:prstGeom>
          <a:solidFill>
            <a:schemeClr val="bg1">
              <a:alpha val="6708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219552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4FA1E-9D64-1A02-961F-EA5F622A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E6478F-E71D-D67E-DBCA-A58CC1A28BF5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EFDAE9-527B-4187-AE6D-22FDCB890A4D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BF6349-5723-1618-BC18-E30D61A89A46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9997C32-9BC8-B961-CF3B-8DCB59F188A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F64DE3D-5922-AA40-093E-BDE45E15A119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A6722D2-7905-0CD3-96AA-844FE61A0DC5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134045D-81F1-621C-5D3C-36BE74F3738F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C64F1F-BD52-1B4C-B69D-F06E85D9288D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8E807D-DC56-9BD6-6CD9-09D8F03F12B3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7635FD-5814-7F54-0614-68CD38873A47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BBC0B3-6F54-9A4E-E72E-BA9F747B231E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15D9A9-D17E-8DC1-D13E-67BDE80233D4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BA4BA2B-E56E-FF2A-670C-5A73FFE371CC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35DD6E9-00CA-7171-6118-BACB236B20AE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704AAF8-5ABB-F184-E13B-39D21B5E4AF8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6996DCA-51E3-3903-0023-AF7C330CECA2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06C552-E9DB-1957-583B-371D7EF2E6CC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0E30E7-0D2A-5094-2F2A-AE088CEEA92A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764EFCE-8B0C-7AA0-8098-FAF6FD3E6DCF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C49B2F3-671B-1E69-505B-5E270AAEC7F2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6492FE-D9EA-5639-C441-2FFB7132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2EA45C-25D2-34C4-80A0-DB029977A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C775A6B-F077-6610-A68F-779BD5A97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23F430D-4E6D-68B2-D1EA-0D2B4B2AE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6BBF87-7D47-5FD4-A015-55756D301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65D309-315A-796A-4F3C-D5AF8C01D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84D9910-3EB5-FB95-15D0-3FC5DE79E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0A64364-3A25-A77B-6FA1-84CB74806E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50711D-EF54-4BDC-1A2A-E43503AE03D5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8F8BC-696C-3620-E330-456BDC4398B9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6612F3-F003-8B3A-1F53-2946E1418CC2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3BF45-E477-3221-9C59-089478729396}"/>
              </a:ext>
            </a:extLst>
          </p:cNvPr>
          <p:cNvSpPr txBox="1"/>
          <p:nvPr/>
        </p:nvSpPr>
        <p:spPr>
          <a:xfrm>
            <a:off x="7921252" y="2004862"/>
            <a:ext cx="2533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latin typeface="Gill Sans MT" panose="020B0502020104020203" pitchFamily="34" charset="77"/>
              </a:rPr>
              <a:t>a)               b)              c)              d)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32F247-64A9-D347-5594-98E2AE4E963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DB8A6BA8-F014-063A-1CA9-5C2307D4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D14F8AC8-2017-983D-6452-61DA8731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3526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3D0E-00A9-BF58-FABF-047C6D2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798486-6EA6-D505-4CE4-A07157992FF5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AAE161-0198-F35B-D31B-BC5230B8B566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D46E85-07F6-DEAA-6B10-C4DABB6B6E58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8BA93FD-2970-B83B-E0BD-3E6BB3A0C72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819DBF4-A063-CC9B-7D8D-A43607700351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CC6C7B6-17F9-EDEB-494E-44D0AA21B15C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BFC808C-8936-9D25-3A4D-734E915A426E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B2D8CA-5E7F-792B-0A4C-7C463D832531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2009E6-E686-61CB-0539-48B1356DA9E6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159724-7EB4-0FAA-DD73-4A5670FEFAC2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B1444F-A295-0733-8C27-D26C379E861C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AC919F-4456-BBD9-71D2-A60CF5439971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26DC67-AB7B-359D-1BD6-B5F655C845A6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2E100F-D04A-B822-0856-2104403725BB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9C2110B-C6DC-E9E6-A8DD-DC14E58E6400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3161161-A7A2-75C6-C2F6-07F64FA4A28E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4ECBD5-439D-0FCA-35D5-E90CE8F2C20E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4752BED-7980-0267-6B3B-72F0E182B2C0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D397364-E7A0-596E-253A-0EA89F543551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B34ECFE6-3A47-B97E-BE0B-95B8B60F0B42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B317B-3D03-E457-510A-51B1862F6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6D2C22-9806-C8F2-85E0-A202AF867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029C5A-AF00-A5E5-074B-E8A1D14A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0483950-6E1D-5B41-710E-956275F8D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F8FF57D-08F7-A98A-739E-2E9590B75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949B178-3152-E9AA-2CA6-1FB684522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D9F2977-1AB2-8042-B1C6-5F03E79820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7ED2070-95A2-1A61-99B5-C6EFA9F35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417E76-E343-2BD4-5D59-B66CD1DE1BB6}"/>
              </a:ext>
            </a:extLst>
          </p:cNvPr>
          <p:cNvSpPr txBox="1"/>
          <p:nvPr/>
        </p:nvSpPr>
        <p:spPr>
          <a:xfrm>
            <a:off x="6691239" y="250119"/>
            <a:ext cx="33313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4)   Cómo medir la separabilidad?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0A29D-0EFE-D500-02C3-D05D78C432CB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3FE25-6626-79FA-E3DF-B469D71548C9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E3F9DA-341F-66D7-7E3C-679EA5A1C9E8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46BAE1A8-B1CA-544D-81EF-E20DCFD8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EA4DFE96-2F98-4527-A473-657A6A30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92983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E559-06F0-5EF8-F935-F8BC2CC9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07280F-2D7D-0535-8F5A-4F1D730DEFFA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2F5D05-D92C-120F-30AC-396D84204E3A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444A2F-1394-8D8B-99F7-0B2DA79D7EE8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788A89D-1612-2979-8F21-3ECFA19827F0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B8F1A8D-495A-772B-EBC0-80E735F118E9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F6DB5B1-0E7D-1A07-ECBA-3C3D89F7220B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DD20C21-BCEE-9266-4248-152264899A11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EDC88F-785D-A600-2575-385EA7CD04C2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C5A45F-0520-3848-74BD-0BA2ED92643C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C2C88E-4D53-A936-C4D6-8ACDA3A36D91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01B578-201D-F2D1-B426-39FF68E24096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383B08-CBD9-DD7E-DE40-BEDDA70F4D38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373423-1C16-CE66-B842-9013A7D00414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AE85474-94EF-BD8C-BDAF-496F09E54639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FA811C0-0A41-40D4-2F53-C95C0002D04B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158B3BE-708F-74E1-55F0-A4DDB199CE3B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604969-ED27-5A5F-C004-8631DFF0E2E7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146E10-1384-1DF9-E895-C487695ED48F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F26FA78-9560-C60B-0501-B0C6292A806C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D5FC871-DEF7-FBC8-052A-BE0E93BF6D46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F7959C-CDE1-8F97-3FE6-4E56AD223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7ECD25-8AF8-2FB6-B85A-BA9112CE6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DDF7769-39F2-3118-E806-F17E27F54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7662D4-5A26-CCEA-9DBF-2BC908A35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10C188A-2B9C-BC6F-9554-886991B6F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CEFA807-5A8D-1BE8-8D01-6369CD7AA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5BA29F4-AB39-FD4B-35C3-A9F87CCD25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6B94238-5FCB-42B0-D3B6-8CA345D258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AF8518-E6F5-67EB-87A2-256E4523DC2C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D7DB9-D5D1-A0A4-4957-04F8BD0577AA}"/>
              </a:ext>
            </a:extLst>
          </p:cNvPr>
          <p:cNvSpPr txBox="1"/>
          <p:nvPr/>
        </p:nvSpPr>
        <p:spPr>
          <a:xfrm>
            <a:off x="6691240" y="250118"/>
            <a:ext cx="37939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4)   Cómo medir la separabilidad?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(qué nota le ponemos, y cómo calcular</a:t>
            </a:r>
          </a:p>
          <a:p>
            <a:r>
              <a:rPr lang="en-CL" dirty="0">
                <a:latin typeface="Gill Sans MT" panose="020B0502020104020203" pitchFamily="34" charset="77"/>
              </a:rPr>
              <a:t>esta nota de manera objetiva?)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1DA4A-8EEB-74BB-FF71-545CBAB137D9}"/>
              </a:ext>
            </a:extLst>
          </p:cNvPr>
          <p:cNvSpPr txBox="1"/>
          <p:nvPr/>
        </p:nvSpPr>
        <p:spPr>
          <a:xfrm>
            <a:off x="4029383" y="3926703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J = 7.0                                                     J = 5.6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E95EA7-5190-C6F8-92B1-8B95988F59AC}"/>
              </a:ext>
            </a:extLst>
          </p:cNvPr>
          <p:cNvSpPr txBox="1"/>
          <p:nvPr/>
        </p:nvSpPr>
        <p:spPr>
          <a:xfrm>
            <a:off x="4073697" y="5794881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J = 4.1                                                     J = 2.7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C9E25F-86F0-82E2-7C76-E012107F6328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6A1204-1561-41E4-18A7-3FD2592B8C8A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991115F-61BB-A075-F79D-23159A41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8B9BCD02-ADB0-6402-492E-548923A1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34071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1607-C6FD-C2D7-5BE4-ACEF8ED4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F4876A-218A-3CCC-20FE-FCA5D1A5BEC7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508702E-183A-F3D8-A52F-E4C02EACABD9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79EAE81-201C-5FA9-5CA1-0FBB47D94E45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CFD091-B2F1-B26F-DAB2-053883057914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E72792-AB5F-7C72-F2AC-32A12208AA4C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7336FD-4F18-4C57-A0CD-3218348CA2FA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7B200BD-64AC-FE81-4BD4-B5E60BC9E05D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997EB52-AF97-D1CB-3F0A-28AAE048B76D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59FCA432-518A-92F2-0D1F-2DC7A007D1FE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EE90E0-CB92-EFE5-7C1E-42D48463C00B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372C025-0FD2-A18E-0792-CB8CFA095BB3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F2BC3A-840A-ADD2-A285-12FD2B2CC729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DCADD94-35FB-9790-1913-D420E5805575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15E29D45-0F23-AE9E-418C-B9D7B4B367E1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42EA5F26-9800-BF4E-674D-3D36759DE5EF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80712C0-678B-174B-CD53-FDE6568DD0AC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A8107C5-CE6F-BC88-C0F8-17B2FD5130E9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D5449-6571-A7A4-BC36-0BF3384F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628B5-2D53-B013-34A2-030049A0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20937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D1FC-8560-C653-806F-2FE9A3CC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387428-B483-614B-1A7E-2A0F999B6FD4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B07BC63-B11E-1D5D-6768-223E6A8D7B58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F24410F-165C-1186-F30C-A2CBC11B1DDD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951D4A-89F2-241D-436B-40B2F8A2FF02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0FC445-C760-A853-C0B9-4692AD72821A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F0DA3B-94DF-3F4C-EA03-20609275F588}"/>
              </a:ext>
            </a:extLst>
          </p:cNvPr>
          <p:cNvSpPr txBox="1"/>
          <p:nvPr/>
        </p:nvSpPr>
        <p:spPr>
          <a:xfrm>
            <a:off x="2849512" y="472273"/>
            <a:ext cx="442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IDEA:                                          maximizar!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AC783E-BE4A-BA78-6DDE-B5D65E09964E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112D580-7257-89F4-7BC7-5912AF606144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D032A3B7-EE92-9BEF-F145-D716AF0221A9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00E43522-4C92-507F-C8E2-8CE87D184C39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972707-A534-5078-460B-D3487334CA0E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2A5A0C1-99F3-4B06-8908-7518913B3E84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B9DBBB-7075-1C53-A123-F461702B1E35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A71BDA4-B65E-CD4D-E9AB-226C1533146A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FB785730-4D02-9605-2307-C58221EAFE09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F40CA10A-7741-CF14-28EE-0175CFF0F6AF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1AAEECD-9601-164C-D38A-C28B71FA73FF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B7F0446-0C9F-6B6D-8214-166BEE164F00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EB76AC-7A45-5503-5278-F632B398DDF2}"/>
              </a:ext>
            </a:extLst>
          </p:cNvPr>
          <p:cNvSpPr txBox="1"/>
          <p:nvPr/>
        </p:nvSpPr>
        <p:spPr>
          <a:xfrm>
            <a:off x="3301298" y="2876018"/>
            <a:ext cx="6615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separación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mayor sea la distancia entre las medias, mejor es la separación.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AD6E2C7-1D0D-BD9E-FDF4-CE5DF84D1FD1}"/>
              </a:ext>
            </a:extLst>
          </p:cNvPr>
          <p:cNvSpPr/>
          <p:nvPr/>
        </p:nvSpPr>
        <p:spPr>
          <a:xfrm>
            <a:off x="978568" y="1267326"/>
            <a:ext cx="10282990" cy="23902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746AF-94A5-CA3C-1599-61CE724A1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5" r="33524" b="54547"/>
          <a:stretch>
            <a:fillRect/>
          </a:stretch>
        </p:blipFill>
        <p:spPr>
          <a:xfrm>
            <a:off x="4123732" y="430567"/>
            <a:ext cx="1796483" cy="40552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CAC45-DA1B-58FF-9130-D6151706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839A7B4-AB81-9DDE-DC5B-4A73F5AF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1048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1D9-CE95-7AF2-8EBD-3C07E34D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F7983E9-3F02-BCD4-5B72-7533DD2D3D48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FD95B85-E7A4-FCBC-05EE-B01165F10985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567F838D-C15F-B14D-355D-A101ACCC1BE6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7F1E80D-00B2-C44E-B71C-7AF9539E28F6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7946A46-D535-5517-AFB3-F3F968D4046C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3C63D9-9E86-ED06-2873-9DC082EBE7CC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7B1C4E25-59D3-5D6A-258E-20AF4762E71D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DA9628B0-B23C-E004-324C-1C7CAE1A433D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9E20E014-8DB7-91C7-0E19-1223DE7BAAF9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FEE8C4C-79EB-7A29-76FE-F18A5AD69533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CFCB88B-19F3-A5E1-7D43-A40307DDC4D1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A2355B-95EC-7604-45A3-574779DD3B15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4B70F74-7318-B841-8548-1B50D97CF8EB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5E789746-6965-BC78-90D0-AFA35DB5E38B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687D38B7-2E07-825E-D939-F219CEEF6E69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46639DA-72FA-6262-3D60-D6DAA18ED44D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E94CFCC-B0FD-14F0-BA66-1829F9D13E99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7EDC4-978C-B273-ACD2-A14A462D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76808A0-92CF-9CC2-A9A1-067B3640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34246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E301-924C-DA9D-1DAA-8CBF3AB8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80B671B-76D7-E62F-93DF-38DECDE1A716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C7BEA2E-7B5B-FB13-B87B-F1BDE6D2D015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E4FA2A64-7FA3-43E8-7E72-16840BA4DDDA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596E381-DE04-B46B-42C0-29C987D5460E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A113D2-2168-AA8D-66ED-A8DB430A4A64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220C3C-EB6C-3503-2C62-73CC636BB060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E79A610-551D-1664-8F72-3D5A2CA2A886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A7E3825A-8996-C7FB-B63E-86DBE73B9B0D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5056C49D-5E2B-38EC-9B60-D5395C7F5C49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E9191A3-54F1-195A-8144-BC3D3495D1A2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C19A574-FA97-8860-A4AC-9A7E0B623AAB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182E76-0DFA-EFB9-129D-6519A42DD6F7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307E4611-F918-6ACF-1628-86A04203355B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9F59FAE8-9108-978E-2858-600B8E00AAD7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BE2D30DA-F549-6F58-8850-8AA6B780EBB5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17E6EC1-EFF7-3C61-C72F-7E68A9841F6B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B87381C-5DB6-802F-94F8-21104E9277A3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9BBAB-2ACD-5957-D436-39BCFF60B780}"/>
              </a:ext>
            </a:extLst>
          </p:cNvPr>
          <p:cNvSpPr txBox="1"/>
          <p:nvPr/>
        </p:nvSpPr>
        <p:spPr>
          <a:xfrm>
            <a:off x="3705741" y="5269265"/>
            <a:ext cx="5468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dispersión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más angostas las campanas mejor es la separación.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2648C0-CBC4-6DD3-2DC7-D970A3F12431}"/>
              </a:ext>
            </a:extLst>
          </p:cNvPr>
          <p:cNvSpPr/>
          <p:nvPr/>
        </p:nvSpPr>
        <p:spPr>
          <a:xfrm>
            <a:off x="978568" y="3796732"/>
            <a:ext cx="10282990" cy="2390274"/>
          </a:xfrm>
          <a:prstGeom prst="round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0DAF8-CE5A-5FDB-DAEF-38998E920976}"/>
              </a:ext>
            </a:extLst>
          </p:cNvPr>
          <p:cNvSpPr txBox="1"/>
          <p:nvPr/>
        </p:nvSpPr>
        <p:spPr>
          <a:xfrm>
            <a:off x="2849512" y="6327175"/>
            <a:ext cx="437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IDEA:                                          minimizar!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ED159-7948-1CEA-39BD-393EB8499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5" t="56390" r="33524" b="2213"/>
          <a:stretch>
            <a:fillRect/>
          </a:stretch>
        </p:blipFill>
        <p:spPr>
          <a:xfrm>
            <a:off x="4123732" y="6351856"/>
            <a:ext cx="1796483" cy="3693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BDA5D-0B8B-60A9-B00E-E1D8C991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C033983-D816-EC55-9993-20EFCF9B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65826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9C3C-C266-E716-7684-D4145DA3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357727-7C97-73DB-23D7-29B5A6E9F1DE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8B1A98-0AB9-30E7-745A-1F182CAB3866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F1A42AA-344F-232F-B354-58B45C3EA0DC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64BF02-87D2-9661-D310-609924CB26DC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B9B4400-5B90-0A09-0E73-830A670C1C3E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15748D-5560-5F24-CB57-BB255953AF58}"/>
              </a:ext>
            </a:extLst>
          </p:cNvPr>
          <p:cNvSpPr txBox="1"/>
          <p:nvPr/>
        </p:nvSpPr>
        <p:spPr>
          <a:xfrm>
            <a:off x="2849512" y="472273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 GENERAL: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1E77AC-4F4C-99C7-6229-93BF1D2484B8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7B13FF0-4D04-2386-BEB9-A20882864975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E00AA8EF-9F51-C42A-0B53-832AFA1F3210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CA7E3BB6-54C4-9AE6-E224-B3620974B68D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0B201C4-7005-FCB7-C2B9-196FF1CD2632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0FD552C-D177-A79B-51F4-26C1A39D7064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9F7C45-46A3-B954-4AA7-AB21EA2276F1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2BD7F97-B9AC-CCD4-F798-305BCE427535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3926340-CDBD-A151-78F1-33006DA10DBC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BB5B1FA-26F9-6D74-E5C8-F63B23C4ABAB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663A41-8048-E731-69CE-BAB8758328CD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D6F764B-873B-F50C-5C32-217D578B4201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7B5E7B4-D45F-E6E7-E264-C1946F75A8A1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B6E2C62F-F2DC-03C1-8687-07FB54BD8A5D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C625830A-CC1F-BD6A-73BF-503E8B0C8DA2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BFFA26-5AC9-BAE8-5CDE-CD4FA2D4DC1B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F5268E1-51C2-2817-41B3-1E2DA5112E0B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3C5E14-A42D-873C-42CF-AC836273A310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6087AA-4FB5-E556-B68D-0D513780F0B1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93C09EA6-D71C-DA99-B31C-82A761634621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E786B10B-A7B1-515C-EAFC-F3CEE9873BBE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DB00E4A-2B41-BE60-C9D3-189CCE7475E1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FD9630C-E67C-FF09-F85F-0ABED14517B4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45933C-5B6A-57C2-2EF2-5589BE11C511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B735B87-E697-1FA4-DBF9-357302C0AB9D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167259A9-DC73-FA80-371B-A4EEE3D6ADB9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8B4A6CA6-3AAB-5355-F69D-95782FDEB2DF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9FBCD2F-1617-A6CA-4847-4D97EC0CD6C1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E88CFE3-C1C4-C640-95C9-467B113D4E6D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C88535-108E-A940-F7CB-02991403FBD1}"/>
              </a:ext>
            </a:extLst>
          </p:cNvPr>
          <p:cNvSpPr/>
          <p:nvPr/>
        </p:nvSpPr>
        <p:spPr>
          <a:xfrm>
            <a:off x="978568" y="1267326"/>
            <a:ext cx="10282990" cy="23902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6962B4-F1EF-0E88-1C66-5DB86EC7DE59}"/>
              </a:ext>
            </a:extLst>
          </p:cNvPr>
          <p:cNvSpPr/>
          <p:nvPr/>
        </p:nvSpPr>
        <p:spPr>
          <a:xfrm>
            <a:off x="978568" y="3796732"/>
            <a:ext cx="10282990" cy="2390274"/>
          </a:xfrm>
          <a:prstGeom prst="round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367D0-34E7-22A9-1611-4C7DB0CC8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114" y="143750"/>
            <a:ext cx="3558688" cy="892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A1E293-CAD7-C98B-052D-5B785B691CFF}"/>
              </a:ext>
            </a:extLst>
          </p:cNvPr>
          <p:cNvSpPr txBox="1"/>
          <p:nvPr/>
        </p:nvSpPr>
        <p:spPr>
          <a:xfrm>
            <a:off x="3301298" y="2876018"/>
            <a:ext cx="6615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separación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mayor sea la distancia entre las medias, mejor es la separación.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D7F3E-AE01-A532-8B8C-E3EE8406BB60}"/>
              </a:ext>
            </a:extLst>
          </p:cNvPr>
          <p:cNvSpPr txBox="1"/>
          <p:nvPr/>
        </p:nvSpPr>
        <p:spPr>
          <a:xfrm>
            <a:off x="3705741" y="5269265"/>
            <a:ext cx="5468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dispersión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más angostas las campanas mejor es la separación.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E9B88B-BA0B-DF5D-CD0A-4A8A683C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11A1A84-8570-319D-9159-633D47CF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8127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DDF2BD-8357-C787-48D0-ABA08105E0D7}"/>
              </a:ext>
            </a:extLst>
          </p:cNvPr>
          <p:cNvSpPr txBox="1"/>
          <p:nvPr/>
        </p:nvSpPr>
        <p:spPr>
          <a:xfrm>
            <a:off x="2753066" y="2463351"/>
            <a:ext cx="668586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200" dirty="0">
                <a:latin typeface="Gill Sans MT" panose="020B0502020104020203" pitchFamily="34" charset="77"/>
              </a:rPr>
              <a:t>Con </a:t>
            </a:r>
            <a:r>
              <a:rPr lang="en-CL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una sola característica </a:t>
            </a:r>
            <a:r>
              <a:rPr lang="en-CL" sz="3200" dirty="0">
                <a:latin typeface="Gill Sans MT" panose="020B0502020104020203" pitchFamily="34" charset="77"/>
              </a:rPr>
              <a:t>es sencillo: </a:t>
            </a:r>
          </a:p>
          <a:p>
            <a:pPr algn="ctr"/>
            <a:r>
              <a:rPr lang="en-CL" sz="3200" dirty="0">
                <a:latin typeface="Gill Sans MT" panose="020B0502020104020203" pitchFamily="34" charset="77"/>
              </a:rPr>
              <a:t>hay que medir medias y varianzas</a:t>
            </a:r>
          </a:p>
          <a:p>
            <a:pPr algn="ctr"/>
            <a:r>
              <a:rPr lang="en-US" sz="3200" dirty="0">
                <a:latin typeface="Gill Sans MT" panose="020B0502020104020203" pitchFamily="34" charset="77"/>
              </a:rPr>
              <a:t>y</a:t>
            </a:r>
            <a:r>
              <a:rPr lang="en-CL" sz="3200" dirty="0">
                <a:latin typeface="Gill Sans MT" panose="020B0502020104020203" pitchFamily="34" charset="77"/>
              </a:rPr>
              <a:t> calcular J,</a:t>
            </a:r>
          </a:p>
          <a:p>
            <a:pPr algn="ctr"/>
            <a:r>
              <a:rPr lang="en-CL" sz="3200" dirty="0">
                <a:latin typeface="Gill Sans MT" panose="020B0502020104020203" pitchFamily="34" charset="77"/>
              </a:rPr>
              <a:t>pero ¿qué pasa con </a:t>
            </a:r>
            <a:r>
              <a:rPr lang="en-CL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dos características</a:t>
            </a:r>
            <a:r>
              <a:rPr lang="en-CL" sz="3200" dirty="0">
                <a:latin typeface="Gill Sans MT" panose="020B0502020104020203" pitchFamily="34" charset="77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0719D-0ECF-945C-5C32-E7EC8FEC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656" y="1228270"/>
            <a:ext cx="3558688" cy="89217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4740E-F25A-F030-9BAF-969F9EDA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511FAB-E463-2E04-26C8-9430CD0A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4070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815" y="2206951"/>
            <a:ext cx="8577691" cy="26663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44815" y="1899538"/>
            <a:ext cx="6789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Malo                                                   Bueno                                                 Muy bueno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996910" y="1872960"/>
            <a:ext cx="2729366" cy="3247321"/>
          </a:xfrm>
          <a:prstGeom prst="roundRect">
            <a:avLst>
              <a:gd name="adj" fmla="val 6379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7668197" y="1872960"/>
            <a:ext cx="2729366" cy="3247321"/>
          </a:xfrm>
          <a:prstGeom prst="roundRect">
            <a:avLst>
              <a:gd name="adj" fmla="val 5908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831448" y="1872960"/>
            <a:ext cx="2729366" cy="3247321"/>
          </a:xfrm>
          <a:prstGeom prst="roundRect">
            <a:avLst>
              <a:gd name="adj" fmla="val 5123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2003410" y="2985315"/>
            <a:ext cx="2632091" cy="2030498"/>
            <a:chOff x="479409" y="2985315"/>
            <a:chExt cx="2632091" cy="2030498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2484438" y="3226182"/>
              <a:ext cx="627062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905451" y="3135198"/>
              <a:ext cx="598705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838685" y="2985315"/>
            <a:ext cx="2632091" cy="2030498"/>
            <a:chOff x="479409" y="2985315"/>
            <a:chExt cx="2632091" cy="2030498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79663" y="3226182"/>
              <a:ext cx="731837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905451" y="3135198"/>
              <a:ext cx="430430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672879" y="2985315"/>
            <a:ext cx="2660066" cy="2030498"/>
            <a:chOff x="479409" y="2985315"/>
            <a:chExt cx="2660066" cy="2030498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2367443" y="3222633"/>
              <a:ext cx="772032" cy="4527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905451" y="3135198"/>
              <a:ext cx="243392" cy="1754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/>
          <p:cNvCxnSpPr/>
          <p:nvPr/>
        </p:nvCxnSpPr>
        <p:spPr>
          <a:xfrm>
            <a:off x="8870447" y="3178144"/>
            <a:ext cx="487867" cy="3889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1C189B-F69A-E26C-AAE5-130B14AF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1A64878-4742-899B-3C23-5C48B0E8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07713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42" y="459047"/>
            <a:ext cx="8577691" cy="2666388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031537" y="1237411"/>
            <a:ext cx="2632091" cy="2030498"/>
            <a:chOff x="479409" y="2985315"/>
            <a:chExt cx="2632091" cy="2030498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2484438" y="3226182"/>
              <a:ext cx="627062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905451" y="3135198"/>
              <a:ext cx="598705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866812" y="1237411"/>
            <a:ext cx="2632091" cy="2030498"/>
            <a:chOff x="479409" y="2985315"/>
            <a:chExt cx="2632091" cy="2030498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79663" y="3226182"/>
              <a:ext cx="731837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905451" y="3135198"/>
              <a:ext cx="430430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701006" y="1237411"/>
            <a:ext cx="2660066" cy="2030498"/>
            <a:chOff x="479409" y="2985315"/>
            <a:chExt cx="2660066" cy="2030498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2367443" y="3222633"/>
              <a:ext cx="772032" cy="4527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905451" y="3135198"/>
              <a:ext cx="243392" cy="1754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/>
          <p:cNvCxnSpPr/>
          <p:nvPr/>
        </p:nvCxnSpPr>
        <p:spPr>
          <a:xfrm>
            <a:off x="8898574" y="1430240"/>
            <a:ext cx="487867" cy="3889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 Shot 2015-02-24 at 9.34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088" y="3510775"/>
            <a:ext cx="8444335" cy="280421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7696324" y="125055"/>
            <a:ext cx="2729366" cy="6440934"/>
          </a:xfrm>
          <a:prstGeom prst="roundRect">
            <a:avLst>
              <a:gd name="adj" fmla="val 5908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859575" y="125055"/>
            <a:ext cx="2729366" cy="6440934"/>
          </a:xfrm>
          <a:prstGeom prst="roundRect">
            <a:avLst>
              <a:gd name="adj" fmla="val 5123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2025037" y="125055"/>
            <a:ext cx="2729366" cy="6440934"/>
          </a:xfrm>
          <a:prstGeom prst="roundRect">
            <a:avLst>
              <a:gd name="adj" fmla="val 6379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972721" y="3643998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838708" y="3643998"/>
            <a:ext cx="2783867" cy="2663696"/>
            <a:chOff x="584800" y="3643998"/>
            <a:chExt cx="2783867" cy="2663696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697473" y="3652296"/>
            <a:ext cx="2783867" cy="2663696"/>
            <a:chOff x="584800" y="3643998"/>
            <a:chExt cx="2783867" cy="2663696"/>
          </a:xfrm>
        </p:grpSpPr>
        <p:cxnSp>
          <p:nvCxnSpPr>
            <p:cNvPr id="54" name="Straight Arrow Connector 53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99D8311-C34D-2399-7860-4318374BFEDC}"/>
              </a:ext>
            </a:extLst>
          </p:cNvPr>
          <p:cNvSpPr txBox="1"/>
          <p:nvPr/>
        </p:nvSpPr>
        <p:spPr>
          <a:xfrm>
            <a:off x="2044815" y="132732"/>
            <a:ext cx="6789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Malo                                                   Bueno                                                 Muy bueno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55103B-C3D0-CA20-82EB-CD33A17E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5528427-7E4A-B1BF-DB69-3D13D8B4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10032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3327386"/>
            <a:ext cx="8681760" cy="2595193"/>
          </a:xfrm>
          <a:prstGeom prst="rect">
            <a:avLst/>
          </a:prstGeom>
        </p:spPr>
      </p:pic>
      <p:pic>
        <p:nvPicPr>
          <p:cNvPr id="5" name="Picture 4" descr="Screen Shot 2015-02-24 at 9.34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840" y="0"/>
            <a:ext cx="8444335" cy="280421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862473" y="133223"/>
            <a:ext cx="2783867" cy="2663696"/>
            <a:chOff x="584800" y="3643998"/>
            <a:chExt cx="2783867" cy="2663696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728460" y="133223"/>
            <a:ext cx="2783867" cy="2663696"/>
            <a:chOff x="584800" y="3643998"/>
            <a:chExt cx="2783867" cy="2663696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587225" y="141521"/>
            <a:ext cx="2783867" cy="2663696"/>
            <a:chOff x="584800" y="3643998"/>
            <a:chExt cx="2783867" cy="2663696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865463" y="325888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31450" y="325888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590215" y="326718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00ADBB-9F48-474A-8009-F7195552A84D}"/>
              </a:ext>
            </a:extLst>
          </p:cNvPr>
          <p:cNvGrpSpPr/>
          <p:nvPr/>
        </p:nvGrpSpPr>
        <p:grpSpPr>
          <a:xfrm>
            <a:off x="1728639" y="4509914"/>
            <a:ext cx="8910414" cy="2391740"/>
            <a:chOff x="155787" y="3826331"/>
            <a:chExt cx="8910414" cy="239174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B9B4B3-24D4-BE49-8913-3ED0902272AC}"/>
                </a:ext>
              </a:extLst>
            </p:cNvPr>
            <p:cNvSpPr txBox="1"/>
            <p:nvPr/>
          </p:nvSpPr>
          <p:spPr>
            <a:xfrm>
              <a:off x="1227322" y="3828468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0.45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C0724A-5ABE-C642-90DD-045CB87A154C}"/>
                </a:ext>
              </a:extLst>
            </p:cNvPr>
            <p:cNvSpPr txBox="1"/>
            <p:nvPr/>
          </p:nvSpPr>
          <p:spPr>
            <a:xfrm>
              <a:off x="4190057" y="3828468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3.87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E2A12A-0769-BA44-83BA-80763981159D}"/>
                </a:ext>
              </a:extLst>
            </p:cNvPr>
            <p:cNvSpPr txBox="1"/>
            <p:nvPr/>
          </p:nvSpPr>
          <p:spPr>
            <a:xfrm>
              <a:off x="6961252" y="3826331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6.78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6D81FFF-F329-ED4C-A9FC-201EA2CBC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5201" y="4478171"/>
              <a:ext cx="2921000" cy="17399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365FB57-9471-0F47-8167-5B8AA5674B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115"/>
            <a:stretch/>
          </p:blipFill>
          <p:spPr>
            <a:xfrm>
              <a:off x="155787" y="4506334"/>
              <a:ext cx="3009900" cy="163176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1D728A7-C4A5-564D-905A-2D03290C0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6767" y="4417613"/>
              <a:ext cx="2510466" cy="1515853"/>
            </a:xfrm>
            <a:prstGeom prst="rect">
              <a:avLst/>
            </a:prstGeom>
          </p:spPr>
        </p:pic>
      </p:grp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7430CA2D-55EC-03C8-4ECA-6EBDEDB0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4E3714B2-C447-9581-1DC3-1F223CC2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37127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D00D-9C07-818F-FCBC-6FA2E0E9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>
            <a:extLst>
              <a:ext uri="{FF2B5EF4-FFF2-40B4-BE49-F238E27FC236}">
                <a16:creationId xmlns:a16="http://schemas.microsoft.com/office/drawing/2014/main" id="{C2C40185-C09C-0F47-C492-609024868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2541566"/>
            <a:ext cx="8681760" cy="259519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C222361-22D7-F642-7FCD-2E8251920061}"/>
              </a:ext>
            </a:extLst>
          </p:cNvPr>
          <p:cNvGrpSpPr/>
          <p:nvPr/>
        </p:nvGrpSpPr>
        <p:grpSpPr>
          <a:xfrm>
            <a:off x="1865463" y="247306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203E554-9A18-1C86-8F32-4442250E7058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BF7BE3-E827-6A49-A894-69C7A0B1C891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D9F8187-1EA4-F249-5B42-5118569F5DAA}"/>
                </a:ext>
              </a:extLst>
            </p:cNvPr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5EFBFD-AD2F-9F2B-993D-34EF02A9E0C0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81ACB9-5B84-F9D3-DE67-76C464257A04}"/>
              </a:ext>
            </a:extLst>
          </p:cNvPr>
          <p:cNvGrpSpPr/>
          <p:nvPr/>
        </p:nvGrpSpPr>
        <p:grpSpPr>
          <a:xfrm>
            <a:off x="4731450" y="247306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7B52CBB-1C7D-7324-0979-244708CA3CFB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444A08-C039-AB7F-EB26-0B16A88794CE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D8867AE-FC2D-AF3A-2AB9-7A68D4440FC1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DC711D-4C8B-1CF0-C4E2-ED5B5F6126E5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DB47DC-2696-55C4-106A-610C1C6587A7}"/>
              </a:ext>
            </a:extLst>
          </p:cNvPr>
          <p:cNvGrpSpPr/>
          <p:nvPr/>
        </p:nvGrpSpPr>
        <p:grpSpPr>
          <a:xfrm>
            <a:off x="7590215" y="248136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740EEB9-EA32-AF51-869B-1E5653C725A9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50B156-DCC8-AD6A-183D-FDC3C214B98A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3B81A1D-03CD-B320-82A8-BF2F187008F9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C62F827-7D70-B4A5-E400-FB73DFB3EB1B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EA596E-3439-367C-E891-8AE813CFB418}"/>
              </a:ext>
            </a:extLst>
          </p:cNvPr>
          <p:cNvSpPr txBox="1"/>
          <p:nvPr/>
        </p:nvSpPr>
        <p:spPr>
          <a:xfrm>
            <a:off x="2886299" y="437005"/>
            <a:ext cx="651710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Con más características: 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Hay que maximizar las distancias entre los centros de cada nube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Aquí: Una nube es el conjunto de puntos que pertence a una clase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7DFC8D-13F4-95A9-D262-C387B80E08F3}"/>
              </a:ext>
            </a:extLst>
          </p:cNvPr>
          <p:cNvCxnSpPr/>
          <p:nvPr/>
        </p:nvCxnSpPr>
        <p:spPr>
          <a:xfrm>
            <a:off x="3100388" y="3429000"/>
            <a:ext cx="300037" cy="30003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4FF7CB-16FD-88A1-4146-549D24322A89}"/>
              </a:ext>
            </a:extLst>
          </p:cNvPr>
          <p:cNvCxnSpPr>
            <a:cxnSpLocks/>
          </p:cNvCxnSpPr>
          <p:nvPr/>
        </p:nvCxnSpPr>
        <p:spPr>
          <a:xfrm>
            <a:off x="6142635" y="3484517"/>
            <a:ext cx="586502" cy="50142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B81E400-BABC-198A-CDEC-CFF21E8FEF78}"/>
              </a:ext>
            </a:extLst>
          </p:cNvPr>
          <p:cNvCxnSpPr>
            <a:cxnSpLocks/>
          </p:cNvCxnSpPr>
          <p:nvPr/>
        </p:nvCxnSpPr>
        <p:spPr>
          <a:xfrm>
            <a:off x="8687028" y="3328309"/>
            <a:ext cx="1106584" cy="1254283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EA0C5-F37F-5788-8B93-F4BD8188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777FC43-A3F6-E212-F809-6A634F71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94717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DE9E-AFBB-FF1A-ED28-533D4241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>
            <a:extLst>
              <a:ext uri="{FF2B5EF4-FFF2-40B4-BE49-F238E27FC236}">
                <a16:creationId xmlns:a16="http://schemas.microsoft.com/office/drawing/2014/main" id="{6A1E5B6A-7AE7-E15B-117D-BA256C11B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2541566"/>
            <a:ext cx="8681760" cy="259519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CF25337-821D-A5E4-4840-BC48498BEB66}"/>
              </a:ext>
            </a:extLst>
          </p:cNvPr>
          <p:cNvGrpSpPr/>
          <p:nvPr/>
        </p:nvGrpSpPr>
        <p:grpSpPr>
          <a:xfrm>
            <a:off x="1865463" y="247306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9269C7F-5911-9E8F-D181-8560762B5DF6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D3999E-9EF3-C128-8784-6B14B6AEC53B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2838B4F-B4B3-9BC2-E320-A40F5DE66C75}"/>
                </a:ext>
              </a:extLst>
            </p:cNvPr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245DD6-0F79-910F-4BB6-301FC7DDC12D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A6661E-14FD-2EE4-8AFA-2F9FD365105E}"/>
              </a:ext>
            </a:extLst>
          </p:cNvPr>
          <p:cNvGrpSpPr/>
          <p:nvPr/>
        </p:nvGrpSpPr>
        <p:grpSpPr>
          <a:xfrm>
            <a:off x="4731450" y="247306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C565C6A-516B-9866-B47C-E577716E4711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45FE5B-B96C-50FF-826A-44A55171861A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37D115B-988F-E8BE-8419-31AD509B5EAF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E82C3C8-850D-41E8-8E26-F3ADE8C2F16F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EB18CC-9813-BCE7-F519-54E52AE07141}"/>
              </a:ext>
            </a:extLst>
          </p:cNvPr>
          <p:cNvGrpSpPr/>
          <p:nvPr/>
        </p:nvGrpSpPr>
        <p:grpSpPr>
          <a:xfrm>
            <a:off x="7590215" y="248136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8E17495-E2E6-4210-63FA-B60EA60C50C0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868501-C431-FC6B-0012-46337E050AA6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1EF50B5-50FA-1A7B-3A51-3D13138DA245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629F887-3E20-0377-57E0-E7204DB13576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B9D1B94-A847-59A0-1B13-6EC6ECEB733C}"/>
              </a:ext>
            </a:extLst>
          </p:cNvPr>
          <p:cNvSpPr txBox="1"/>
          <p:nvPr/>
        </p:nvSpPr>
        <p:spPr>
          <a:xfrm>
            <a:off x="2886299" y="437005"/>
            <a:ext cx="651710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Con más características: 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Hay que maximizar las distancias entre los centros de cada nube</a:t>
            </a:r>
          </a:p>
          <a:p>
            <a:pPr marL="342900" indent="-342900">
              <a:buAutoNum type="arabicParenR"/>
            </a:pPr>
            <a:r>
              <a:rPr lang="en-US" dirty="0">
                <a:latin typeface="Gill Sans MT" panose="020B0502020104020203" pitchFamily="34" charset="77"/>
              </a:rPr>
              <a:t>H</a:t>
            </a:r>
            <a:r>
              <a:rPr lang="en-CL" dirty="0">
                <a:latin typeface="Gill Sans MT" panose="020B0502020104020203" pitchFamily="34" charset="77"/>
              </a:rPr>
              <a:t>ay que minimizar la dispersión de cada nube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Aquí: Una nube es el conjunto de puntos que pertence a una clase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F47D6-CA2D-2BCC-089C-F1688789F193}"/>
              </a:ext>
            </a:extLst>
          </p:cNvPr>
          <p:cNvSpPr txBox="1"/>
          <p:nvPr/>
        </p:nvSpPr>
        <p:spPr>
          <a:xfrm>
            <a:off x="2691726" y="5553607"/>
            <a:ext cx="654557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Cómo escoger las mejores características? Se escogen aquelllas que: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maximicen las distancias entre los centros de cada nube, y </a:t>
            </a:r>
          </a:p>
          <a:p>
            <a:pPr marL="342900" indent="-342900">
              <a:buAutoNum type="arabicParenR"/>
            </a:pPr>
            <a:r>
              <a:rPr lang="es-419" dirty="0">
                <a:latin typeface="Gill Sans MT" panose="020B0502020104020203" pitchFamily="34" charset="77"/>
              </a:rPr>
              <a:t>minimicen</a:t>
            </a:r>
            <a:r>
              <a:rPr lang="en-CL" dirty="0">
                <a:latin typeface="Gill Sans MT" panose="020B0502020104020203" pitchFamily="34" charset="77"/>
              </a:rPr>
              <a:t> la dispersión de cada nube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62418C7-5A16-2FFF-C1A4-07735323574C}"/>
              </a:ext>
            </a:extLst>
          </p:cNvPr>
          <p:cNvCxnSpPr/>
          <p:nvPr/>
        </p:nvCxnSpPr>
        <p:spPr>
          <a:xfrm>
            <a:off x="3100388" y="3429000"/>
            <a:ext cx="300037" cy="30003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455B0E-5D13-FD44-8D10-7DAB55BE8C1B}"/>
              </a:ext>
            </a:extLst>
          </p:cNvPr>
          <p:cNvCxnSpPr>
            <a:cxnSpLocks/>
          </p:cNvCxnSpPr>
          <p:nvPr/>
        </p:nvCxnSpPr>
        <p:spPr>
          <a:xfrm>
            <a:off x="6142635" y="3484517"/>
            <a:ext cx="586502" cy="50142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B27569-EF26-094E-5BA0-3A0BBE4AA0FE}"/>
              </a:ext>
            </a:extLst>
          </p:cNvPr>
          <p:cNvCxnSpPr>
            <a:cxnSpLocks/>
          </p:cNvCxnSpPr>
          <p:nvPr/>
        </p:nvCxnSpPr>
        <p:spPr>
          <a:xfrm>
            <a:off x="8687028" y="3328309"/>
            <a:ext cx="1106584" cy="1254283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8F98C5B2-EB88-25AF-6AA6-372F9F87C0E5}"/>
              </a:ext>
            </a:extLst>
          </p:cNvPr>
          <p:cNvSpPr/>
          <p:nvPr/>
        </p:nvSpPr>
        <p:spPr>
          <a:xfrm>
            <a:off x="8443245" y="3076486"/>
            <a:ext cx="525623" cy="589660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C9D363E-C7FB-A7A2-B7BF-E984F95321E4}"/>
              </a:ext>
            </a:extLst>
          </p:cNvPr>
          <p:cNvSpPr/>
          <p:nvPr/>
        </p:nvSpPr>
        <p:spPr>
          <a:xfrm>
            <a:off x="9498730" y="4287762"/>
            <a:ext cx="525623" cy="589660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F6F912-0E2B-CA8A-8F57-7B6AD1583E72}"/>
              </a:ext>
            </a:extLst>
          </p:cNvPr>
          <p:cNvSpPr/>
          <p:nvPr/>
        </p:nvSpPr>
        <p:spPr>
          <a:xfrm>
            <a:off x="5570669" y="3010451"/>
            <a:ext cx="1102428" cy="923329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6607D8E-EC46-B429-AB4F-BD3461478FCB}"/>
              </a:ext>
            </a:extLst>
          </p:cNvPr>
          <p:cNvSpPr/>
          <p:nvPr/>
        </p:nvSpPr>
        <p:spPr>
          <a:xfrm>
            <a:off x="6180301" y="3485005"/>
            <a:ext cx="1102428" cy="923329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73531C7-7A77-7578-E3D0-FDFD8DF94997}"/>
              </a:ext>
            </a:extLst>
          </p:cNvPr>
          <p:cNvSpPr/>
          <p:nvPr/>
        </p:nvSpPr>
        <p:spPr>
          <a:xfrm>
            <a:off x="2480099" y="3049718"/>
            <a:ext cx="1410969" cy="1214065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D06C761-DEE5-952E-FE56-9E93210E086C}"/>
              </a:ext>
            </a:extLst>
          </p:cNvPr>
          <p:cNvSpPr/>
          <p:nvPr/>
        </p:nvSpPr>
        <p:spPr>
          <a:xfrm>
            <a:off x="2824809" y="3284991"/>
            <a:ext cx="1410969" cy="1214065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965813-8BBF-282D-85BC-6ADB21344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812" y1="21231" x2="30663" y2="24923"/>
                        <a14:foregroundMark x1="68370" y1="34462" x2="51657" y2="52000"/>
                        <a14:foregroundMark x1="51657" y1="52000" x2="45718" y2="62615"/>
                        <a14:foregroundMark x1="45718" y1="62615" x2="38950" y2="60154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5931" y="3317754"/>
            <a:ext cx="914357" cy="82090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0888B9-3127-9DD5-C51E-3650AFD9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41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B294DDD-C36C-76E4-C25E-BDCBA82D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9371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5ED0-F867-1EED-9978-690158EF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8528-760F-62D0-4C5C-5F711C3F31F9}"/>
              </a:ext>
            </a:extLst>
          </p:cNvPr>
          <p:cNvSpPr txBox="1"/>
          <p:nvPr/>
        </p:nvSpPr>
        <p:spPr>
          <a:xfrm>
            <a:off x="1543066" y="2118522"/>
            <a:ext cx="91058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dirty="0">
                <a:latin typeface="Gill Sans MT" panose="020B0502020104020203" pitchFamily="34" charset="77"/>
              </a:rPr>
              <a:t>¿Cómo calcular J en términos generales </a:t>
            </a:r>
          </a:p>
          <a:p>
            <a:pPr algn="ctr"/>
            <a:r>
              <a:rPr lang="es-419" sz="3200" dirty="0">
                <a:latin typeface="Gill Sans MT" panose="020B0502020104020203" pitchFamily="34" charset="77"/>
              </a:rPr>
              <a:t>para más características y más clases?</a:t>
            </a:r>
            <a:endParaRPr lang="en-CL" sz="3200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DB0EF-AE5B-379E-0DF0-978BDBBC9157}"/>
              </a:ext>
            </a:extLst>
          </p:cNvPr>
          <p:cNvSpPr txBox="1"/>
          <p:nvPr/>
        </p:nvSpPr>
        <p:spPr>
          <a:xfrm>
            <a:off x="319785" y="4200869"/>
            <a:ext cx="115524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RECORDAR: </a:t>
            </a:r>
          </a:p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La variable J es un escalar que mide la separabilidad entre las clases </a:t>
            </a:r>
          </a:p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(dado un conjunto de características)</a:t>
            </a:r>
            <a:endParaRPr lang="en-CL" sz="32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DA6DB-0393-6B0E-2D25-F80A0C9E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6E81346-4FBD-844A-97F3-4C47AF14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46678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A35E2-74DB-724D-B87A-50507D79A1AE}"/>
              </a:ext>
            </a:extLst>
          </p:cNvPr>
          <p:cNvSpPr txBox="1"/>
          <p:nvPr/>
        </p:nvSpPr>
        <p:spPr>
          <a:xfrm>
            <a:off x="2693553" y="2721114"/>
            <a:ext cx="75282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Ejemplo</a:t>
            </a:r>
            <a:r>
              <a:rPr lang="en-US" sz="4000" dirty="0">
                <a:latin typeface="Gill Sans MT" panose="020B0502020104020203" pitchFamily="34" charset="77"/>
              </a:rPr>
              <a:t>: </a:t>
            </a:r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3 </a:t>
            </a:r>
            <a:r>
              <a:rPr lang="en-US" sz="4000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clases</a:t>
            </a:r>
            <a:r>
              <a:rPr lang="en-US" sz="4000" dirty="0">
                <a:latin typeface="Gill Sans MT" panose="020B0502020104020203" pitchFamily="34" charset="77"/>
              </a:rPr>
              <a:t> y </a:t>
            </a:r>
            <a:r>
              <a:rPr lang="en-US" sz="4000" dirty="0">
                <a:solidFill>
                  <a:srgbClr val="00B050"/>
                </a:solidFill>
                <a:latin typeface="Gill Sans MT" panose="020B0502020104020203" pitchFamily="34" charset="77"/>
              </a:rPr>
              <a:t>2 </a:t>
            </a:r>
            <a:r>
              <a:rPr lang="en-US" sz="4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características</a:t>
            </a:r>
            <a:endParaRPr lang="en-US" sz="4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2D861C-815F-9347-9385-707A5E2B1451}"/>
              </a:ext>
            </a:extLst>
          </p:cNvPr>
          <p:cNvGrpSpPr/>
          <p:nvPr/>
        </p:nvGrpSpPr>
        <p:grpSpPr>
          <a:xfrm>
            <a:off x="7880350" y="3468912"/>
            <a:ext cx="1308100" cy="1312639"/>
            <a:chOff x="6356350" y="3468911"/>
            <a:chExt cx="1308100" cy="13126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81537F-6691-F741-91AC-75FE107A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6350" y="4311650"/>
              <a:ext cx="1308100" cy="4699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74D8CD8-107A-F14B-88E5-EB8A8BC0AD87}"/>
                </a:ext>
              </a:extLst>
            </p:cNvPr>
            <p:cNvCxnSpPr/>
            <p:nvPr/>
          </p:nvCxnSpPr>
          <p:spPr>
            <a:xfrm>
              <a:off x="6995886" y="3468911"/>
              <a:ext cx="0" cy="76925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051A94-729A-2948-AE4B-DB715C6CC6DA}"/>
              </a:ext>
            </a:extLst>
          </p:cNvPr>
          <p:cNvGrpSpPr/>
          <p:nvPr/>
        </p:nvGrpSpPr>
        <p:grpSpPr>
          <a:xfrm>
            <a:off x="4697186" y="330045"/>
            <a:ext cx="1955800" cy="2521701"/>
            <a:chOff x="3173186" y="330044"/>
            <a:chExt cx="1955800" cy="25217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6082CF1-31B4-8D4C-9343-CD057FF9E80B}"/>
                </a:ext>
              </a:extLst>
            </p:cNvPr>
            <p:cNvGrpSpPr/>
            <p:nvPr/>
          </p:nvGrpSpPr>
          <p:grpSpPr>
            <a:xfrm>
              <a:off x="3173186" y="1579930"/>
              <a:ext cx="1955800" cy="1271815"/>
              <a:chOff x="3173186" y="1579930"/>
              <a:chExt cx="1955800" cy="127181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B6F33AE-38F6-4846-9B7E-DF51023CE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186" y="1579930"/>
                <a:ext cx="1955800" cy="342900"/>
              </a:xfrm>
              <a:prstGeom prst="rect">
                <a:avLst/>
              </a:prstGeom>
            </p:spPr>
          </p:pic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1F43EF1-E346-4E43-A497-6485D1BC3E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9315" y="2104573"/>
                <a:ext cx="0" cy="74717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E86558B-974D-BE45-A31E-264D63AB7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459" y="330044"/>
              <a:ext cx="1727200" cy="1028700"/>
            </a:xfrm>
            <a:prstGeom prst="rect">
              <a:avLst/>
            </a:prstGeom>
          </p:spPr>
        </p:pic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64917F2-77B9-5CB1-FD46-72D94439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43</a:t>
            </a:fld>
            <a:endParaRPr lang="en-CL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51C67DA-BF92-17C0-B82A-F4F4788A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4916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46DDD-A757-5145-BE98-D9C510624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DCD4-6F65-A4C9-5679-FC14AA77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B6BBC2-D6B1-1940-36AF-AAACF1A8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7551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CC053C7-84C0-8809-130B-4BFABB1C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5B348AEE-EEFC-A5A2-8E62-97DAC401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3009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809AE4F-F7C1-7640-4907-1F9D7689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46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CEC7DC8-6344-6CDE-9831-330C27526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29893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DD404B-0A08-6741-8DC8-0070CBE9E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8727" y="5771322"/>
            <a:ext cx="431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5129EA-7F87-EB44-8424-40A21FF925F4}"/>
              </a:ext>
            </a:extLst>
          </p:cNvPr>
          <p:cNvSpPr txBox="1"/>
          <p:nvPr/>
        </p:nvSpPr>
        <p:spPr>
          <a:xfrm>
            <a:off x="8781631" y="4793424"/>
            <a:ext cx="1663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que </a:t>
            </a:r>
            <a:r>
              <a:rPr lang="en-US" dirty="0" err="1">
                <a:latin typeface="Gill Sans MT" panose="020B0502020104020203" pitchFamily="34" charset="77"/>
              </a:rPr>
              <a:t>ocurra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0FF1ACF-B575-7158-B376-616D07D2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47</a:t>
            </a:fld>
            <a:endParaRPr lang="en-CL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D7B15978-EB44-4886-FEE5-A3190BF4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139004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236A22D-0981-FA47-A8D0-769E6DAF1268}"/>
              </a:ext>
            </a:extLst>
          </p:cNvPr>
          <p:cNvSpPr/>
          <p:nvPr/>
        </p:nvSpPr>
        <p:spPr>
          <a:xfrm>
            <a:off x="6850809" y="5150612"/>
            <a:ext cx="3499139" cy="152848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4C60E2A-C56A-7E4A-80A6-61207B1186C4}"/>
              </a:ext>
            </a:extLst>
          </p:cNvPr>
          <p:cNvSpPr/>
          <p:nvPr/>
        </p:nvSpPr>
        <p:spPr>
          <a:xfrm>
            <a:off x="6850809" y="3318444"/>
            <a:ext cx="3499139" cy="169087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C5FC3C-FF37-454E-AA9E-A7714DE20DC6}"/>
              </a:ext>
            </a:extLst>
          </p:cNvPr>
          <p:cNvSpPr/>
          <p:nvPr/>
        </p:nvSpPr>
        <p:spPr>
          <a:xfrm>
            <a:off x="6850809" y="2443367"/>
            <a:ext cx="3499139" cy="68745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25FE0-C5D3-714B-88F5-1C5B2475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147" y="2443366"/>
            <a:ext cx="5098722" cy="44527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B424E4-C4BC-4E47-AA93-26BE11128D24}"/>
              </a:ext>
            </a:extLst>
          </p:cNvPr>
          <p:cNvSpPr txBox="1"/>
          <p:nvPr/>
        </p:nvSpPr>
        <p:spPr>
          <a:xfrm>
            <a:off x="2118929" y="51355"/>
            <a:ext cx="7778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Matriz</a:t>
            </a:r>
            <a:r>
              <a:rPr lang="en-US" sz="4000" dirty="0">
                <a:latin typeface="Gill Sans MT" panose="020B0502020104020203" pitchFamily="34" charset="77"/>
              </a:rPr>
              <a:t> de </a:t>
            </a:r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        </a:t>
            </a:r>
            <a:r>
              <a:rPr lang="en-US" sz="2400" dirty="0">
                <a:latin typeface="Gill Sans MT" panose="020B0502020104020203" pitchFamily="34" charset="77"/>
              </a:rPr>
              <a:t>(</a:t>
            </a:r>
            <a:r>
              <a:rPr lang="en-US" sz="2400" dirty="0" err="1">
                <a:latin typeface="Gill Sans MT" panose="020B0502020104020203" pitchFamily="34" charset="77"/>
              </a:rPr>
              <a:t>recordatorio</a:t>
            </a:r>
            <a:r>
              <a:rPr lang="en-US" sz="2400" dirty="0">
                <a:latin typeface="Gill Sans MT" panose="020B0502020104020203" pitchFamily="34" charset="77"/>
              </a:rPr>
              <a:t>)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EA97D5-A5C0-994A-A191-2DFFA8CD5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992" y="1135705"/>
            <a:ext cx="5443883" cy="1203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5B9FC9-A472-514F-B094-2CDDBF45CE0C}"/>
              </a:ext>
            </a:extLst>
          </p:cNvPr>
          <p:cNvSpPr txBox="1"/>
          <p:nvPr/>
        </p:nvSpPr>
        <p:spPr>
          <a:xfrm>
            <a:off x="7497801" y="2589856"/>
            <a:ext cx="213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número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7749E1-44C9-B74A-B236-0C3E40481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893" y="2532510"/>
            <a:ext cx="482600" cy="444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0A0E8A-38C2-7E47-B983-42CB7D8FD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4959" y="3729954"/>
            <a:ext cx="2077966" cy="11475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288A1F6-F0C4-8745-8483-6CEA692EC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959" y="5519944"/>
            <a:ext cx="2971800" cy="558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E79DD4E-77FF-D641-8102-D4345A89FA77}"/>
              </a:ext>
            </a:extLst>
          </p:cNvPr>
          <p:cNvSpPr/>
          <p:nvPr/>
        </p:nvSpPr>
        <p:spPr>
          <a:xfrm>
            <a:off x="7824840" y="3329951"/>
            <a:ext cx="1631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imes New Roman" panose="02020603050405020304" pitchFamily="18" charset="0"/>
              </a:rPr>
              <a:t>centro</a:t>
            </a:r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 de masa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DCA31B-F8B4-404D-B26D-EE70A9CD99CB}"/>
              </a:ext>
            </a:extLst>
          </p:cNvPr>
          <p:cNvSpPr/>
          <p:nvPr/>
        </p:nvSpPr>
        <p:spPr>
          <a:xfrm>
            <a:off x="8033568" y="5150612"/>
            <a:ext cx="1073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12D1-A9C9-6F4E-89B5-227DA02AD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177" y="6320248"/>
            <a:ext cx="1079500" cy="2159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40B4C30-0193-C74D-8BB1-691798B12566}"/>
              </a:ext>
            </a:extLst>
          </p:cNvPr>
          <p:cNvGrpSpPr/>
          <p:nvPr/>
        </p:nvGrpSpPr>
        <p:grpSpPr>
          <a:xfrm>
            <a:off x="4195507" y="4029703"/>
            <a:ext cx="5587254" cy="698085"/>
            <a:chOff x="2671507" y="3771288"/>
            <a:chExt cx="5587254" cy="698085"/>
          </a:xfrm>
        </p:grpSpPr>
        <p:sp>
          <p:nvSpPr>
            <p:cNvPr id="51" name="5-point Star 50">
              <a:extLst>
                <a:ext uri="{FF2B5EF4-FFF2-40B4-BE49-F238E27FC236}">
                  <a16:creationId xmlns:a16="http://schemas.microsoft.com/office/drawing/2014/main" id="{CF02BF9A-DF96-9B41-B406-F4399F19E746}"/>
                </a:ext>
              </a:extLst>
            </p:cNvPr>
            <p:cNvSpPr/>
            <p:nvPr/>
          </p:nvSpPr>
          <p:spPr>
            <a:xfrm>
              <a:off x="7950648" y="3771288"/>
              <a:ext cx="308113" cy="268357"/>
            </a:xfrm>
            <a:prstGeom prst="star5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4" name="5-point Star 53">
              <a:extLst>
                <a:ext uri="{FF2B5EF4-FFF2-40B4-BE49-F238E27FC236}">
                  <a16:creationId xmlns:a16="http://schemas.microsoft.com/office/drawing/2014/main" id="{499F792A-3BE4-D84F-89A0-3F28C26DA38B}"/>
                </a:ext>
              </a:extLst>
            </p:cNvPr>
            <p:cNvSpPr/>
            <p:nvPr/>
          </p:nvSpPr>
          <p:spPr>
            <a:xfrm>
              <a:off x="2671507" y="4201016"/>
              <a:ext cx="308113" cy="268357"/>
            </a:xfrm>
            <a:prstGeom prst="star5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E9CA87-2621-8347-B350-D8909A6ADF55}"/>
              </a:ext>
            </a:extLst>
          </p:cNvPr>
          <p:cNvGrpSpPr/>
          <p:nvPr/>
        </p:nvGrpSpPr>
        <p:grpSpPr>
          <a:xfrm>
            <a:off x="5080002" y="5461888"/>
            <a:ext cx="1770807" cy="393004"/>
            <a:chOff x="3556001" y="5203474"/>
            <a:chExt cx="1770807" cy="39300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711933C-1179-9E40-9BEC-6B42423DA4E4}"/>
                </a:ext>
              </a:extLst>
            </p:cNvPr>
            <p:cNvSpPr/>
            <p:nvPr/>
          </p:nvSpPr>
          <p:spPr>
            <a:xfrm>
              <a:off x="3556001" y="5203474"/>
              <a:ext cx="217714" cy="279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258EF25-665F-F14F-9773-919F4B98CD6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832" y="5381997"/>
              <a:ext cx="1584976" cy="2144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785C8D6-F106-22E9-3940-B8E6C8BF4A86}"/>
              </a:ext>
            </a:extLst>
          </p:cNvPr>
          <p:cNvGrpSpPr/>
          <p:nvPr/>
        </p:nvGrpSpPr>
        <p:grpSpPr>
          <a:xfrm>
            <a:off x="4803913" y="1972298"/>
            <a:ext cx="1341174" cy="3178315"/>
            <a:chOff x="3279913" y="1713883"/>
            <a:chExt cx="1341174" cy="3178315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8CDED487-5E00-30B4-6B5C-B1060B994D2F}"/>
                </a:ext>
              </a:extLst>
            </p:cNvPr>
            <p:cNvSpPr/>
            <p:nvPr/>
          </p:nvSpPr>
          <p:spPr>
            <a:xfrm rot="16200000">
              <a:off x="3864937" y="1237134"/>
              <a:ext cx="279401" cy="123289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60115FA-9AC0-0962-58FE-84B6012A9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9913" y="2184952"/>
              <a:ext cx="698315" cy="270724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210560-4B0E-53B0-76BA-9FCB8C96F5FF}"/>
              </a:ext>
            </a:extLst>
          </p:cNvPr>
          <p:cNvCxnSpPr/>
          <p:nvPr/>
        </p:nvCxnSpPr>
        <p:spPr>
          <a:xfrm>
            <a:off x="4346714" y="4641571"/>
            <a:ext cx="854765" cy="101525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B528482-4B29-CD0D-003B-6FFF211D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82CB1F6-2A7A-8284-309F-40E56C11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8462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CA787-9A7F-8C42-AF45-C883A056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35" y="1538515"/>
            <a:ext cx="2271826" cy="1842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9DF97-C9F0-2742-A6E2-98A7B5F302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2"/>
          <a:stretch/>
        </p:blipFill>
        <p:spPr>
          <a:xfrm>
            <a:off x="2043390" y="4242605"/>
            <a:ext cx="2123803" cy="105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B48F98-7C98-0647-9E61-989F74E1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97" y="1604807"/>
            <a:ext cx="2271826" cy="1868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0F360-A501-A74C-B190-0DD239FA5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172" y="1604807"/>
            <a:ext cx="2273838" cy="1868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0E251-A682-3E46-B3E3-A3853449B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293" y="4272422"/>
            <a:ext cx="2120900" cy="96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9FBC5-4DB1-E643-88E4-ABE847A579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2299" y="4282361"/>
            <a:ext cx="2159000" cy="927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23DD72-42F7-7BB4-527F-A0E348FB190B}"/>
              </a:ext>
            </a:extLst>
          </p:cNvPr>
          <p:cNvSpPr txBox="1"/>
          <p:nvPr/>
        </p:nvSpPr>
        <p:spPr>
          <a:xfrm>
            <a:off x="2118930" y="51355"/>
            <a:ext cx="73627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Matriz</a:t>
            </a:r>
            <a:r>
              <a:rPr lang="en-US" sz="4000" dirty="0">
                <a:latin typeface="Gill Sans MT" panose="020B0502020104020203" pitchFamily="34" charset="77"/>
              </a:rPr>
              <a:t> de </a:t>
            </a:r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        </a:t>
            </a:r>
            <a:r>
              <a:rPr lang="en-US" sz="2400" dirty="0">
                <a:latin typeface="Gill Sans MT" panose="020B0502020104020203" pitchFamily="34" charset="77"/>
              </a:rPr>
              <a:t>(</a:t>
            </a:r>
            <a:r>
              <a:rPr lang="en-US" sz="2400" dirty="0" err="1">
                <a:latin typeface="Gill Sans MT" panose="020B0502020104020203" pitchFamily="34" charset="77"/>
              </a:rPr>
              <a:t>ejemplos</a:t>
            </a:r>
            <a:r>
              <a:rPr lang="en-US" sz="2400" dirty="0">
                <a:latin typeface="Gill Sans MT" panose="020B0502020104020203" pitchFamily="34" charset="77"/>
              </a:rPr>
              <a:t>)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DE585B-D820-CEEC-F8EC-99D51770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424F92A-0E61-58D8-4161-7968C244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88377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DD404B-0A08-6741-8DC8-0070CBE9E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8727" y="5771322"/>
            <a:ext cx="431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5129EA-7F87-EB44-8424-40A21FF925F4}"/>
              </a:ext>
            </a:extLst>
          </p:cNvPr>
          <p:cNvSpPr txBox="1"/>
          <p:nvPr/>
        </p:nvSpPr>
        <p:spPr>
          <a:xfrm>
            <a:off x="8781631" y="4793424"/>
            <a:ext cx="1663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que </a:t>
            </a:r>
            <a:r>
              <a:rPr lang="en-US" dirty="0" err="1">
                <a:latin typeface="Gill Sans MT" panose="020B0502020104020203" pitchFamily="34" charset="77"/>
              </a:rPr>
              <a:t>ocurra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D7D906-79A1-6942-B7CB-57F65E769004}"/>
              </a:ext>
            </a:extLst>
          </p:cNvPr>
          <p:cNvSpPr txBox="1"/>
          <p:nvPr/>
        </p:nvSpPr>
        <p:spPr>
          <a:xfrm>
            <a:off x="2118929" y="220318"/>
            <a:ext cx="2740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Definiciones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0EFEC97-6C79-7932-D362-4E7D004E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CD99FE27-E515-137D-27C8-81CB01CA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88016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741558" y="235621"/>
            <a:ext cx="90331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Inter-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2800" dirty="0">
                <a:latin typeface="Gill Sans MT" panose="020B0502020104020203" pitchFamily="34" charset="77"/>
              </a:rPr>
              <a:t>(between class covariance)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29C53-8D40-244A-B71E-9E993068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27" y="1126126"/>
            <a:ext cx="4291377" cy="73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FFC82-A5F8-294B-BB1C-E00468204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1" y="1715882"/>
            <a:ext cx="6052457" cy="502291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1AEBFFE-15AD-3E47-99A9-F8259A045FD6}"/>
              </a:ext>
            </a:extLst>
          </p:cNvPr>
          <p:cNvSpPr/>
          <p:nvPr/>
        </p:nvSpPr>
        <p:spPr>
          <a:xfrm>
            <a:off x="5052395" y="3400761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0136D1-BFBC-2B44-BBDB-857EA274C380}"/>
              </a:ext>
            </a:extLst>
          </p:cNvPr>
          <p:cNvSpPr/>
          <p:nvPr/>
        </p:nvSpPr>
        <p:spPr>
          <a:xfrm>
            <a:off x="6878509" y="3414016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CE02A6-9769-184C-9A76-29F7D2652A12}"/>
              </a:ext>
            </a:extLst>
          </p:cNvPr>
          <p:cNvSpPr/>
          <p:nvPr/>
        </p:nvSpPr>
        <p:spPr>
          <a:xfrm>
            <a:off x="6832919" y="4916716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E12BB2-0426-6443-AA35-A5D68621E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931" y="4808489"/>
            <a:ext cx="33390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DF1BD8-B616-F14C-9B9B-A8175B14D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182" y="3292534"/>
            <a:ext cx="34503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3BE0B8-2E0C-A647-AB9D-FA911762C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897" y="3302474"/>
            <a:ext cx="345039" cy="3116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5-point Star 18">
            <a:extLst>
              <a:ext uri="{FF2B5EF4-FFF2-40B4-BE49-F238E27FC236}">
                <a16:creationId xmlns:a16="http://schemas.microsoft.com/office/drawing/2014/main" id="{28BFBB8C-D37B-E549-8AD9-AF1ADF86CF18}"/>
              </a:ext>
            </a:extLst>
          </p:cNvPr>
          <p:cNvSpPr/>
          <p:nvPr/>
        </p:nvSpPr>
        <p:spPr>
          <a:xfrm>
            <a:off x="6118875" y="3813786"/>
            <a:ext cx="270030" cy="22887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FA8D40-1B5C-2A4D-B5E0-457593999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2392" y="3808264"/>
            <a:ext cx="178085" cy="2559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D01DCAF-CD0A-2640-985D-7B4D60C6B2D5}"/>
              </a:ext>
            </a:extLst>
          </p:cNvPr>
          <p:cNvGrpSpPr/>
          <p:nvPr/>
        </p:nvGrpSpPr>
        <p:grpSpPr>
          <a:xfrm>
            <a:off x="5134181" y="3502057"/>
            <a:ext cx="1780524" cy="1432038"/>
            <a:chOff x="3765677" y="3570368"/>
            <a:chExt cx="1780524" cy="143203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2E9D7F7-5F9C-9A41-90FD-97ED5206997F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4876800" y="3583623"/>
              <a:ext cx="647237" cy="494892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D3DB55C-9B4E-BF44-B6D3-C8AFC993A784}"/>
                </a:ext>
              </a:extLst>
            </p:cNvPr>
            <p:cNvCxnSpPr>
              <a:cxnSpLocks/>
              <a:endCxn id="14" idx="7"/>
            </p:cNvCxnSpPr>
            <p:nvPr/>
          </p:nvCxnSpPr>
          <p:spPr>
            <a:xfrm>
              <a:off x="4876800" y="4078514"/>
              <a:ext cx="669401" cy="923892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A8AAE63-CB30-3F48-A115-C53F56F428C5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3765677" y="3570368"/>
              <a:ext cx="1111123" cy="508146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6982B-4006-682F-CE86-A61A5DF0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51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E6CB3-D088-A8D3-278E-C3593AD1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840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CB381-4FD9-DA42-939D-E641873A26A1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C86A1E-445C-3262-ECB3-49471161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52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3450D2D-C100-9797-EF7E-9FC2F853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251493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7643316" y="4464613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F5CAC23-8A0D-C147-8806-2F160ADD2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693" y="5665304"/>
            <a:ext cx="508000" cy="406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C42163-0E9C-0340-DB70-A3D5E414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53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3B9A278-3BE4-B0FA-5FAF-6940407E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268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6235427" y="3376045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04C579-EF00-C944-A85A-F858CC69C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194" y="5286831"/>
            <a:ext cx="520700" cy="406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B6FA8-B916-CFB0-8C61-498A8E0A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7FA809D-47C9-0454-1A0F-09138550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53637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7628802" y="3332499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449D56E-0CF4-4546-8615-43DF15B5B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221" y="4198258"/>
            <a:ext cx="520700" cy="406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6B661E-C79F-566A-04C9-4D41102F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55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2B3E3C7-1FD4-5087-E105-3468A2AB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567050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2648678" y="283740"/>
            <a:ext cx="7570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Estrategia</a:t>
            </a:r>
            <a:r>
              <a:rPr lang="en-US" sz="2800" dirty="0">
                <a:latin typeface="Gill Sans MT" panose="020B0502020104020203" pitchFamily="34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Inter-Class HIGH</a:t>
            </a:r>
            <a:r>
              <a:rPr lang="en-US" sz="2800" dirty="0">
                <a:latin typeface="Gill Sans MT" panose="020B0502020104020203" pitchFamily="34" charset="77"/>
              </a:rPr>
              <a:t>  +   </a:t>
            </a:r>
            <a:r>
              <a:rPr lang="en-US" sz="2800" dirty="0">
                <a:solidFill>
                  <a:srgbClr val="0432FF"/>
                </a:solidFill>
                <a:latin typeface="Gill Sans MT" panose="020B0502020104020203" pitchFamily="34" charset="77"/>
              </a:rPr>
              <a:t>Intra-Class LOW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2D79F8-5E23-0A4E-B163-A5AAED8A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657" y="1112378"/>
            <a:ext cx="6052457" cy="502291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D469A7B-E0B6-294F-A910-D515AFDE8A50}"/>
              </a:ext>
            </a:extLst>
          </p:cNvPr>
          <p:cNvSpPr/>
          <p:nvPr/>
        </p:nvSpPr>
        <p:spPr>
          <a:xfrm>
            <a:off x="5043251" y="2797257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10A02D-1235-F149-A634-C0E1D0C2181A}"/>
              </a:ext>
            </a:extLst>
          </p:cNvPr>
          <p:cNvSpPr/>
          <p:nvPr/>
        </p:nvSpPr>
        <p:spPr>
          <a:xfrm>
            <a:off x="6869365" y="2810512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792535-B03B-C547-AE61-CBEAB57C84DD}"/>
              </a:ext>
            </a:extLst>
          </p:cNvPr>
          <p:cNvSpPr/>
          <p:nvPr/>
        </p:nvSpPr>
        <p:spPr>
          <a:xfrm>
            <a:off x="6823775" y="4313212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E6194A-B6B5-A944-8672-79C222B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787" y="4204985"/>
            <a:ext cx="33390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B4D7D4-DAF2-044A-9739-982A2276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038" y="2689030"/>
            <a:ext cx="34503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F03BCA-5C84-5E46-AF3E-060FBDA99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753" y="2698970"/>
            <a:ext cx="345039" cy="3116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" name="5-point Star 19">
            <a:extLst>
              <a:ext uri="{FF2B5EF4-FFF2-40B4-BE49-F238E27FC236}">
                <a16:creationId xmlns:a16="http://schemas.microsoft.com/office/drawing/2014/main" id="{5B482E99-1E84-2244-B038-E90223FCB90C}"/>
              </a:ext>
            </a:extLst>
          </p:cNvPr>
          <p:cNvSpPr/>
          <p:nvPr/>
        </p:nvSpPr>
        <p:spPr>
          <a:xfrm>
            <a:off x="6109731" y="3210282"/>
            <a:ext cx="270030" cy="22887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99FEA3-4F81-C443-8D08-86B907660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248" y="3204760"/>
            <a:ext cx="178085" cy="2559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B7A75CB-6643-9E4A-AB3C-5EE48F308E95}"/>
              </a:ext>
            </a:extLst>
          </p:cNvPr>
          <p:cNvGrpSpPr/>
          <p:nvPr/>
        </p:nvGrpSpPr>
        <p:grpSpPr>
          <a:xfrm>
            <a:off x="5125037" y="2898553"/>
            <a:ext cx="1780524" cy="1432038"/>
            <a:chOff x="3756533" y="2966864"/>
            <a:chExt cx="1780524" cy="1432038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E86DA8C-816B-D04C-A755-AF4B7AF9067C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flipV="1">
              <a:off x="4867656" y="2980119"/>
              <a:ext cx="647237" cy="494892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F9C3D7E-8F27-0F4F-B950-1655FE5E4D42}"/>
                </a:ext>
              </a:extLst>
            </p:cNvPr>
            <p:cNvCxnSpPr>
              <a:cxnSpLocks/>
              <a:endCxn id="16" idx="7"/>
            </p:cNvCxnSpPr>
            <p:nvPr/>
          </p:nvCxnSpPr>
          <p:spPr>
            <a:xfrm>
              <a:off x="4867656" y="3475010"/>
              <a:ext cx="669401" cy="923892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3FACA0A-83D5-1741-A2AE-2747BA551A7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3756533" y="2966864"/>
              <a:ext cx="1111123" cy="508146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605758DA-408F-E54D-8AEF-8CCEB2AD26B5}"/>
              </a:ext>
            </a:extLst>
          </p:cNvPr>
          <p:cNvSpPr/>
          <p:nvPr/>
        </p:nvSpPr>
        <p:spPr>
          <a:xfrm>
            <a:off x="4312921" y="2148840"/>
            <a:ext cx="1540327" cy="1444752"/>
          </a:xfrm>
          <a:prstGeom prst="ellipse">
            <a:avLst/>
          </a:prstGeom>
          <a:solidFill>
            <a:srgbClr val="DBEEF4">
              <a:alpha val="36078"/>
            </a:srgb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BAAA224-F7D6-CF4E-8FE1-19E15B58B33E}"/>
              </a:ext>
            </a:extLst>
          </p:cNvPr>
          <p:cNvSpPr/>
          <p:nvPr/>
        </p:nvSpPr>
        <p:spPr>
          <a:xfrm>
            <a:off x="6099202" y="3667083"/>
            <a:ext cx="1540327" cy="1444752"/>
          </a:xfrm>
          <a:prstGeom prst="ellipse">
            <a:avLst/>
          </a:prstGeom>
          <a:solidFill>
            <a:schemeClr val="accent3">
              <a:lumMod val="20000"/>
              <a:lumOff val="80000"/>
              <a:alpha val="36078"/>
            </a:scheme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F44DD7-CCCE-9C49-85C0-806B980CCA5A}"/>
              </a:ext>
            </a:extLst>
          </p:cNvPr>
          <p:cNvSpPr/>
          <p:nvPr/>
        </p:nvSpPr>
        <p:spPr>
          <a:xfrm>
            <a:off x="6147111" y="2088135"/>
            <a:ext cx="1540327" cy="1444752"/>
          </a:xfrm>
          <a:prstGeom prst="ellipse">
            <a:avLst/>
          </a:prstGeom>
          <a:solidFill>
            <a:schemeClr val="accent6">
              <a:lumMod val="20000"/>
              <a:lumOff val="80000"/>
              <a:alpha val="36078"/>
            </a:scheme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44A48-1597-00BB-738E-74489382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4A0CC7-9B09-17C8-04B9-09EBC4C4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195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84769" y="395126"/>
            <a:ext cx="40302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Criterio</a:t>
            </a:r>
            <a:r>
              <a:rPr lang="en-US" sz="4000" dirty="0">
                <a:latin typeface="Gill Sans MT" panose="020B0502020104020203" pitchFamily="34" charset="77"/>
              </a:rPr>
              <a:t> de Fisher: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29C53-8D40-244A-B71E-9E993068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80" y="2213111"/>
            <a:ext cx="4291377" cy="73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21CD80-78E0-4742-9714-1BD871DBD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958486"/>
            <a:ext cx="2456688" cy="10500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51F9EA-9FEA-EE4A-95F6-56D7381E09FF}"/>
              </a:ext>
            </a:extLst>
          </p:cNvPr>
          <p:cNvSpPr txBox="1"/>
          <p:nvPr/>
        </p:nvSpPr>
        <p:spPr>
          <a:xfrm>
            <a:off x="1971925" y="1282581"/>
            <a:ext cx="3566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latin typeface="Gill Sans MT" panose="020B0502020104020203" pitchFamily="34" charset="77"/>
              </a:rPr>
              <a:t>  Intra-</a:t>
            </a:r>
            <a:r>
              <a:rPr lang="en-US" sz="2800" dirty="0" err="1">
                <a:latin typeface="Gill Sans MT" panose="020B0502020104020203" pitchFamily="34" charset="77"/>
              </a:rPr>
              <a:t>Clase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38E94-4E57-AB44-99C4-060E6E537DD5}"/>
              </a:ext>
            </a:extLst>
          </p:cNvPr>
          <p:cNvSpPr txBox="1"/>
          <p:nvPr/>
        </p:nvSpPr>
        <p:spPr>
          <a:xfrm>
            <a:off x="5948146" y="1282581"/>
            <a:ext cx="358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latin typeface="Gill Sans MT" panose="020B0502020104020203" pitchFamily="34" charset="77"/>
              </a:rPr>
              <a:t>  Inter-</a:t>
            </a:r>
            <a:r>
              <a:rPr lang="en-US" sz="2800" dirty="0" err="1">
                <a:latin typeface="Gill Sans MT" panose="020B0502020104020203" pitchFamily="34" charset="77"/>
              </a:rPr>
              <a:t>Clase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9C1E9-4CB5-054B-8024-DE9809CF8A55}"/>
              </a:ext>
            </a:extLst>
          </p:cNvPr>
          <p:cNvSpPr txBox="1"/>
          <p:nvPr/>
        </p:nvSpPr>
        <p:spPr>
          <a:xfrm>
            <a:off x="6870771" y="3174666"/>
            <a:ext cx="176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DEBE SER ALTA!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3AEA8-8342-F04C-8DBB-23EF0FF50BD4}"/>
              </a:ext>
            </a:extLst>
          </p:cNvPr>
          <p:cNvSpPr txBox="1"/>
          <p:nvPr/>
        </p:nvSpPr>
        <p:spPr>
          <a:xfrm>
            <a:off x="2656844" y="3174666"/>
            <a:ext cx="176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DEBE SER BAJA!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C0584-6037-E343-8A68-09E383F46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517" y="4472039"/>
            <a:ext cx="3594100" cy="571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882995-8FB4-C849-8AEF-AA91D6D81250}"/>
              </a:ext>
            </a:extLst>
          </p:cNvPr>
          <p:cNvSpPr txBox="1"/>
          <p:nvPr/>
        </p:nvSpPr>
        <p:spPr>
          <a:xfrm>
            <a:off x="5458714" y="602557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Suma de la diagonal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FB69CD-36A9-FA46-8A45-B4318B27F32B}"/>
              </a:ext>
            </a:extLst>
          </p:cNvPr>
          <p:cNvCxnSpPr/>
          <p:nvPr/>
        </p:nvCxnSpPr>
        <p:spPr>
          <a:xfrm flipV="1">
            <a:off x="5707191" y="5110671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90CB80-6248-D348-F1A1-0FCFEEF9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293B19E-A40D-1C3B-E9E1-099FF5C2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004058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84769" y="395126"/>
            <a:ext cx="40302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Criterio</a:t>
            </a:r>
            <a:r>
              <a:rPr lang="en-US" sz="4000" dirty="0">
                <a:latin typeface="Gill Sans MT" panose="020B0502020104020203" pitchFamily="34" charset="77"/>
              </a:rPr>
              <a:t> de Fisher: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1F9EA-9FEA-EE4A-95F6-56D7381E09FF}"/>
              </a:ext>
            </a:extLst>
          </p:cNvPr>
          <p:cNvSpPr txBox="1"/>
          <p:nvPr/>
        </p:nvSpPr>
        <p:spPr>
          <a:xfrm>
            <a:off x="1971926" y="1688980"/>
            <a:ext cx="82896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Se </a:t>
            </a:r>
            <a:r>
              <a:rPr lang="en-US" sz="2800" dirty="0" err="1">
                <a:latin typeface="Gill Sans MT" panose="020B0502020104020203" pitchFamily="34" charset="77"/>
              </a:rPr>
              <a:t>puede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aplicar</a:t>
            </a:r>
            <a:r>
              <a:rPr lang="en-US" sz="2800" dirty="0">
                <a:latin typeface="Gill Sans MT" panose="020B0502020104020203" pitchFamily="34" charset="77"/>
              </a:rPr>
              <a:t> para un </a:t>
            </a:r>
            <a:r>
              <a:rPr lang="en-US" sz="2800" dirty="0" err="1">
                <a:latin typeface="Gill Sans MT" panose="020B0502020104020203" pitchFamily="34" charset="77"/>
              </a:rPr>
              <a:t>problema</a:t>
            </a:r>
            <a:r>
              <a:rPr lang="en-US" sz="2800" dirty="0">
                <a:latin typeface="Gill Sans MT" panose="020B0502020104020203" pitchFamily="34" charset="77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</a:rPr>
              <a:t>clasificación</a:t>
            </a:r>
            <a:r>
              <a:rPr lang="en-US" sz="2800" dirty="0">
                <a:latin typeface="Gill Sans MT" panose="020B0502020104020203" pitchFamily="34" charset="77"/>
              </a:rPr>
              <a:t> de K </a:t>
            </a:r>
            <a:r>
              <a:rPr lang="en-US" sz="2800" dirty="0" err="1">
                <a:latin typeface="Gill Sans MT" panose="020B0502020104020203" pitchFamily="34" charset="77"/>
              </a:rPr>
              <a:t>clases</a:t>
            </a:r>
            <a:r>
              <a:rPr lang="en-US" sz="2800" dirty="0">
                <a:latin typeface="Gill Sans MT" panose="020B0502020104020203" pitchFamily="34" charset="77"/>
              </a:rPr>
              <a:t> y m </a:t>
            </a:r>
            <a:r>
              <a:rPr lang="en-US" sz="2800" dirty="0" err="1">
                <a:latin typeface="Gill Sans MT" panose="020B0502020104020203" pitchFamily="34" charset="77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</a:rPr>
              <a:t>.</a:t>
            </a:r>
          </a:p>
          <a:p>
            <a:endParaRPr lang="en-US" sz="2800" dirty="0">
              <a:latin typeface="Gill Sans MT" panose="020B0502020104020203" pitchFamily="34" charset="77"/>
            </a:endParaRPr>
          </a:p>
          <a:p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Las matrices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 son de m x m, J es un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escalar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D2260E-B9A8-5048-9B72-E53A9607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517" y="4472039"/>
            <a:ext cx="3594100" cy="571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758AD8B-F26A-DD4B-A4D2-ADF76D6558D6}"/>
              </a:ext>
            </a:extLst>
          </p:cNvPr>
          <p:cNvSpPr txBox="1"/>
          <p:nvPr/>
        </p:nvSpPr>
        <p:spPr>
          <a:xfrm>
            <a:off x="5458714" y="602557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Suma de la diagonal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CBD3E1-ABFA-BC41-A030-2DF4B7460B50}"/>
              </a:ext>
            </a:extLst>
          </p:cNvPr>
          <p:cNvCxnSpPr/>
          <p:nvPr/>
        </p:nvCxnSpPr>
        <p:spPr>
          <a:xfrm flipV="1">
            <a:off x="5707191" y="5110671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32F787-2BE9-0162-3C5C-19FA9E63519B}"/>
              </a:ext>
            </a:extLst>
          </p:cNvPr>
          <p:cNvSpPr txBox="1"/>
          <p:nvPr/>
        </p:nvSpPr>
        <p:spPr>
          <a:xfrm rot="19377494">
            <a:off x="-625329" y="2090171"/>
            <a:ext cx="8343845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RECORDAR: </a:t>
            </a:r>
          </a:p>
          <a:p>
            <a:pPr algn="ctr"/>
            <a:endParaRPr lang="es-419" sz="2800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La variable J es un escalar que mide la separabilidad entre las clases </a:t>
            </a:r>
          </a:p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(dado un conjunto de características)</a:t>
            </a:r>
          </a:p>
          <a:p>
            <a:pPr algn="ctr"/>
            <a:endParaRPr lang="es-419" sz="28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7593-69EB-AFAA-DC0F-C9FF9720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D993C-50FD-FE52-5CB9-340168BD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3990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9155EA-217B-B9A2-DDDA-6ECA3B8C7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233" y="647700"/>
            <a:ext cx="6870700" cy="556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048355-33DD-3409-7033-FE05DD9CA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33" y="665720"/>
            <a:ext cx="6743700" cy="539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EBF50E-F87C-56DA-A53E-97E3E887D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111" y="629559"/>
            <a:ext cx="6743700" cy="549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79DA8A-0F01-3F92-E168-266B9DE64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990" y="646048"/>
            <a:ext cx="6832600" cy="5549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A0304C-9625-F416-6CCC-8DEF1B8611BF}"/>
              </a:ext>
            </a:extLst>
          </p:cNvPr>
          <p:cNvSpPr txBox="1"/>
          <p:nvPr/>
        </p:nvSpPr>
        <p:spPr>
          <a:xfrm>
            <a:off x="407194" y="858321"/>
            <a:ext cx="20073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Ejemplos</a:t>
            </a:r>
            <a:endParaRPr lang="en-CL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B7D00-CA83-3B7F-E6A6-85742ED6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8A799D-EA6E-5176-4BAB-400411CA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929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B277CA0B-87E5-104F-98ED-D61D36BAFF20}"/>
              </a:ext>
            </a:extLst>
          </p:cNvPr>
          <p:cNvSpPr txBox="1"/>
          <p:nvPr/>
        </p:nvSpPr>
        <p:spPr>
          <a:xfrm>
            <a:off x="1728901" y="978892"/>
            <a:ext cx="93988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Algoritmo “Clean” (paso “0”)
</a:t>
            </a:r>
          </a:p>
          <a:p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(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este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paso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debe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realizarse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antes de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cualquier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algoritmo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de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selección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de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y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cualquier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normalización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)
</a:t>
            </a:r>
          </a:p>
          <a:p>
            <a:pPr marL="514350" indent="-514350">
              <a:buAutoNum type="arabicPeriod"/>
            </a:pPr>
            <a:r>
              <a:rPr lang="en-US" sz="2800" dirty="0" err="1">
                <a:latin typeface="Gill Sans MT" panose="020B0502020104020203" pitchFamily="34" charset="77"/>
              </a:rPr>
              <a:t>Calcular</a:t>
            </a:r>
            <a:r>
              <a:rPr lang="en-US" sz="2800" dirty="0">
                <a:latin typeface="Gill Sans MT" panose="020B0502020104020203" pitchFamily="34" charset="77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</a:rPr>
              <a:t>correlación</a:t>
            </a:r>
            <a:r>
              <a:rPr lang="en-US" sz="2800" dirty="0">
                <a:latin typeface="Gill Sans MT" panose="020B0502020104020203" pitchFamily="34" charset="77"/>
              </a:rPr>
              <a:t> entre columnas de X</a:t>
            </a:r>
          </a:p>
          <a:p>
            <a:pPr marL="514350" indent="-514350">
              <a:buAutoNum type="arabicPeriod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Gill Sans MT" panose="020B0502020104020203" pitchFamily="34" charset="77"/>
              </a:rPr>
              <a:t>Si hay columnas </a:t>
            </a:r>
            <a:r>
              <a:rPr lang="en-US" sz="2800" dirty="0" err="1">
                <a:latin typeface="Gill Sans MT" panose="020B0502020104020203" pitchFamily="34" charset="77"/>
              </a:rPr>
              <a:t>altamente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</a:rPr>
              <a:t>, </a:t>
            </a:r>
            <a:r>
              <a:rPr lang="en-US" sz="2800" dirty="0" err="1">
                <a:latin typeface="Gill Sans MT" panose="020B0502020104020203" pitchFamily="34" charset="77"/>
              </a:rPr>
              <a:t>selecciona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una</a:t>
            </a:r>
            <a:r>
              <a:rPr lang="en-US" sz="2800" dirty="0">
                <a:latin typeface="Gill Sans MT" panose="020B0502020104020203" pitchFamily="34" charset="77"/>
              </a:rPr>
              <a:t> al azar y </a:t>
            </a:r>
            <a:r>
              <a:rPr lang="en-US" sz="2800" dirty="0" err="1">
                <a:latin typeface="Gill Sans MT" panose="020B0502020104020203" pitchFamily="34" charset="77"/>
              </a:rPr>
              <a:t>elimina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el</a:t>
            </a:r>
            <a:r>
              <a:rPr lang="en-US" sz="2800" dirty="0">
                <a:latin typeface="Gill Sans MT" panose="020B0502020104020203" pitchFamily="34" charset="77"/>
              </a:rPr>
              <a:t> resto</a:t>
            </a:r>
          </a:p>
          <a:p>
            <a:pPr marL="514350" indent="-514350">
              <a:buAutoNum type="arabicPeriod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Gill Sans MT" panose="020B0502020104020203" pitchFamily="34" charset="77"/>
              </a:rPr>
              <a:t>Eliminar </a:t>
            </a:r>
            <a:r>
              <a:rPr lang="en-US" sz="2800" dirty="0" err="1">
                <a:latin typeface="Gill Sans MT" panose="020B0502020104020203" pitchFamily="34" charset="77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constantes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</a:p>
          <a:p>
            <a:r>
              <a:rPr lang="en-US" sz="2800" dirty="0">
                <a:latin typeface="Gill Sans MT" panose="020B0502020104020203" pitchFamily="34" charset="77"/>
              </a:rPr>
              <a:t>	(</a:t>
            </a:r>
            <a:r>
              <a:rPr lang="en-US" sz="2800" dirty="0" err="1">
                <a:latin typeface="Gill Sans MT" panose="020B0502020104020203" pitchFamily="34" charset="77"/>
              </a:rPr>
              <a:t>desviación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estándar</a:t>
            </a:r>
            <a:r>
              <a:rPr lang="en-US" sz="2800" dirty="0">
                <a:latin typeface="Gill Sans MT" panose="020B0502020104020203" pitchFamily="34" charset="77"/>
              </a:rPr>
              <a:t> &lt;10</a:t>
            </a:r>
            <a:r>
              <a:rPr lang="en-US" sz="2800" baseline="30000" dirty="0">
                <a:latin typeface="Gill Sans MT" panose="020B0502020104020203" pitchFamily="34" charset="77"/>
              </a:rPr>
              <a:t>-8</a:t>
            </a:r>
            <a:r>
              <a:rPr lang="en-US" sz="2800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758B4-D0B9-BBCA-3E5E-23A2880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B1F770-7A96-36CB-A92B-3B467E44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677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8AC3-2DF4-D256-EB59-488A87E1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6D65B8-6E6B-9A61-C32F-F72A74219D83}"/>
              </a:ext>
            </a:extLst>
          </p:cNvPr>
          <p:cNvSpPr txBox="1"/>
          <p:nvPr/>
        </p:nvSpPr>
        <p:spPr>
          <a:xfrm>
            <a:off x="2537173" y="1228397"/>
            <a:ext cx="711765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Exhaustiva</a:t>
            </a:r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69EDA-7799-F0BD-5034-55A33D64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6B77F-9B2F-B665-A4EF-A8E936BA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533594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2437884" y="2767280"/>
            <a:ext cx="71063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err="1">
                <a:latin typeface="Gill Sans MT" panose="020B0502020104020203" pitchFamily="34" charset="77"/>
              </a:rPr>
              <a:t>Ejemplo</a:t>
            </a:r>
            <a:r>
              <a:rPr lang="en-US" sz="4000" dirty="0">
                <a:latin typeface="Gill Sans MT" panose="020B0502020104020203" pitchFamily="34" charset="77"/>
              </a:rPr>
              <a:t>: 
de 9 </a:t>
            </a:r>
            <a:r>
              <a:rPr lang="en-US" sz="4000" dirty="0" err="1">
                <a:latin typeface="Gill Sans MT" panose="020B0502020104020203" pitchFamily="34" charset="77"/>
              </a:rPr>
              <a:t>características</a:t>
            </a:r>
            <a:r>
              <a:rPr lang="en-US" sz="4000" dirty="0">
                <a:latin typeface="Gill Sans MT" panose="020B0502020104020203" pitchFamily="34" charset="77"/>
              </a:rPr>
              <a:t>, </a:t>
            </a:r>
            <a:r>
              <a:rPr lang="en-US" sz="4000" dirty="0" err="1">
                <a:latin typeface="Gill Sans MT" panose="020B0502020104020203" pitchFamily="34" charset="77"/>
              </a:rPr>
              <a:t>seleccionar</a:t>
            </a:r>
            <a:r>
              <a:rPr lang="en-US" sz="4000" dirty="0">
                <a:latin typeface="Gill Sans MT" panose="020B0502020104020203" pitchFamily="34" charset="77"/>
              </a:rPr>
              <a:t>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C3FB0-3139-5A29-17CF-173A5C46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9EFB5-714B-846F-CBD1-23A97953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607132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051008" y="960476"/>
            <a:ext cx="82612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076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161" y="561223"/>
            <a:ext cx="638084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Selected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A0A39-5971-6AD7-DF56-892230B8F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701" y="5828908"/>
            <a:ext cx="266700" cy="30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13C65-20BF-20BC-9A07-483F4082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63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FB4E9F5-8159-AE1D-CF94-3A4A6B4F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05006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CD8B-8A6E-8E97-0B22-3B3D438F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F6822-0A7B-1B19-D654-75FAA3C3B36A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Exhaustiva</a:t>
            </a:r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8D742-A0DC-CB84-CC1F-D3D217468B7B}"/>
              </a:ext>
            </a:extLst>
          </p:cNvPr>
          <p:cNvSpPr txBox="1"/>
          <p:nvPr/>
        </p:nvSpPr>
        <p:spPr>
          <a:xfrm rot="2025845">
            <a:off x="8489343" y="2377855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9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B93B2-D77F-00EF-6109-97DB3090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64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97E40D-D3E8-83A9-CF05-1C292B4A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791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2405188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2772741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3140294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3507847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3863176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4230729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598282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4965835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5333388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01410F-78CF-7C4B-AB8C-FC2048B550CA}"/>
              </a:ext>
            </a:extLst>
          </p:cNvPr>
          <p:cNvSpPr txBox="1"/>
          <p:nvPr/>
        </p:nvSpPr>
        <p:spPr>
          <a:xfrm>
            <a:off x="2863703" y="2573079"/>
            <a:ext cx="293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Todas combinaciones de tres: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5F115D-039C-0845-A7B2-237E785EDDD7}"/>
              </a:ext>
            </a:extLst>
          </p:cNvPr>
          <p:cNvSpPr txBox="1"/>
          <p:nvPr/>
        </p:nvSpPr>
        <p:spPr>
          <a:xfrm>
            <a:off x="6714124" y="2573079"/>
            <a:ext cx="1064715" cy="1560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     1     2     3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7     8     9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486E11-A2F8-7A4F-8B3E-9CC824EB1A8E}"/>
              </a:ext>
            </a:extLst>
          </p:cNvPr>
          <p:cNvGrpSpPr/>
          <p:nvPr/>
        </p:nvGrpSpPr>
        <p:grpSpPr>
          <a:xfrm>
            <a:off x="2920290" y="3875710"/>
            <a:ext cx="2300063" cy="830997"/>
            <a:chOff x="1653815" y="3825904"/>
            <a:chExt cx="2300063" cy="83099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9012775-3785-D849-9482-34F0AE86DB8D}"/>
                </a:ext>
              </a:extLst>
            </p:cNvPr>
            <p:cNvSpPr txBox="1"/>
            <p:nvPr/>
          </p:nvSpPr>
          <p:spPr>
            <a:xfrm>
              <a:off x="1653815" y="3825904"/>
              <a:ext cx="92525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atin typeface="Gill Sans MT" panose="020B0502020104020203" pitchFamily="34" charset="77"/>
                </a:rPr>
                <a:t>(  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263AEF7-9608-0C4F-B02A-452C9D58B218}"/>
                </a:ext>
              </a:extLst>
            </p:cNvPr>
            <p:cNvSpPr txBox="1"/>
            <p:nvPr/>
          </p:nvSpPr>
          <p:spPr>
            <a:xfrm>
              <a:off x="1949556" y="3939504"/>
              <a:ext cx="3016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9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3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B61EC5E-ACEF-C149-9DFA-91C232F91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8778" y="3948320"/>
              <a:ext cx="1435100" cy="596900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514FD9E-6D17-534C-AF45-A5084E810BB6}"/>
              </a:ext>
            </a:extLst>
          </p:cNvPr>
          <p:cNvSpPr txBox="1"/>
          <p:nvPr/>
        </p:nvSpPr>
        <p:spPr>
          <a:xfrm>
            <a:off x="2257647" y="5645888"/>
            <a:ext cx="369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Para m = 20, hay 1140 combinaciones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5CE15F3-0633-DB7A-6E7E-E6C8FC27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65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7DAE158-A9C1-14AC-1C2B-BB172CDB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1559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0.15162 L -0.00191 -3.0166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14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6" idx="4"/>
            <a:endCxn id="3" idx="1"/>
          </p:cNvCxnSpPr>
          <p:nvPr/>
        </p:nvCxnSpPr>
        <p:spPr>
          <a:xfrm>
            <a:off x="5371084" y="1714210"/>
            <a:ext cx="705502" cy="624117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8543426-07F2-939B-9E26-C068739C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66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58D214F8-ABAC-9C5D-D660-F32E7D4F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143692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7" idx="4"/>
            <a:endCxn id="3" idx="1"/>
          </p:cNvCxnSpPr>
          <p:nvPr/>
        </p:nvCxnSpPr>
        <p:spPr>
          <a:xfrm>
            <a:off x="5738638" y="1714210"/>
            <a:ext cx="337949" cy="624117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0EADA16-5A35-1AE0-97D9-D682D87D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67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5ACADEF1-2AAD-2395-2CD3-E624F10D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058540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8" idx="4"/>
            <a:endCxn id="3" idx="0"/>
          </p:cNvCxnSpPr>
          <p:nvPr/>
        </p:nvCxnSpPr>
        <p:spPr>
          <a:xfrm flipH="1">
            <a:off x="6092752" y="1714209"/>
            <a:ext cx="1215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D2DA091-E49C-6A99-A846-CCAB3D53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68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C1EA80C-69ED-9DC9-9B5F-1A4D99A9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52894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9" idx="4"/>
            <a:endCxn id="3" idx="0"/>
          </p:cNvCxnSpPr>
          <p:nvPr/>
        </p:nvCxnSpPr>
        <p:spPr>
          <a:xfrm flipH="1">
            <a:off x="6092751" y="1714209"/>
            <a:ext cx="368768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9E02A4C-8B23-C4D0-5257-7C6598FB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69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3FF9FE6D-4F22-602F-D531-D7787478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583351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1C929A9-B57C-E42F-62E8-E573E1B5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70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BDFC06A9-34AB-8377-F3B4-2853D0F8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795392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 flipH="1">
            <a:off x="6092751" y="1714209"/>
            <a:ext cx="110387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C08D1D1-9D54-8457-46C6-6B4CF7A8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71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B303413-ED04-F474-575A-E2DDF7C3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44110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4"/>
            <a:endCxn id="3" idx="0"/>
          </p:cNvCxnSpPr>
          <p:nvPr/>
        </p:nvCxnSpPr>
        <p:spPr>
          <a:xfrm flipH="1">
            <a:off x="6092752" y="1714209"/>
            <a:ext cx="147142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3821096-BBF1-5F33-9F9C-B610562E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72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6B04EB9-58B2-2BE8-54DA-9BB6E558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933789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5738637" y="1714209"/>
            <a:ext cx="35411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D3E4CFF-E3E4-D961-95E1-5EAFE916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73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4E21A107-93F7-98CD-A679-AE989862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31670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8" idx="4"/>
            <a:endCxn id="3" idx="0"/>
          </p:cNvCxnSpPr>
          <p:nvPr/>
        </p:nvCxnSpPr>
        <p:spPr>
          <a:xfrm flipH="1">
            <a:off x="6092752" y="1714209"/>
            <a:ext cx="1215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551893D-CECC-1201-3AA3-FB9C4DDE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74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94206F4-6DA1-0358-6D92-E9881011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156713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9" idx="4"/>
            <a:endCxn id="3" idx="0"/>
          </p:cNvCxnSpPr>
          <p:nvPr/>
        </p:nvCxnSpPr>
        <p:spPr>
          <a:xfrm flipH="1">
            <a:off x="6092751" y="1714209"/>
            <a:ext cx="368768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A8D4A2F-D671-B2B1-B0B6-6604DE88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75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BA6C6CD-8144-6ED4-7C4A-5F53AF5E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83845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E0E5F69-58BA-06A3-B2E8-9E97B1BC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76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F67B90-3A69-50CF-D7DA-6DF2852E9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055011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 flipH="1">
            <a:off x="6092751" y="1714209"/>
            <a:ext cx="110387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C29251E-6306-AB76-5B03-BAF51D44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77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047B533-2FD8-02B4-E1EA-A5900E33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443620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EB79F9-C699-27E1-1454-C7CFC42E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78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48DA5C7-54C0-F4C4-CA69-E620C87E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4391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675342-EC6B-954F-BCB7-07033B812D7F}"/>
              </a:ext>
            </a:extLst>
          </p:cNvPr>
          <p:cNvSpPr txBox="1"/>
          <p:nvPr/>
        </p:nvSpPr>
        <p:spPr>
          <a:xfrm>
            <a:off x="5540883" y="1883456"/>
            <a:ext cx="119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etcetera....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FA31986-DCA0-EF6D-1C32-73090FE3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79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42B0E792-BC24-558D-6489-05526A30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1055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6069891" y="1714209"/>
            <a:ext cx="112673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599387C-3DCE-94AC-33F5-DE6D83F9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80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B20EA29-AB2D-B1AB-8E5D-D6516267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986117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2050917" y="1432380"/>
            <a:ext cx="1019381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Example: Selection of 3 features from 9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i1 = 1,2, …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for i2 = i1+1, … 8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for i3 = i2+1,… 9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Xsel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X(:,(i1,i2,i3))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score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(Xsel)  	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if score&gt;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(i1,i2,i3)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score	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OUTPUT: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744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Exhaustive Search Algorithm - Example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B9936-A2B8-D2E9-0AED-45FFC049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81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088458B-95F3-21F5-602A-482DA092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53294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2050917" y="1432380"/>
            <a:ext cx="977703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Selection of p features from m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   =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all combinations of p numbers taken from m numbers*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number of combinations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initialization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j = 1 to N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all combinations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S(j,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:)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columns of 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score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(X(:,st),d)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if score&gt;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sj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score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OUTPUT: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Matlab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nchoosek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in Python: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scipy.misc.comb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7329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Exhaustive Search Algorithm - General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E9F34-4D01-7B58-CDB0-7C00016A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7FFE265-EC33-FB1A-60C4-859942C4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992997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80C3-6D50-91C3-8C01-D904AC53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4F75CF-C5AA-F00F-A99E-50CABEC2FCAE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66310-419E-76F0-7200-2EDF41C99709}"/>
              </a:ext>
            </a:extLst>
          </p:cNvPr>
          <p:cNvSpPr txBox="1"/>
          <p:nvPr/>
        </p:nvSpPr>
        <p:spPr>
          <a:xfrm rot="2025845">
            <a:off x="9208871" y="2917501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9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4E1BB-3D48-7788-A275-ECA5622C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83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77F0933-FDFE-6EBD-8B38-9C39D870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7706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047001" y="960476"/>
            <a:ext cx="8341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075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161" y="561223"/>
            <a:ext cx="638084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Selected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9F127-9B5D-639F-AE11-CF59299F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992" y="5828908"/>
            <a:ext cx="266700" cy="30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C2427-4ECB-B1BF-266B-7D4E8CF3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CEDE7CD-02E4-3759-FFFD-9CF75DA6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638126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61378" y="1708667"/>
            <a:ext cx="1863256" cy="1309386"/>
            <a:chOff x="2394887" y="1358335"/>
            <a:chExt cx="1863256" cy="130938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94887" y="1358335"/>
              <a:ext cx="1863256" cy="1309386"/>
              <a:chOff x="2394887" y="1358335"/>
              <a:chExt cx="1863256" cy="130938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>
                <a:off x="2394887" y="1358335"/>
                <a:ext cx="1431373" cy="621782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01413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0.75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  0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381D5FA-EEF7-AE28-B9BC-0DFFBFB5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85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EBD4A17B-D451-0D66-4861-00387F624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30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61378" y="1708667"/>
            <a:ext cx="1863256" cy="1309386"/>
            <a:chOff x="2394887" y="1358335"/>
            <a:chExt cx="1863256" cy="130938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94887" y="1358335"/>
              <a:ext cx="1863256" cy="1309386"/>
              <a:chOff x="2394887" y="1358335"/>
              <a:chExt cx="1863256" cy="130938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>
                <a:off x="2394887" y="1358335"/>
                <a:ext cx="1431373" cy="621782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01413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0.75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97F0ECC-7CA7-61C1-A932-A50F73EE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86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8D37753-32A0-F484-71FD-304D6F5C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48393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400829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0.51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A90291C-C90D-10DA-71BD-0CE0E81F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87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0B608A48-518F-4661-8A89-28547B07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479951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336821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0.24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0DDD1FC-59D6-6E67-E19C-8D005637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88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A673CCED-F8F5-3244-8C9E-33ADE9FA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436739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37749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336821" y="1879290"/>
              <a:ext cx="1287835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0.64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A6C2573-2A7F-ECBA-2307-BD7B204C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89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5AA72ED-B70D-E88F-5AAF-FCC791BB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130795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37749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629864" y="1879290"/>
              <a:ext cx="994792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0.93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0.93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6D7CDEA-C28F-D367-8D58-01027902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90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99C486CA-15BB-D7AA-4883-5F28AF1F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541666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65765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629864" y="1879290"/>
              <a:ext cx="994792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0.62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0.93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3AD25E1-FFC2-41C1-DC84-32065B39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91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91618871-9BCC-7FEB-232D-0AC2FA45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32642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160160" cy="1303844"/>
            <a:chOff x="3402421" y="1363877"/>
            <a:chExt cx="116016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160160" cy="1303844"/>
              <a:chOff x="3402421" y="1363877"/>
              <a:chExt cx="116016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0" idx="4"/>
                <a:endCxn id="3" idx="0"/>
              </p:cNvCxnSpPr>
              <p:nvPr/>
            </p:nvCxnSpPr>
            <p:spPr>
              <a:xfrm flipH="1">
                <a:off x="3826260" y="1363877"/>
                <a:ext cx="736321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56037" y="1895821"/>
              <a:ext cx="812780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811874" y="1879290"/>
              <a:ext cx="812781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1.47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0CC5C7E-CC11-4660-93AC-B4F02B9F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92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560F1954-BFFE-370E-8CAB-AC06948A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112525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3" y="1714209"/>
            <a:ext cx="1527713" cy="1303844"/>
            <a:chOff x="3402421" y="1363877"/>
            <a:chExt cx="152771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527713" cy="1303844"/>
              <a:chOff x="3402421" y="1363877"/>
              <a:chExt cx="152771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1" idx="4"/>
                <a:endCxn id="3" idx="0"/>
              </p:cNvCxnSpPr>
              <p:nvPr/>
            </p:nvCxnSpPr>
            <p:spPr>
              <a:xfrm flipH="1">
                <a:off x="3826260" y="1363877"/>
                <a:ext cx="110387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77223" y="1895821"/>
              <a:ext cx="482457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12891" y="1879250"/>
              <a:ext cx="482458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0.27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F2104BE-ED9F-357D-A3E3-C03804A6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93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B0D097D1-A5F7-3729-9B67-427920A5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09742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1"/>
            <a:ext cx="1489946" cy="648797"/>
            <a:chOff x="4210317" y="1642220"/>
            <a:chExt cx="1489946" cy="648797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77223" y="1895821"/>
              <a:ext cx="792179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291627" y="1892053"/>
              <a:ext cx="1260520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0.13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FC83BD7-0958-C0CE-0B78-47BD4110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94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385D9CDB-C1B0-7820-A06A-73C55486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063443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FB77F9-0E42-094F-87AC-D28AE9BCACCE}"/>
              </a:ext>
            </a:extLst>
          </p:cNvPr>
          <p:cNvGrpSpPr/>
          <p:nvPr/>
        </p:nvGrpSpPr>
        <p:grpSpPr>
          <a:xfrm>
            <a:off x="4630436" y="1315415"/>
            <a:ext cx="1894198" cy="1702638"/>
            <a:chOff x="3106436" y="1315415"/>
            <a:chExt cx="1894198" cy="170263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F32E55B-B634-B747-9A91-CFD3BA61BE46}"/>
                </a:ext>
              </a:extLst>
            </p:cNvPr>
            <p:cNvGrpSpPr/>
            <p:nvPr/>
          </p:nvGrpSpPr>
          <p:grpSpPr>
            <a:xfrm>
              <a:off x="3111978" y="1714209"/>
              <a:ext cx="1888656" cy="1303844"/>
              <a:chOff x="2369487" y="1363877"/>
              <a:chExt cx="1888656" cy="1303844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8365735-74EB-C747-9260-45B2C1EF3CB9}"/>
                  </a:ext>
                </a:extLst>
              </p:cNvPr>
              <p:cNvSpPr/>
              <p:nvPr/>
            </p:nvSpPr>
            <p:spPr>
              <a:xfrm>
                <a:off x="3803400" y="1980117"/>
                <a:ext cx="45719" cy="537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C5E7966-3344-DC42-8E10-F7993D87919F}"/>
                  </a:ext>
                </a:extLst>
              </p:cNvPr>
              <p:cNvGrpSpPr/>
              <p:nvPr/>
            </p:nvGrpSpPr>
            <p:grpSpPr>
              <a:xfrm>
                <a:off x="2369487" y="1363877"/>
                <a:ext cx="1888656" cy="1303844"/>
                <a:chOff x="2369487" y="1363877"/>
                <a:chExt cx="1888656" cy="1303844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4447120E-5B8B-1B4B-B2D3-B175551D4B60}"/>
                    </a:ext>
                  </a:extLst>
                </p:cNvPr>
                <p:cNvSpPr/>
                <p:nvPr/>
              </p:nvSpPr>
              <p:spPr>
                <a:xfrm>
                  <a:off x="3402421" y="2325432"/>
                  <a:ext cx="855722" cy="34228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Gill Sans MT" panose="020B0502020104020203" pitchFamily="34" charset="77"/>
                    </a:rPr>
                    <a:t>score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C74CF54-AC49-EE47-A8A7-E4D31598A65D}"/>
                    </a:ext>
                  </a:extLst>
                </p:cNvPr>
                <p:cNvCxnSpPr>
                  <a:cxnSpLocks/>
                  <a:endCxn id="2" idx="0"/>
                </p:cNvCxnSpPr>
                <p:nvPr/>
              </p:nvCxnSpPr>
              <p:spPr>
                <a:xfrm>
                  <a:off x="3829509" y="2056816"/>
                  <a:ext cx="773" cy="268616"/>
                </a:xfrm>
                <a:prstGeom prst="straightConnector1">
                  <a:avLst/>
                </a:prstGeom>
                <a:ln w="6350"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1C416CF-17CE-0644-A7FC-1B6B30918FF7}"/>
                    </a:ext>
                  </a:extLst>
                </p:cNvPr>
                <p:cNvCxnSpPr>
                  <a:cxnSpLocks/>
                  <a:stCxn id="4" idx="4"/>
                  <a:endCxn id="3" idx="0"/>
                </p:cNvCxnSpPr>
                <p:nvPr/>
              </p:nvCxnSpPr>
              <p:spPr>
                <a:xfrm>
                  <a:off x="2369487" y="1363877"/>
                  <a:ext cx="1456773" cy="616240"/>
                </a:xfrm>
                <a:prstGeom prst="line">
                  <a:avLst/>
                </a:prstGeom>
                <a:ln w="6350"/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436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BEC3CBD-BB23-AD0F-9975-561F0EEF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95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3E8F0444-12FE-0A67-A284-69D1972E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9381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-0.18021 -0.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" y="-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526132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1.53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FB77F9-0E42-094F-87AC-D28AE9BCACCE}"/>
              </a:ext>
            </a:extLst>
          </p:cNvPr>
          <p:cNvGrpSpPr/>
          <p:nvPr/>
        </p:nvGrpSpPr>
        <p:grpSpPr>
          <a:xfrm>
            <a:off x="4630436" y="1315415"/>
            <a:ext cx="1894198" cy="1702638"/>
            <a:chOff x="3106436" y="1315415"/>
            <a:chExt cx="1894198" cy="170263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F32E55B-B634-B747-9A91-CFD3BA61BE46}"/>
                </a:ext>
              </a:extLst>
            </p:cNvPr>
            <p:cNvGrpSpPr/>
            <p:nvPr/>
          </p:nvGrpSpPr>
          <p:grpSpPr>
            <a:xfrm>
              <a:off x="3111978" y="1714209"/>
              <a:ext cx="1888656" cy="1303844"/>
              <a:chOff x="2369487" y="1363877"/>
              <a:chExt cx="1888656" cy="1303844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8365735-74EB-C747-9260-45B2C1EF3CB9}"/>
                  </a:ext>
                </a:extLst>
              </p:cNvPr>
              <p:cNvSpPr/>
              <p:nvPr/>
            </p:nvSpPr>
            <p:spPr>
              <a:xfrm>
                <a:off x="3803400" y="1980117"/>
                <a:ext cx="45719" cy="537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C5E7966-3344-DC42-8E10-F7993D87919F}"/>
                  </a:ext>
                </a:extLst>
              </p:cNvPr>
              <p:cNvGrpSpPr/>
              <p:nvPr/>
            </p:nvGrpSpPr>
            <p:grpSpPr>
              <a:xfrm>
                <a:off x="2369487" y="1363877"/>
                <a:ext cx="1888656" cy="1303844"/>
                <a:chOff x="2369487" y="1363877"/>
                <a:chExt cx="1888656" cy="1303844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4447120E-5B8B-1B4B-B2D3-B175551D4B60}"/>
                    </a:ext>
                  </a:extLst>
                </p:cNvPr>
                <p:cNvSpPr/>
                <p:nvPr/>
              </p:nvSpPr>
              <p:spPr>
                <a:xfrm>
                  <a:off x="3402421" y="2325432"/>
                  <a:ext cx="855722" cy="34228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Gill Sans MT" panose="020B0502020104020203" pitchFamily="34" charset="77"/>
                    </a:rPr>
                    <a:t>score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C74CF54-AC49-EE47-A8A7-E4D31598A65D}"/>
                    </a:ext>
                  </a:extLst>
                </p:cNvPr>
                <p:cNvCxnSpPr>
                  <a:cxnSpLocks/>
                  <a:endCxn id="2" idx="0"/>
                </p:cNvCxnSpPr>
                <p:nvPr/>
              </p:nvCxnSpPr>
              <p:spPr>
                <a:xfrm>
                  <a:off x="3829509" y="2056816"/>
                  <a:ext cx="773" cy="268616"/>
                </a:xfrm>
                <a:prstGeom prst="straightConnector1">
                  <a:avLst/>
                </a:prstGeom>
                <a:ln w="6350"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1C416CF-17CE-0644-A7FC-1B6B30918FF7}"/>
                    </a:ext>
                  </a:extLst>
                </p:cNvPr>
                <p:cNvCxnSpPr>
                  <a:cxnSpLocks/>
                  <a:stCxn id="4" idx="4"/>
                  <a:endCxn id="3" idx="0"/>
                </p:cNvCxnSpPr>
                <p:nvPr/>
              </p:nvCxnSpPr>
              <p:spPr>
                <a:xfrm>
                  <a:off x="2369487" y="1363877"/>
                  <a:ext cx="1456773" cy="616240"/>
                </a:xfrm>
                <a:prstGeom prst="line">
                  <a:avLst/>
                </a:prstGeom>
                <a:ln w="6350"/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436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A88B5AE-D687-CB03-50FA-0DF4DAF2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96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A2892E6-05EB-85BC-B37B-D77F33D1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4589026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885363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1.51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1.53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FDC898-B0A3-B540-A7B9-21FB890B8172}"/>
              </a:ext>
            </a:extLst>
          </p:cNvPr>
          <p:cNvCxnSpPr>
            <a:cxnSpLocks/>
          </p:cNvCxnSpPr>
          <p:nvPr/>
        </p:nvCxnSpPr>
        <p:spPr>
          <a:xfrm flipV="1">
            <a:off x="5000553" y="1315416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0F4A607-DD31-5F15-CD67-6C6E7AFA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97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EE80954-3989-3E0E-BF41-5133AAAD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3492562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2.31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25547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9CC34EE-DA21-7F4B-A241-C418225E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87" y="2375380"/>
            <a:ext cx="1378771" cy="1392157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F2E9DD6-8BBE-87FF-0407-0E871709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98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7AD78B36-492E-639F-6C1F-36565C67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37153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2.27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614705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9CC34EE-DA21-7F4B-A241-C418225E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47856">
            <a:off x="6861077" y="2168552"/>
            <a:ext cx="1378771" cy="1392157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D9106E2-0E61-6EED-BC27-B14042CD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99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9BEFFF99-530A-1553-406D-5646E080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96705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2.17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973934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61B93508-319D-3643-8286-4D71BA07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580716">
            <a:off x="6947824" y="2273994"/>
            <a:ext cx="1437543" cy="1451499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C37E7FD-62CE-6889-4390-C1C66F6E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100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802989F-BF8D-CD9C-F9FB-4EFA5334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590788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1.93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6333162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61B93508-319D-3643-8286-4D71BA07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783919" flipH="1" flipV="1">
            <a:off x="6840285" y="2140858"/>
            <a:ext cx="1412441" cy="1426153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C37C053-59A5-7553-6482-D016549F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101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901A26C3-951C-EEAE-AA97-78D98735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8745766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3" y="1714209"/>
            <a:ext cx="1527713" cy="1303844"/>
            <a:chOff x="3402421" y="1363877"/>
            <a:chExt cx="152771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527713" cy="1303844"/>
              <a:chOff x="3402421" y="1363877"/>
              <a:chExt cx="152771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1" idx="4"/>
                <a:endCxn id="3" idx="0"/>
              </p:cNvCxnSpPr>
              <p:nvPr/>
            </p:nvCxnSpPr>
            <p:spPr>
              <a:xfrm flipH="1">
                <a:off x="3826260" y="1363877"/>
                <a:ext cx="110387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073391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DE730A1-CB2A-6846-807F-751FFC29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986" y="2435661"/>
            <a:ext cx="1149277" cy="9205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2D50A41-59DF-8D4F-B60B-AB33C0696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887" y="2948557"/>
            <a:ext cx="885413" cy="1049595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DEDAE9D-7D00-AF96-D604-C64B2040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102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CA00FBB0-9D0B-FA27-0ED9-FBD03D29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352549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44350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B5EA4626-1F2A-E24C-8643-88982788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119763"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0E414CB-8799-EFE9-9AE4-B203F681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103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4B1E464A-4BC6-23A6-050D-F51D93D1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020480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35978" y="1714209"/>
            <a:ext cx="1888656" cy="1303844"/>
            <a:chOff x="2369487" y="1363877"/>
            <a:chExt cx="188865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69487" y="1363877"/>
              <a:ext cx="1888656" cy="1303844"/>
              <a:chOff x="2369487" y="1363877"/>
              <a:chExt cx="188865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4" idx="4"/>
                <a:endCxn id="3" idx="0"/>
              </p:cNvCxnSpPr>
              <p:nvPr/>
            </p:nvCxnSpPr>
            <p:spPr>
              <a:xfrm>
                <a:off x="2369487" y="1363877"/>
                <a:ext cx="1456773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44350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039FA-F865-8D45-84D9-45AF73969A03}"/>
              </a:ext>
            </a:extLst>
          </p:cNvPr>
          <p:cNvCxnSpPr>
            <a:cxnSpLocks/>
          </p:cNvCxnSpPr>
          <p:nvPr/>
        </p:nvCxnSpPr>
        <p:spPr>
          <a:xfrm flipV="1">
            <a:off x="4621158" y="964183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50" y="1949714"/>
            <a:ext cx="2310390" cy="1794388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2426B62-9AC7-7773-1286-AAEF0507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104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6EBB2521-F189-52EF-0A2B-D72D56B0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218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254 L -0.2408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81481E-6 L -0.21171 -0.106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86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4518772" y="734706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35978" y="1714209"/>
            <a:ext cx="1888656" cy="1303844"/>
            <a:chOff x="2369487" y="1363877"/>
            <a:chExt cx="188865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69487" y="1363877"/>
              <a:ext cx="1888656" cy="1303844"/>
              <a:chOff x="2369487" y="1363877"/>
              <a:chExt cx="188865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4" idx="4"/>
                <a:endCxn id="3" idx="0"/>
              </p:cNvCxnSpPr>
              <p:nvPr/>
            </p:nvCxnSpPr>
            <p:spPr>
              <a:xfrm>
                <a:off x="2369487" y="1363877"/>
                <a:ext cx="1456773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4518773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039FA-F865-8D45-84D9-45AF73969A03}"/>
              </a:ext>
            </a:extLst>
          </p:cNvPr>
          <p:cNvCxnSpPr>
            <a:cxnSpLocks/>
          </p:cNvCxnSpPr>
          <p:nvPr/>
        </p:nvCxnSpPr>
        <p:spPr>
          <a:xfrm flipV="1">
            <a:off x="4621158" y="964183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50" y="1949714"/>
            <a:ext cx="2310390" cy="1794388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69058C1-B4F0-08B3-4C6B-440E1D93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105</a:t>
            </a:fld>
            <a:endParaRPr lang="en-CL"/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A67CA456-4D6E-F154-8D84-B91D685C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575699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3.82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4881849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09350" y="1986003"/>
            <a:ext cx="2310390" cy="1721811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2FF5B98-DBF7-F68E-6EC0-F5DD5B62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106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E2775D88-6DEA-FFAE-A437-4960591A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300801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3.70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251648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1986003"/>
            <a:ext cx="2117827" cy="1721811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05C103D-6F66-CD3E-81FE-F54B9139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107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0226E5B-BEBC-1B9E-4B7A-6F879F4F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421536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3.70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621447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10366"/>
            <a:ext cx="2117827" cy="1673083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9225435-B29D-22C5-443A-BB50FC2A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108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AACB63EB-991D-7B48-FD74-58ABB4F5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971203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3.94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977804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18375"/>
            <a:ext cx="2117827" cy="1657062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77A1F69-AA96-F011-BA05-E84C1EAE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109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2469216-7C23-3B5B-9416-91B284FF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8970089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3.64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6334158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54282"/>
            <a:ext cx="2117827" cy="1585249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2098187-B66C-33A8-0CB1-D02DFC01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110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7ED39A5D-4402-C482-0982-580F3C821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899497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3.72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7430097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46905" y="2054282"/>
            <a:ext cx="2035281" cy="1585249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3AA1F33-5E5B-01DF-17B6-3603A0F0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111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73904D3D-CF3C-0348-302D-5B9B7811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996172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430098" y="734706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7430099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8ECE214-7B3B-BF41-B2DF-9E27519F797E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E38500A-1371-C444-89FC-B21E07A960B6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289BAF-F9AA-F449-A11E-9CE939EDCB22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5272323-7CFE-5D44-AD9A-51B1F99D8C33}"/>
              </a:ext>
            </a:extLst>
          </p:cNvPr>
          <p:cNvSpPr txBox="1"/>
          <p:nvPr/>
        </p:nvSpPr>
        <p:spPr>
          <a:xfrm>
            <a:off x="1982978" y="4338918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Características seleccionadas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AB6B1DC-E73A-604A-8E7D-9B73C3267B77}"/>
              </a:ext>
            </a:extLst>
          </p:cNvPr>
          <p:cNvGrpSpPr/>
          <p:nvPr/>
        </p:nvGrpSpPr>
        <p:grpSpPr>
          <a:xfrm>
            <a:off x="4618075" y="2690434"/>
            <a:ext cx="2163395" cy="1672467"/>
            <a:chOff x="3094074" y="2690433"/>
            <a:chExt cx="2163395" cy="1672467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40AE3B8-4BC0-D04C-A12B-9781E562BB27}"/>
                </a:ext>
              </a:extLst>
            </p:cNvPr>
            <p:cNvCxnSpPr/>
            <p:nvPr/>
          </p:nvCxnSpPr>
          <p:spPr>
            <a:xfrm flipV="1">
              <a:off x="3496008" y="3115345"/>
              <a:ext cx="0" cy="12440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A059758-477E-1C48-9904-B6B52CD5555A}"/>
                </a:ext>
              </a:extLst>
            </p:cNvPr>
            <p:cNvCxnSpPr>
              <a:cxnSpLocks/>
            </p:cNvCxnSpPr>
            <p:nvPr/>
          </p:nvCxnSpPr>
          <p:spPr>
            <a:xfrm>
              <a:off x="3496008" y="4362900"/>
              <a:ext cx="176146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15D8AEB-74F4-DB4A-A608-860BE89D5305}"/>
                </a:ext>
              </a:extLst>
            </p:cNvPr>
            <p:cNvSpPr/>
            <p:nvPr/>
          </p:nvSpPr>
          <p:spPr>
            <a:xfrm>
              <a:off x="3777482" y="3774562"/>
              <a:ext cx="229777" cy="57060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2B4DF21-FE20-3F47-8272-78B4CDCDF83F}"/>
                </a:ext>
              </a:extLst>
            </p:cNvPr>
            <p:cNvSpPr/>
            <p:nvPr/>
          </p:nvSpPr>
          <p:spPr>
            <a:xfrm>
              <a:off x="4105319" y="3101160"/>
              <a:ext cx="248932" cy="12440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EDC07FF-31E6-564D-AED4-83BFEED4D283}"/>
                </a:ext>
              </a:extLst>
            </p:cNvPr>
            <p:cNvSpPr/>
            <p:nvPr/>
          </p:nvSpPr>
          <p:spPr>
            <a:xfrm>
              <a:off x="4435945" y="2955856"/>
              <a:ext cx="248932" cy="138784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4495CB-66DC-F24A-A40F-7B6565EE6296}"/>
                </a:ext>
              </a:extLst>
            </p:cNvPr>
            <p:cNvSpPr txBox="1"/>
            <p:nvPr/>
          </p:nvSpPr>
          <p:spPr>
            <a:xfrm>
              <a:off x="3094074" y="295585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08B29D8-AB28-7B45-82AA-BB12C4166D3A}"/>
                </a:ext>
              </a:extLst>
            </p:cNvPr>
            <p:cNvSpPr txBox="1"/>
            <p:nvPr/>
          </p:nvSpPr>
          <p:spPr>
            <a:xfrm>
              <a:off x="4376738" y="2690433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3.94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4B8BC41-D36E-8B4B-B475-E473C7521A63}"/>
                </a:ext>
              </a:extLst>
            </p:cNvPr>
            <p:cNvSpPr txBox="1"/>
            <p:nvPr/>
          </p:nvSpPr>
          <p:spPr>
            <a:xfrm>
              <a:off x="4018770" y="2842833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3.63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F54666E-EDFC-1246-93A3-D5E748501325}"/>
                </a:ext>
              </a:extLst>
            </p:cNvPr>
            <p:cNvSpPr txBox="1"/>
            <p:nvPr/>
          </p:nvSpPr>
          <p:spPr>
            <a:xfrm>
              <a:off x="3682066" y="3548128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1.47</a:t>
              </a: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8F698F4-687E-3CAA-4483-EFE5B714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112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CA3A585-3E94-0976-8208-61554273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5211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324 L -0.17435 0.4870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15" y="2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7037E-7 L -0.1457 0.541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2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81481E-6 L 0.00026 0.4326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2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 animBg="1"/>
      <p:bldP spid="19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1732421" y="1432380"/>
            <a:ext cx="1095364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   = [ ]  	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selected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  = ones(m,1)  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 m features are available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	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initialization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j = 1 to p     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 features to be selected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for k = 1 to m  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X has m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if a(k)  ==  1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is feature k available?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[s, k]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columns of 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J = score(X(st,:),d)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if J&gt;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k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J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a(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0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selected feature is no available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s = [s,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selected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2779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SFS Algorithm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68350-368D-ADDB-E946-DA9F017E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113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4A067E2-32F8-7875-0735-8DC56E3B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993706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95F5-5CAA-2A73-E02C-EA7C20DB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8EE129-D4B0-2FA1-609A-3A2693C85B5F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648D5-C0FC-1F88-CEEF-BEEDB090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114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94903-1F09-62CA-3906-868C3F76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5269680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E92C-6331-8BF8-B110-A4787CEB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762B90-32BF-99F7-1591-04F417DE8D94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DBE1E-8BE2-7635-2FA3-8FF484E4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115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B1593-64AB-8251-442D-FD95DD85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8860116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F1F3-65C3-2563-BEDE-2B130021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91732-44CB-8E7D-770D-DAE881C4C9D3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693D16-BDDD-E190-5B0B-5536830E68C8}"/>
              </a:ext>
            </a:extLst>
          </p:cNvPr>
          <p:cNvSpPr txBox="1"/>
          <p:nvPr/>
        </p:nvSpPr>
        <p:spPr>
          <a:xfrm rot="2025845">
            <a:off x="7323724" y="5103489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5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FFBD-171A-02E5-863D-906633D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116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A74A41C-CD46-7760-2FD9-E57848C6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502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F08C-6948-4980-376F-514BC9A1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B7FAC270-B8E9-950C-0C53-6E8BAB862420}"/>
              </a:ext>
            </a:extLst>
          </p:cNvPr>
          <p:cNvSpPr txBox="1"/>
          <p:nvPr/>
        </p:nvSpPr>
        <p:spPr>
          <a:xfrm>
            <a:off x="3527451" y="960476"/>
            <a:ext cx="8341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E2513F-22E4-8F3A-1CE1-A7818C1D1766}"/>
              </a:ext>
            </a:extLst>
          </p:cNvPr>
          <p:cNvSpPr txBox="1"/>
          <p:nvPr/>
        </p:nvSpPr>
        <p:spPr>
          <a:xfrm>
            <a:off x="9217075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FB9148-5866-912A-E476-EA3EFCD6CCEC}"/>
              </a:ext>
            </a:extLst>
          </p:cNvPr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7CBDFF-4429-B2DE-E86F-FE06BBB01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55457"/>
              </p:ext>
            </p:extLst>
          </p:nvPr>
        </p:nvGraphicFramePr>
        <p:xfrm>
          <a:off x="3131910" y="1423120"/>
          <a:ext cx="1488820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2298DD-927C-92E7-9EFD-6B523EA0AEBF}"/>
              </a:ext>
            </a:extLst>
          </p:cNvPr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93E676D-1602-93F0-9DC6-1434E2A04633}"/>
              </a:ext>
            </a:extLst>
          </p:cNvPr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7B65A4-130F-03BB-16FC-69D2973D4ADB}"/>
              </a:ext>
            </a:extLst>
          </p:cNvPr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F9BD21-2844-EBF4-CA5A-D7C8F6CAA95A}"/>
              </a:ext>
            </a:extLst>
          </p:cNvPr>
          <p:cNvSpPr/>
          <p:nvPr/>
        </p:nvSpPr>
        <p:spPr>
          <a:xfrm>
            <a:off x="4444302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388E09-7EF0-5826-DB75-EE661BD32CED}"/>
              </a:ext>
            </a:extLst>
          </p:cNvPr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03BBF1-A080-681C-6FD3-74A4910FCEBD}"/>
              </a:ext>
            </a:extLst>
          </p:cNvPr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835F26-8C99-0AB3-BB05-CC812AAEDF47}"/>
              </a:ext>
            </a:extLst>
          </p:cNvPr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7AEC74EF-8918-CC70-99AF-831A2BBAE3B3}"/>
              </a:ext>
            </a:extLst>
          </p:cNvPr>
          <p:cNvCxnSpPr>
            <a:stCxn id="18" idx="4"/>
            <a:endCxn id="19" idx="4"/>
          </p:cNvCxnSpPr>
          <p:nvPr/>
        </p:nvCxnSpPr>
        <p:spPr>
          <a:xfrm rot="5400000" flipH="1" flipV="1">
            <a:off x="7195578" y="3406538"/>
            <a:ext cx="2475" cy="5459309"/>
          </a:xfrm>
          <a:prstGeom prst="bentConnector3">
            <a:avLst>
              <a:gd name="adj1" fmla="val -5038020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9FD53B3-82E4-2BA6-3B4F-D5AFD62F098C}"/>
              </a:ext>
            </a:extLst>
          </p:cNvPr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FA8668C-3770-523F-89AD-7EF7588AC669}"/>
              </a:ext>
            </a:extLst>
          </p:cNvPr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ACFCA58-6F39-C4F9-7458-439BBA1D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7C438C-20B4-62F8-DCE8-DFFAEE179C13}"/>
              </a:ext>
            </a:extLst>
          </p:cNvPr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3A48E11-FBC5-C6D5-7D86-1FCFF05FF305}"/>
              </a:ext>
            </a:extLst>
          </p:cNvPr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D19899-868F-3530-CD93-84ADCAC62A1B}"/>
              </a:ext>
            </a:extLst>
          </p:cNvPr>
          <p:cNvCxnSpPr>
            <a:cxnSpLocks/>
          </p:cNvCxnSpPr>
          <p:nvPr/>
        </p:nvCxnSpPr>
        <p:spPr>
          <a:xfrm flipH="1" flipV="1">
            <a:off x="3116494" y="1257101"/>
            <a:ext cx="150423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44274D-C1AA-B7C4-A83B-EDBA3165AA06}"/>
              </a:ext>
            </a:extLst>
          </p:cNvPr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0C4EE9AC-BA5C-0EE9-ABC9-D3F9374153A3}"/>
              </a:ext>
            </a:extLst>
          </p:cNvPr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CD9DCD8-4781-F77D-7ECB-FD89F124F8AA}"/>
              </a:ext>
            </a:extLst>
          </p:cNvPr>
          <p:cNvSpPr txBox="1"/>
          <p:nvPr/>
        </p:nvSpPr>
        <p:spPr>
          <a:xfrm>
            <a:off x="3229611" y="561223"/>
            <a:ext cx="71759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                Selected features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EF46B6-578E-2E6E-0DC3-20C8DB0D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375D2C7-DC03-9363-FBF4-8778774B779E}"/>
              </a:ext>
            </a:extLst>
          </p:cNvPr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AE0A45B-B77F-8E41-1AF5-F8E96D98E7B7}"/>
              </a:ext>
            </a:extLst>
          </p:cNvPr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71194-E712-B6FF-52B6-F428136D9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992" y="5828908"/>
            <a:ext cx="266700" cy="30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9F4E4-636E-D0FA-8A00-645210B2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117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A2E63C8-F781-2D9A-1F9E-CD2A6DF3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1151286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0ED7D-8BC5-1FB0-BEF7-72F32E25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118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61E2C3-1ADD-366F-1BBE-67CFAE80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26D3AA0-11DC-8F7F-AB1B-754ACD4D4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45BCE-ECF2-797D-9AEB-E9D97008D9BA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25254-0F6B-C3EB-9900-67A3098EAD9F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2C9E9-50CA-CA81-7097-F16F6244C82A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F3AB3-7810-586B-61EF-FAD301E1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119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D91EF98-ADDB-CBF6-0C84-5BCBBD70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4496342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 Statement: Given 5 features (1,2,3,4,5), select the best 3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820E7-B7DA-9AEE-3A05-5EA0BB43F956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C8219-920B-F16E-FC22-1AC25F819650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C7C65-136C-F93D-87D8-C3F7A8F64797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F0485A-D729-38C5-2EFD-5DA77FF0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120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FC9D3C7-9929-7A87-048E-07F44DD0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4136229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22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3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4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5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6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3331" name="AutoShape 19"/>
          <p:cNvCxnSpPr>
            <a:cxnSpLocks noChangeShapeType="1"/>
            <a:stCxn id="13322" idx="4"/>
            <a:endCxn id="13323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2" name="AutoShape 20"/>
          <p:cNvCxnSpPr>
            <a:cxnSpLocks noChangeShapeType="1"/>
            <a:stCxn id="13322" idx="4"/>
            <a:endCxn id="13324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3" name="AutoShape 21"/>
          <p:cNvCxnSpPr>
            <a:cxnSpLocks noChangeShapeType="1"/>
            <a:stCxn id="13322" idx="4"/>
            <a:endCxn id="13325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4" name="AutoShape 22"/>
          <p:cNvCxnSpPr>
            <a:cxnSpLocks noChangeShapeType="1"/>
            <a:stCxn id="13322" idx="4"/>
            <a:endCxn id="13326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3351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2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3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4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5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7" name="Oval 45"/>
          <p:cNvSpPr>
            <a:spLocks noChangeArrowheads="1"/>
          </p:cNvSpPr>
          <p:nvPr/>
        </p:nvSpPr>
        <p:spPr bwMode="auto">
          <a:xfrm>
            <a:off x="9191626" y="436562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58" name="Text Box 46"/>
          <p:cNvSpPr txBox="1">
            <a:spLocks noChangeArrowheads="1"/>
          </p:cNvSpPr>
          <p:nvPr/>
        </p:nvSpPr>
        <p:spPr bwMode="auto">
          <a:xfrm>
            <a:off x="9336088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1234</a:t>
            </a:r>
            <a:endParaRPr lang="es-ES" sz="14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13359" name="Text Box 47"/>
          <p:cNvSpPr txBox="1">
            <a:spLocks noChangeArrowheads="1"/>
          </p:cNvSpPr>
          <p:nvPr/>
        </p:nvSpPr>
        <p:spPr bwMode="auto">
          <a:xfrm>
            <a:off x="8616950" y="4437063"/>
            <a:ext cx="18923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>
                <a:latin typeface="Gill Sans MT" panose="020B0502020104020203" pitchFamily="34" charset="77"/>
              </a:rPr>
              <a:t>Esta combinación no es necesaria (como veremos más adelante)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cxnSp>
        <p:nvCxnSpPr>
          <p:cNvPr id="13360" name="AutoShape 48"/>
          <p:cNvCxnSpPr>
            <a:cxnSpLocks noChangeShapeType="1"/>
            <a:stCxn id="13322" idx="4"/>
            <a:endCxn id="13357" idx="0"/>
          </p:cNvCxnSpPr>
          <p:nvPr/>
        </p:nvCxnSpPr>
        <p:spPr bwMode="auto">
          <a:xfrm>
            <a:off x="5953126" y="3573463"/>
            <a:ext cx="3311525" cy="792162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2" name="Text Box 3">
            <a:extLst>
              <a:ext uri="{FF2B5EF4-FFF2-40B4-BE49-F238E27FC236}">
                <a16:creationId xmlns:a16="http://schemas.microsoft.com/office/drawing/2014/main" id="{4E8AC356-EED7-B937-B93A-7886A0911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8333F-1E25-DE53-245C-3608BE237AC1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353CB-4B81-7D56-90CE-5B4FC24019BE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1C0F5-62C5-64FE-29EF-F4F48E4BCACB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62CE3-978B-1AA0-8364-F71423D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121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0382F3-32F8-7E8C-4737-173AF303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877736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3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8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9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0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1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2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48143" name="AutoShape 15"/>
          <p:cNvCxnSpPr>
            <a:cxnSpLocks noChangeShapeType="1"/>
            <a:stCxn id="48138" idx="4"/>
            <a:endCxn id="48139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4" name="AutoShape 16"/>
          <p:cNvCxnSpPr>
            <a:cxnSpLocks noChangeShapeType="1"/>
            <a:stCxn id="48138" idx="4"/>
            <a:endCxn id="48140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5" name="AutoShape 17"/>
          <p:cNvCxnSpPr>
            <a:cxnSpLocks noChangeShapeType="1"/>
            <a:stCxn id="48138" idx="4"/>
            <a:endCxn id="48141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6" name="AutoShape 18"/>
          <p:cNvCxnSpPr>
            <a:cxnSpLocks noChangeShapeType="1"/>
            <a:stCxn id="48138" idx="4"/>
            <a:endCxn id="48142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48" name="Text Box 2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49" name="Text Box 2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50" name="Text Box 2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51" name="Text Box 2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0E09582D-84C6-0714-A345-D7F6EFD26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19359-AB16-70D3-4194-4F44AC6CE020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045E8-2154-2CD6-1126-35E1EE81B851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857B1-73B8-8587-DC19-62A1B89D4361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83571-E700-F504-8E8C-EB978ED4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122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1602AD2-4E4F-306B-D418-9CC34467C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8280365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4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5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5379" name="AutoShape 19"/>
          <p:cNvCxnSpPr>
            <a:cxnSpLocks noChangeShapeType="1"/>
            <a:stCxn id="15370" idx="4"/>
            <a:endCxn id="15371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0" name="AutoShape 20"/>
          <p:cNvCxnSpPr>
            <a:cxnSpLocks noChangeShapeType="1"/>
            <a:stCxn id="15370" idx="4"/>
            <a:endCxn id="15372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1" name="AutoShape 21"/>
          <p:cNvCxnSpPr>
            <a:cxnSpLocks noChangeShapeType="1"/>
            <a:stCxn id="15370" idx="4"/>
            <a:endCxn id="15373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2" name="AutoShape 22"/>
          <p:cNvCxnSpPr>
            <a:cxnSpLocks noChangeShapeType="1"/>
            <a:stCxn id="15370" idx="4"/>
            <a:endCxn id="15374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84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85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5389" name="AutoShape 29"/>
          <p:cNvCxnSpPr>
            <a:cxnSpLocks noChangeShapeType="1"/>
            <a:stCxn id="15371" idx="4"/>
            <a:endCxn id="15384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0" name="AutoShape 30"/>
          <p:cNvCxnSpPr>
            <a:cxnSpLocks noChangeShapeType="1"/>
            <a:stCxn id="15371" idx="4"/>
            <a:endCxn id="15383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1" name="AutoShape 31"/>
          <p:cNvCxnSpPr>
            <a:cxnSpLocks noChangeShapeType="1"/>
            <a:stCxn id="15371" idx="4"/>
            <a:endCxn id="15375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2" name="AutoShape 32"/>
          <p:cNvCxnSpPr>
            <a:cxnSpLocks noChangeShapeType="1"/>
            <a:stCxn id="15371" idx="4"/>
            <a:endCxn id="15385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399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0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1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2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3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4" name="Text Box 44"/>
          <p:cNvSpPr txBox="1">
            <a:spLocks noChangeArrowheads="1"/>
          </p:cNvSpPr>
          <p:nvPr/>
        </p:nvSpPr>
        <p:spPr bwMode="auto">
          <a:xfrm>
            <a:off x="2640014" y="5516564"/>
            <a:ext cx="17588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09CEF317-BBD6-4D3D-CE46-7B48FDBB3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97DFF-646F-E975-985B-6B6AD67FD232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2DA9A-F8ED-3A35-BAB4-D0BFC5712D0E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705A7-44C2-84D7-4C3C-3BC670BADC42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A52EDA-DD3F-FD1D-6C8B-DF2F645C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123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8F5BAFF-E45E-9075-D262-43EF83C8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856275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2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3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4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7427" name="AutoShape 19"/>
          <p:cNvCxnSpPr>
            <a:cxnSpLocks noChangeShapeType="1"/>
            <a:stCxn id="17418" idx="4"/>
            <a:endCxn id="17419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28" name="AutoShape 20"/>
          <p:cNvCxnSpPr>
            <a:cxnSpLocks noChangeShapeType="1"/>
            <a:stCxn id="17418" idx="4"/>
            <a:endCxn id="17420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29" name="AutoShape 21"/>
          <p:cNvCxnSpPr>
            <a:cxnSpLocks noChangeShapeType="1"/>
            <a:stCxn id="17418" idx="4"/>
            <a:endCxn id="17421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0" name="AutoShape 22"/>
          <p:cNvCxnSpPr>
            <a:cxnSpLocks noChangeShapeType="1"/>
            <a:stCxn id="17418" idx="4"/>
            <a:endCxn id="17422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431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2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3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5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7437" name="AutoShape 29"/>
          <p:cNvCxnSpPr>
            <a:cxnSpLocks noChangeShapeType="1"/>
            <a:stCxn id="17419" idx="4"/>
            <a:endCxn id="17432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8" name="AutoShape 30"/>
          <p:cNvCxnSpPr>
            <a:cxnSpLocks noChangeShapeType="1"/>
            <a:stCxn id="17419" idx="4"/>
            <a:endCxn id="17431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9" name="AutoShape 31"/>
          <p:cNvCxnSpPr>
            <a:cxnSpLocks noChangeShapeType="1"/>
            <a:stCxn id="17419" idx="4"/>
            <a:endCxn id="17423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0" name="AutoShape 32"/>
          <p:cNvCxnSpPr>
            <a:cxnSpLocks noChangeShapeType="1"/>
            <a:stCxn id="17419" idx="4"/>
            <a:endCxn id="17433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1" name="AutoShape 33"/>
          <p:cNvCxnSpPr>
            <a:cxnSpLocks noChangeShapeType="1"/>
            <a:endCxn id="17434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2" name="AutoShape 34"/>
          <p:cNvCxnSpPr>
            <a:cxnSpLocks noChangeShapeType="1"/>
            <a:endCxn id="17424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3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48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1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2" name="Text Box 44"/>
          <p:cNvSpPr txBox="1">
            <a:spLocks noChangeArrowheads="1"/>
          </p:cNvSpPr>
          <p:nvPr/>
        </p:nvSpPr>
        <p:spPr bwMode="auto">
          <a:xfrm>
            <a:off x="2640013" y="5516564"/>
            <a:ext cx="380905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3" name="Text Box 45"/>
          <p:cNvSpPr txBox="1">
            <a:spLocks noChangeArrowheads="1"/>
          </p:cNvSpPr>
          <p:nvPr/>
        </p:nvSpPr>
        <p:spPr bwMode="auto">
          <a:xfrm>
            <a:off x="4295775" y="5734050"/>
            <a:ext cx="19446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345 no es necesario porque ya </a:t>
            </a:r>
          </a:p>
          <a:p>
            <a:pPr algn="ctr"/>
            <a:r>
              <a:rPr lang="es-CL" sz="1000" dirty="0">
                <a:latin typeface="Gill Sans MT" panose="020B0502020104020203" pitchFamily="34" charset="77"/>
              </a:rPr>
              <a:t>fue considerada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E0D0EC7C-0F1C-D71A-B805-7E092A5D1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A9C25-E754-8D79-C4E0-51C0801B5038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F52FF-B3FD-FBAD-94DD-689004BCECA5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0B282-F6DE-58CD-C1FA-AAEAEEE2D18D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E12C9-944C-61F9-08DE-E4062F53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B5B3473-4C66-9590-71E4-6C662721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94160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9475" name="AutoShape 19"/>
          <p:cNvCxnSpPr>
            <a:cxnSpLocks noChangeShapeType="1"/>
            <a:stCxn id="19466" idx="4"/>
            <a:endCxn id="1946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6" name="AutoShape 20"/>
          <p:cNvCxnSpPr>
            <a:cxnSpLocks noChangeShapeType="1"/>
            <a:stCxn id="19466" idx="4"/>
            <a:endCxn id="1946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7" name="AutoShape 21"/>
          <p:cNvCxnSpPr>
            <a:cxnSpLocks noChangeShapeType="1"/>
            <a:stCxn id="19466" idx="4"/>
            <a:endCxn id="1946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8" name="AutoShape 22"/>
          <p:cNvCxnSpPr>
            <a:cxnSpLocks noChangeShapeType="1"/>
            <a:stCxn id="19466" idx="4"/>
            <a:endCxn id="1947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47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9485" name="AutoShape 29"/>
          <p:cNvCxnSpPr>
            <a:cxnSpLocks noChangeShapeType="1"/>
            <a:stCxn id="19467" idx="4"/>
            <a:endCxn id="1948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6" name="AutoShape 30"/>
          <p:cNvCxnSpPr>
            <a:cxnSpLocks noChangeShapeType="1"/>
            <a:stCxn id="19467" idx="4"/>
            <a:endCxn id="1947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7" name="AutoShape 31"/>
          <p:cNvCxnSpPr>
            <a:cxnSpLocks noChangeShapeType="1"/>
            <a:stCxn id="19467" idx="4"/>
            <a:endCxn id="1947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8" name="AutoShape 32"/>
          <p:cNvCxnSpPr>
            <a:cxnSpLocks noChangeShapeType="1"/>
            <a:stCxn id="19467" idx="4"/>
            <a:endCxn id="1948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9" name="AutoShape 33"/>
          <p:cNvCxnSpPr>
            <a:cxnSpLocks noChangeShapeType="1"/>
            <a:endCxn id="1948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0" name="AutoShape 34"/>
          <p:cNvCxnSpPr>
            <a:cxnSpLocks noChangeShapeType="1"/>
            <a:endCxn id="1947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2" name="AutoShape 36"/>
          <p:cNvCxnSpPr>
            <a:cxnSpLocks noChangeShapeType="1"/>
            <a:stCxn id="19469" idx="4"/>
            <a:endCxn id="1947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3" name="AutoShape 37"/>
          <p:cNvCxnSpPr>
            <a:cxnSpLocks noChangeShapeType="1"/>
            <a:endCxn id="1948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49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2640013" y="5516564"/>
            <a:ext cx="48942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501" name="Text Box 45"/>
          <p:cNvSpPr txBox="1">
            <a:spLocks noChangeArrowheads="1"/>
          </p:cNvSpPr>
          <p:nvPr/>
        </p:nvSpPr>
        <p:spPr bwMode="auto">
          <a:xfrm>
            <a:off x="5880100" y="5805488"/>
            <a:ext cx="19446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los tríos 145 y 245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1B241D6B-00A3-02CD-7E28-91409826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56BBE-F480-315C-B839-8220450D34C7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2CC69-DB15-144A-5926-F1DA26E22CC4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278F99-46F4-D1C8-BC50-6CF08CDBF247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060A2-1AEC-7A43-2360-9E621B87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125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974DEDE-B366-6D9D-C3AD-C786960B9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668454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8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9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0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1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2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1523" name="AutoShape 19"/>
          <p:cNvCxnSpPr>
            <a:cxnSpLocks noChangeShapeType="1"/>
            <a:stCxn id="21514" idx="4"/>
            <a:endCxn id="21515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4" name="AutoShape 20"/>
          <p:cNvCxnSpPr>
            <a:cxnSpLocks noChangeShapeType="1"/>
            <a:stCxn id="21514" idx="4"/>
            <a:endCxn id="21516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5" name="AutoShape 21"/>
          <p:cNvCxnSpPr>
            <a:cxnSpLocks noChangeShapeType="1"/>
            <a:stCxn id="21514" idx="4"/>
            <a:endCxn id="21517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6" name="AutoShape 22"/>
          <p:cNvCxnSpPr>
            <a:cxnSpLocks noChangeShapeType="1"/>
            <a:stCxn id="21514" idx="4"/>
            <a:endCxn id="21518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527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8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9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0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1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1533" name="AutoShape 29"/>
          <p:cNvCxnSpPr>
            <a:cxnSpLocks noChangeShapeType="1"/>
            <a:stCxn id="21515" idx="4"/>
            <a:endCxn id="21528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4" name="AutoShape 30"/>
          <p:cNvCxnSpPr>
            <a:cxnSpLocks noChangeShapeType="1"/>
            <a:stCxn id="21515" idx="4"/>
            <a:endCxn id="21527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5" name="AutoShape 31"/>
          <p:cNvCxnSpPr>
            <a:cxnSpLocks noChangeShapeType="1"/>
            <a:stCxn id="21515" idx="4"/>
            <a:endCxn id="21519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6" name="AutoShape 32"/>
          <p:cNvCxnSpPr>
            <a:cxnSpLocks noChangeShapeType="1"/>
            <a:stCxn id="21515" idx="4"/>
            <a:endCxn id="21529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7" name="AutoShape 33"/>
          <p:cNvCxnSpPr>
            <a:cxnSpLocks noChangeShapeType="1"/>
            <a:endCxn id="21530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8" name="AutoShape 34"/>
          <p:cNvCxnSpPr>
            <a:cxnSpLocks noChangeShapeType="1"/>
            <a:endCxn id="21520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9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0" name="AutoShape 36"/>
          <p:cNvCxnSpPr>
            <a:cxnSpLocks noChangeShapeType="1"/>
            <a:stCxn id="21517" idx="4"/>
            <a:endCxn id="21521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1" name="AutoShape 37"/>
          <p:cNvCxnSpPr>
            <a:cxnSpLocks noChangeShapeType="1"/>
            <a:endCxn id="21532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2" name="AutoShape 38"/>
          <p:cNvCxnSpPr>
            <a:cxnSpLocks noChangeShapeType="1"/>
            <a:stCxn id="21518" idx="4"/>
            <a:endCxn id="21522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6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7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9" name="Text Box 45"/>
          <p:cNvSpPr txBox="1">
            <a:spLocks noChangeArrowheads="1"/>
          </p:cNvSpPr>
          <p:nvPr/>
        </p:nvSpPr>
        <p:spPr bwMode="auto">
          <a:xfrm>
            <a:off x="7389820" y="5805488"/>
            <a:ext cx="144145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235, 135 y 125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42EA060A-F69B-5130-F9A8-1CE6BFDCF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DADA-D6EA-D634-C523-87C652BC96DE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7029C-9E69-C9FC-CFB7-0512B40440C4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AAC35-2D63-6452-3882-C829D87403B0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8A98ABDE-0496-ECA1-A47F-2218D3485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33CD86-CF98-D03C-9B01-66F81658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126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696F0F3-A8F3-0996-D22F-80936A66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253943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2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6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7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8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9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0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1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2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2243" name="AutoShape 19"/>
          <p:cNvCxnSpPr>
            <a:cxnSpLocks noChangeShapeType="1"/>
            <a:stCxn id="52234" idx="4"/>
            <a:endCxn id="52235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4" name="AutoShape 20"/>
          <p:cNvCxnSpPr>
            <a:cxnSpLocks noChangeShapeType="1"/>
            <a:stCxn id="52234" idx="4"/>
            <a:endCxn id="52236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5" name="AutoShape 21"/>
          <p:cNvCxnSpPr>
            <a:cxnSpLocks noChangeShapeType="1"/>
            <a:stCxn id="52234" idx="4"/>
            <a:endCxn id="52237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6" name="AutoShape 22"/>
          <p:cNvCxnSpPr>
            <a:cxnSpLocks noChangeShapeType="1"/>
            <a:stCxn id="52234" idx="4"/>
            <a:endCxn id="52238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247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8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9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0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1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2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2253" name="AutoShape 29"/>
          <p:cNvCxnSpPr>
            <a:cxnSpLocks noChangeShapeType="1"/>
            <a:stCxn id="52235" idx="4"/>
            <a:endCxn id="52248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4" name="AutoShape 30"/>
          <p:cNvCxnSpPr>
            <a:cxnSpLocks noChangeShapeType="1"/>
            <a:stCxn id="52235" idx="4"/>
            <a:endCxn id="52247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5" name="AutoShape 31"/>
          <p:cNvCxnSpPr>
            <a:cxnSpLocks noChangeShapeType="1"/>
            <a:stCxn id="52235" idx="4"/>
            <a:endCxn id="52239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6" name="AutoShape 32"/>
          <p:cNvCxnSpPr>
            <a:cxnSpLocks noChangeShapeType="1"/>
            <a:stCxn id="52235" idx="4"/>
            <a:endCxn id="52249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7" name="AutoShape 33"/>
          <p:cNvCxnSpPr>
            <a:cxnSpLocks noChangeShapeType="1"/>
            <a:endCxn id="52250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8" name="AutoShape 34"/>
          <p:cNvCxnSpPr>
            <a:cxnSpLocks noChangeShapeType="1"/>
            <a:endCxn id="52240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9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0" name="AutoShape 36"/>
          <p:cNvCxnSpPr>
            <a:cxnSpLocks noChangeShapeType="1"/>
            <a:stCxn id="52237" idx="4"/>
            <a:endCxn id="52241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1" name="AutoShape 37"/>
          <p:cNvCxnSpPr>
            <a:cxnSpLocks noChangeShapeType="1"/>
            <a:endCxn id="52252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2" name="AutoShape 38"/>
          <p:cNvCxnSpPr>
            <a:cxnSpLocks noChangeShapeType="1"/>
            <a:stCxn id="52238" idx="4"/>
            <a:endCxn id="52242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7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52270" name="AutoShape 46"/>
          <p:cNvCxnSpPr>
            <a:cxnSpLocks noChangeShapeType="1"/>
          </p:cNvCxnSpPr>
          <p:nvPr/>
        </p:nvCxnSpPr>
        <p:spPr bwMode="auto">
          <a:xfrm>
            <a:off x="5951539" y="3573463"/>
            <a:ext cx="3311525" cy="792162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52271" name="Text Box 47"/>
          <p:cNvSpPr txBox="1">
            <a:spLocks noChangeArrowheads="1"/>
          </p:cNvSpPr>
          <p:nvPr/>
        </p:nvSpPr>
        <p:spPr bwMode="auto">
          <a:xfrm>
            <a:off x="93345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1234</a:t>
            </a:r>
            <a:endParaRPr lang="es-ES" sz="14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52272" name="Oval 48"/>
          <p:cNvSpPr>
            <a:spLocks noChangeArrowheads="1"/>
          </p:cNvSpPr>
          <p:nvPr/>
        </p:nvSpPr>
        <p:spPr bwMode="auto">
          <a:xfrm>
            <a:off x="919162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73" name="Text Box 49"/>
          <p:cNvSpPr txBox="1">
            <a:spLocks noChangeArrowheads="1"/>
          </p:cNvSpPr>
          <p:nvPr/>
        </p:nvSpPr>
        <p:spPr bwMode="auto">
          <a:xfrm>
            <a:off x="8616950" y="4437063"/>
            <a:ext cx="18923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los tríos de 1234 (234, 134, 124 y 123).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7E764785-9393-10AC-A94C-823A96504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89211F54-D018-1DA5-BF32-A82984F83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30297-FFE0-C873-41BB-682ACFD0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127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32FDA4-6C79-97A3-3317-93D5A58A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9067209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82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3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4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5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6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7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8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9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0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4291" name="AutoShape 19"/>
          <p:cNvCxnSpPr>
            <a:cxnSpLocks noChangeShapeType="1"/>
            <a:stCxn id="54282" idx="4"/>
            <a:endCxn id="54283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2" name="AutoShape 20"/>
          <p:cNvCxnSpPr>
            <a:cxnSpLocks noChangeShapeType="1"/>
            <a:stCxn id="54282" idx="4"/>
            <a:endCxn id="54284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3" name="AutoShape 21"/>
          <p:cNvCxnSpPr>
            <a:cxnSpLocks noChangeShapeType="1"/>
            <a:stCxn id="54282" idx="4"/>
            <a:endCxn id="54285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4" name="AutoShape 22"/>
          <p:cNvCxnSpPr>
            <a:cxnSpLocks noChangeShapeType="1"/>
            <a:stCxn id="54282" idx="4"/>
            <a:endCxn id="54286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295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6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7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8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300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4301" name="AutoShape 29"/>
          <p:cNvCxnSpPr>
            <a:cxnSpLocks noChangeShapeType="1"/>
            <a:stCxn id="54283" idx="4"/>
            <a:endCxn id="54296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2" name="AutoShape 30"/>
          <p:cNvCxnSpPr>
            <a:cxnSpLocks noChangeShapeType="1"/>
            <a:stCxn id="54283" idx="4"/>
            <a:endCxn id="54295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3" name="AutoShape 31"/>
          <p:cNvCxnSpPr>
            <a:cxnSpLocks noChangeShapeType="1"/>
            <a:stCxn id="54283" idx="4"/>
            <a:endCxn id="54287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4" name="AutoShape 32"/>
          <p:cNvCxnSpPr>
            <a:cxnSpLocks noChangeShapeType="1"/>
            <a:stCxn id="54283" idx="4"/>
            <a:endCxn id="54297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5" name="AutoShape 33"/>
          <p:cNvCxnSpPr>
            <a:cxnSpLocks noChangeShapeType="1"/>
            <a:endCxn id="54298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6" name="AutoShape 34"/>
          <p:cNvCxnSpPr>
            <a:cxnSpLocks noChangeShapeType="1"/>
            <a:endCxn id="54288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7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8" name="AutoShape 36"/>
          <p:cNvCxnSpPr>
            <a:cxnSpLocks noChangeShapeType="1"/>
            <a:stCxn id="54285" idx="4"/>
            <a:endCxn id="54289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9" name="AutoShape 37"/>
          <p:cNvCxnSpPr>
            <a:cxnSpLocks noChangeShapeType="1"/>
            <a:endCxn id="54300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10" name="AutoShape 38"/>
          <p:cNvCxnSpPr>
            <a:cxnSpLocks noChangeShapeType="1"/>
            <a:stCxn id="54286" idx="4"/>
            <a:endCxn id="54290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311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2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3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4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5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21" name="Text Box 49"/>
          <p:cNvSpPr txBox="1">
            <a:spLocks noChangeArrowheads="1"/>
          </p:cNvSpPr>
          <p:nvPr/>
        </p:nvSpPr>
        <p:spPr bwMode="auto">
          <a:xfrm>
            <a:off x="2711450" y="5805489"/>
            <a:ext cx="619283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sz="1000" dirty="0">
                <a:latin typeface="Gill Sans MT" panose="020B0502020104020203" pitchFamily="34" charset="77"/>
              </a:rPr>
              <a:t>En el Level 2 están todas las combinaciones posibles de 3 características.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F17E7951-033E-C6B0-2345-0864D9789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4B670104-A58B-4712-FE20-A53436A82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B9462-16E4-C2D6-48C0-275FB935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128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5A91984-8598-809A-A026-8A7E61CC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6934961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991EC22E-C221-A976-FD8B-B1B4797D6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585206BC-2AD3-EA73-B109-DD3DF85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6357-2F78-997E-E062-DD209FEA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129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420C882-6995-453E-F668-DE960B33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8554851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77144AE-814E-F484-54C2-A075E6719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" name="Text Box 44">
            <a:extLst>
              <a:ext uri="{FF2B5EF4-FFF2-40B4-BE49-F238E27FC236}">
                <a16:creationId xmlns:a16="http://schemas.microsoft.com/office/drawing/2014/main" id="{4A628A4D-6672-8AF0-3520-1BC8035D8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4BC814-7145-CBA4-E687-1D5EA79E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130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EE900AB-3618-A139-44B7-F3DAAD67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2197178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82C2D80-000D-40BF-6079-3C04C67E6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FFB5975F-A655-9C2F-C4E2-790277681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5A3736-D16E-B8B7-E667-3487620C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131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6B72A97-C572-E168-30F5-E5024BC7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5131482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53490049-CD65-CC0F-4F80-959EE4295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8" name="Text Box 44">
            <a:extLst>
              <a:ext uri="{FF2B5EF4-FFF2-40B4-BE49-F238E27FC236}">
                <a16:creationId xmlns:a16="http://schemas.microsoft.com/office/drawing/2014/main" id="{37253572-D028-22A2-CFB9-0A1CC0757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28D3EB-4D7B-271F-A7C9-90D805EE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132</a:t>
            </a:fld>
            <a:endParaRPr lang="en-CL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9057D5B-7B7D-C2EA-7540-850A264E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718362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 Box 48">
            <a:extLst>
              <a:ext uri="{FF2B5EF4-FFF2-40B4-BE49-F238E27FC236}">
                <a16:creationId xmlns:a16="http://schemas.microsoft.com/office/drawing/2014/main" id="{BA6DC1FA-D340-1C24-BDF2-D446BF83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99BC904-89E5-8B95-3339-63F0079EB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" name="Text Box 44">
            <a:extLst>
              <a:ext uri="{FF2B5EF4-FFF2-40B4-BE49-F238E27FC236}">
                <a16:creationId xmlns:a16="http://schemas.microsoft.com/office/drawing/2014/main" id="{44D351FB-27F1-838C-8202-EAF10561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2C489F-1D9B-D8D0-ADD6-8B5E4077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133</a:t>
            </a:fld>
            <a:endParaRPr lang="en-CL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F23456-4852-4483-2F04-D295C24CE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5299613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523D8A39-5397-1A42-78B9-5DE275195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" name="Text Box 44">
            <a:extLst>
              <a:ext uri="{FF2B5EF4-FFF2-40B4-BE49-F238E27FC236}">
                <a16:creationId xmlns:a16="http://schemas.microsoft.com/office/drawing/2014/main" id="{EEE510D0-4503-F712-89FC-A0C3848C8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0CC9A90-FD3F-CB75-A128-BCF718F3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134</a:t>
            </a:fld>
            <a:endParaRPr lang="en-CL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2DDB04F-0972-8E0A-EBAE-F2284FA4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6584318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78BC7CC4-9BD0-2D5F-8DCC-F77E16B04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" name="Text Box 44">
            <a:extLst>
              <a:ext uri="{FF2B5EF4-FFF2-40B4-BE49-F238E27FC236}">
                <a16:creationId xmlns:a16="http://schemas.microsoft.com/office/drawing/2014/main" id="{E7FF160A-EB5C-6156-E887-661F3131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42A41F-2A25-5201-2933-851A87DA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135</a:t>
            </a:fld>
            <a:endParaRPr lang="en-CL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4D5233B6-2F26-8A1A-FBD1-995B79F8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0025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330413-6F57-F037-B327-72CEB09E057C}"/>
              </a:ext>
            </a:extLst>
          </p:cNvPr>
          <p:cNvSpPr/>
          <p:nvPr/>
        </p:nvSpPr>
        <p:spPr>
          <a:xfrm>
            <a:off x="7441519" y="6180933"/>
            <a:ext cx="26289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Como 78&gt;77, la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selección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125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mejor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la 123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391E6BAC-E747-1C10-18CD-382E85786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C6B36577-1488-3364-7775-877DDC84C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EC2248A-DF2F-3B45-BB7B-3EAF3397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136</a:t>
            </a:fld>
            <a:endParaRPr lang="en-CL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65FB913B-AF24-B68A-E6B1-50A5BE5A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6108722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A9AC8186-E109-0391-07A4-1425EBD6D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" name="Text Box 44">
            <a:extLst>
              <a:ext uri="{FF2B5EF4-FFF2-40B4-BE49-F238E27FC236}">
                <a16:creationId xmlns:a16="http://schemas.microsoft.com/office/drawing/2014/main" id="{212A718D-F24C-AB21-EFFF-3D4C263C8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55ED546-A64F-6C0F-3516-2699A320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137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D39AB91B-D5C8-A952-519F-651B1FDB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8337718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600C4-7442-D164-24AE-5F2F1724B00D}"/>
              </a:ext>
            </a:extLst>
          </p:cNvPr>
          <p:cNvSpPr/>
          <p:nvPr/>
        </p:nvSpPr>
        <p:spPr>
          <a:xfrm>
            <a:off x="7486487" y="6030952"/>
            <a:ext cx="27862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No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necesario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evaluar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los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tríos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145, 135 y 134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porque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60 </a:t>
            </a:r>
          </a:p>
          <a:p>
            <a:pPr algn="ctr"/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entonces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78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6FCBC370-A667-7B25-C2B2-A4131DC8D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" name="Text Box 44">
            <a:extLst>
              <a:ext uri="{FF2B5EF4-FFF2-40B4-BE49-F238E27FC236}">
                <a16:creationId xmlns:a16="http://schemas.microsoft.com/office/drawing/2014/main" id="{D95C6B70-2BB6-D222-89B2-321676473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F732175-DFCE-88E1-88C0-D6EF2500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138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930FD74D-2E6C-57D7-10C6-C880530B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505150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821AB7B3-1D09-324B-E2BD-829E5D9F0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" name="Text Box 44">
            <a:extLst>
              <a:ext uri="{FF2B5EF4-FFF2-40B4-BE49-F238E27FC236}">
                <a16:creationId xmlns:a16="http://schemas.microsoft.com/office/drawing/2014/main" id="{91DF0BC2-9F77-D1CC-D19A-8E9F2B346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2FE784F-1C96-A757-7724-F8468986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139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BF8E2BB-C114-6CEA-D681-60AE7C7C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5664426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A64A8117-8B9E-D164-040E-C80999CD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" name="Text Box 44">
            <a:extLst>
              <a:ext uri="{FF2B5EF4-FFF2-40B4-BE49-F238E27FC236}">
                <a16:creationId xmlns:a16="http://schemas.microsoft.com/office/drawing/2014/main" id="{2B90D3CA-83E5-7537-D41B-D5C94DDD6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A41E310-2FE4-3146-C9D0-4859EB77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140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AFD62FE3-5ECE-A7DB-3C38-1BDC23E4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5020675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6FD897F7-2CE7-5D94-D871-84902049E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4" name="Text Box 44">
            <a:extLst>
              <a:ext uri="{FF2B5EF4-FFF2-40B4-BE49-F238E27FC236}">
                <a16:creationId xmlns:a16="http://schemas.microsoft.com/office/drawing/2014/main" id="{CF3204D0-A2B3-6EF2-B229-5CA26ACC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EB46A-7949-2F2B-7C7F-8D0F8CCC8B90}"/>
              </a:ext>
            </a:extLst>
          </p:cNvPr>
          <p:cNvSpPr/>
          <p:nvPr/>
        </p:nvSpPr>
        <p:spPr>
          <a:xfrm>
            <a:off x="7486487" y="6030952"/>
            <a:ext cx="27862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No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necesario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evaluar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los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tríos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345, 235 y 234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porque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65 </a:t>
            </a:r>
          </a:p>
          <a:p>
            <a:pPr algn="ctr"/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entonces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78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CD8B07A6-CA5F-7CBF-5E83-8B109D04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141</a:t>
            </a:fld>
            <a:endParaRPr lang="en-CL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938F8B17-4ABA-7920-E945-82812CE0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9990451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FEFCC7FC-9909-AB97-4F90-2F6BC28A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" name="Text Box 44">
            <a:extLst>
              <a:ext uri="{FF2B5EF4-FFF2-40B4-BE49-F238E27FC236}">
                <a16:creationId xmlns:a16="http://schemas.microsoft.com/office/drawing/2014/main" id="{FD1EE892-929D-9FA1-0A67-6F20082D3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345   245   235    234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D4EA93A-F004-EFC4-4EEC-7FEC4FF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142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BCDDB8F7-4D03-3569-E127-E653AAE4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453387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F5F375-8A38-E29A-D118-8562129E4D0B}"/>
              </a:ext>
            </a:extLst>
          </p:cNvPr>
          <p:cNvSpPr/>
          <p:nvPr/>
        </p:nvSpPr>
        <p:spPr>
          <a:xfrm>
            <a:off x="2855640" y="1628800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FF6600"/>
                </a:solidFill>
                <a:latin typeface="Gill Sans MT" panose="020B0502020104020203" pitchFamily="34" charset="77"/>
              </a:rPr>
              <a:t>Encontramos el máximo global tras 8 evaluaciones (usando B&amp;B)</a:t>
            </a:r>
            <a:endParaRPr lang="es-ES" sz="1600" dirty="0">
              <a:solidFill>
                <a:srgbClr val="FF6600"/>
              </a:solidFill>
              <a:latin typeface="Gill Sans MT" panose="020B0502020104020203" pitchFamily="34" charset="77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00674A63-D67A-14AD-3EB2-91C753B5A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4" name="Text Box 44">
            <a:extLst>
              <a:ext uri="{FF2B5EF4-FFF2-40B4-BE49-F238E27FC236}">
                <a16:creationId xmlns:a16="http://schemas.microsoft.com/office/drawing/2014/main" id="{0A10821F-B16F-7461-7B09-32A39EA39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345   245   235    234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277B3C85-2464-87AE-09A4-B48B82B3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143</a:t>
            </a:fld>
            <a:endParaRPr lang="en-CL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FF357296-9482-85A7-EA15-773F8FC1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7646649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D81261-57EB-2C8C-D60D-3BC0F417B5A8}"/>
              </a:ext>
            </a:extLst>
          </p:cNvPr>
          <p:cNvSpPr/>
          <p:nvPr/>
        </p:nvSpPr>
        <p:spPr>
          <a:xfrm>
            <a:off x="2063552" y="1628800"/>
            <a:ext cx="76328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FF6600"/>
                </a:solidFill>
                <a:latin typeface="Gill Sans MT" panose="020B0502020104020203" pitchFamily="34" charset="77"/>
              </a:rPr>
              <a:t>Encontramos el máximo global tras 10 evaluaciones (usando Búsqueda Exhaustiva)</a:t>
            </a:r>
            <a:endParaRPr lang="es-ES" sz="1600" dirty="0">
              <a:solidFill>
                <a:srgbClr val="FF66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 Box 48">
            <a:extLst>
              <a:ext uri="{FF2B5EF4-FFF2-40B4-BE49-F238E27FC236}">
                <a16:creationId xmlns:a16="http://schemas.microsoft.com/office/drawing/2014/main" id="{6EC9AF9E-FCCE-2702-8973-0348BD2D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5B45B04-677F-C512-03C2-FF988CED3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" name="Text Box 44">
            <a:extLst>
              <a:ext uri="{FF2B5EF4-FFF2-40B4-BE49-F238E27FC236}">
                <a16:creationId xmlns:a16="http://schemas.microsoft.com/office/drawing/2014/main" id="{BA992E7D-EA58-89C1-DEC4-829A4290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8A827-5A69-4335-108E-DA01018A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0FE5F7-3758-F46C-2081-920D10A7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0324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6180</Words>
  <Application>Microsoft Macintosh PowerPoint</Application>
  <PresentationFormat>Widescreen</PresentationFormat>
  <Paragraphs>1968</Paragraphs>
  <Slides>144</Slides>
  <Notes>28</Notes>
  <HiddenSlides>2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50" baseType="lpstr">
      <vt:lpstr>Arial</vt:lpstr>
      <vt:lpstr>Consolas</vt:lpstr>
      <vt:lpstr>Gill Sans MT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37</cp:revision>
  <dcterms:created xsi:type="dcterms:W3CDTF">2026-03-08T16:41:49Z</dcterms:created>
  <dcterms:modified xsi:type="dcterms:W3CDTF">2026-10-05T12:07:13Z</dcterms:modified>
</cp:coreProperties>
</file>