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7" r:id="rId2"/>
    <p:sldId id="305" r:id="rId3"/>
    <p:sldId id="306" r:id="rId4"/>
    <p:sldId id="307" r:id="rId5"/>
    <p:sldId id="308" r:id="rId6"/>
    <p:sldId id="309" r:id="rId7"/>
    <p:sldId id="310" r:id="rId8"/>
    <p:sldId id="311" r:id="rId9"/>
    <p:sldId id="312" r:id="rId10"/>
    <p:sldId id="314" r:id="rId11"/>
    <p:sldId id="315" r:id="rId12"/>
    <p:sldId id="316" r:id="rId13"/>
    <p:sldId id="317" r:id="rId14"/>
    <p:sldId id="351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291" r:id="rId23"/>
    <p:sldId id="342" r:id="rId24"/>
    <p:sldId id="353" r:id="rId25"/>
    <p:sldId id="343" r:id="rId26"/>
    <p:sldId id="354" r:id="rId27"/>
    <p:sldId id="269" r:id="rId28"/>
    <p:sldId id="287" r:id="rId29"/>
    <p:sldId id="327" r:id="rId30"/>
    <p:sldId id="292" r:id="rId31"/>
    <p:sldId id="329" r:id="rId32"/>
    <p:sldId id="331" r:id="rId33"/>
    <p:sldId id="332" r:id="rId34"/>
    <p:sldId id="335" r:id="rId35"/>
    <p:sldId id="349" r:id="rId36"/>
    <p:sldId id="334" r:id="rId37"/>
    <p:sldId id="350" r:id="rId38"/>
    <p:sldId id="355" r:id="rId39"/>
    <p:sldId id="336" r:id="rId40"/>
    <p:sldId id="337" r:id="rId41"/>
    <p:sldId id="338" r:id="rId42"/>
    <p:sldId id="339" r:id="rId43"/>
    <p:sldId id="340" r:id="rId44"/>
    <p:sldId id="357" r:id="rId45"/>
    <p:sldId id="356" r:id="rId46"/>
    <p:sldId id="341" r:id="rId47"/>
    <p:sldId id="344" r:id="rId48"/>
    <p:sldId id="347" r:id="rId49"/>
    <p:sldId id="345" r:id="rId50"/>
    <p:sldId id="346" r:id="rId51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121"/>
    <a:srgbClr val="DAF2D1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922"/>
    <p:restoredTop sz="94675"/>
  </p:normalViewPr>
  <p:slideViewPr>
    <p:cSldViewPr snapToGrid="0">
      <p:cViewPr varScale="1">
        <p:scale>
          <a:sx n="119" d="100"/>
          <a:sy n="119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9" d="100"/>
        <a:sy n="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1249748F-0FE7-C64C-B0B9-9306A54D4824}" type="datetimeFigureOut">
              <a:rPr lang="en-CL" smtClean="0"/>
              <a:pPr/>
              <a:t>08-10-26</a:t>
            </a:fld>
            <a:endParaRPr lang="en-C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8C36E6B2-EC45-1147-8496-DFA2586CC8C4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303457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B8DC0-3787-B971-5D00-8727CB18C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A3FB4-AFDF-6CFB-84FB-E0438C517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F51BE-7742-8427-323B-6746C927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7082A-B0F6-05B3-4148-6F125B3B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5BB3A-30A8-1717-EEEF-CCDD19DE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01876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E5084-85EB-0ADC-D7F0-0DA592CE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50CEA-EC43-5349-1EBB-8F562F4E7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EC922-A7D2-9731-7041-D7AC6FB8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AEC05-6729-F167-4DA1-FB23E0490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05FA-C70E-C130-A20D-DB301157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8850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4697-BA84-150B-4C2D-F8471379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9B2F4-202A-2BB1-535C-1A428E58F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EE603-A515-38A5-01CB-993F9D3E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D1643-6231-F3E2-610F-D775A2BB9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7DCF5-082A-FB09-50BE-837F0ACE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26779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9F8F-3D31-5054-B98B-32951A347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103B9-D8C0-4B32-EE45-9BD12EF74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2F047-75A3-523A-D879-40B2EDA8D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FB8B8-5B4E-1775-617E-5E75D094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9D2B7-35C0-0726-D40B-546E245F6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10F33-EF19-5FAC-1C0C-CC049E95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65026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880C-73E3-54CD-F870-565E8A1B1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5B4E4-4FDE-76FD-67FE-AC9066C11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E05A7-4548-3D67-22C7-AE2D1FA32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3D907-7359-B8EC-9C20-35EBC1A8C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90DD8-E513-9D1B-B62B-8CD564AF8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A1F58-D509-1FFB-BFE0-0B0A4843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A7296-B85D-0D25-EB6E-7FAF5D12D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31504A-0C9E-5FD4-88B8-34EEA657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4005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930F-82FE-3339-6D9E-1DCC65EE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1259F5-F978-F338-03E4-3952DD8E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FF779-7E7D-359E-E5CD-14EA9066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397C7-7E22-651A-C048-37C544FF4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2750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37C7D-F2B3-C204-E8FB-4C5FB6A76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FEE0D-AE5F-8253-4CF5-C157DB29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87494-01E2-375D-3A6E-278594CE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1766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A152-0160-E38E-9640-CE00E472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EA249-D00C-C8BF-F952-C8F00CAC9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8AD5D-DACB-DF63-8FE5-FD4EB5F13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FD239-CEB5-6239-AE07-3B04DD52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E91D8-CA73-7BEA-3043-ED8929AA7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F3F48-2CE1-5E7C-C6F3-86C5FE51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0426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82A3-0F8B-CC16-20BE-CAA209EB5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53BF4D-06F1-F555-7BCE-8DDE12ECA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8D79A-13B1-0A13-045B-552423534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F8041-19BA-61C7-2614-452EAEA6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DDC1A-06C5-55BB-AD73-4558907A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A2152-78EF-2AC4-BAFC-1632F3AC7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33367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0AD8-C101-EB20-BB37-5C26D22B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D8A52-99B4-C6B9-B1AB-C4AEFAF4B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50266-8A1C-5C52-C130-674316BD0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8F916-6B33-A387-4535-E912E9B6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0DE79-9DC5-1075-5BCE-A06034D3D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1173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87A33-D0CF-C093-B49B-3DC54A000A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C567E-C21C-371B-9E0F-758B9066F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ED834-5694-C52C-4AFB-CC7182B1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4DEE-BCC0-3112-ED29-8778C02F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55837-C56A-6554-DF4C-C991A899F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0505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788CC3-6112-0648-6A8C-40A7C6624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AA52D-33E4-8E14-0BD4-6371720A8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AAD87-BD69-6E51-34E6-999EF8327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/>
              <a:t>(c) D.Mery - PR03B</a:t>
            </a:r>
            <a:endParaRPr lang="en-C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F1805-E127-5436-F4BD-B493F4465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/>
              <a:t>(c) D.Mery - PR03A</a:t>
            </a:r>
            <a:endParaRPr lang="en-C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709C2-DDB7-3E94-C59E-462FCDB337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006AE8E3-C79C-E14F-9140-34B0C7F543F1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4248052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Gill Sans MT" panose="020B050202010402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domingomery.ing.uc.cl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9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image" Target="../media/image15.emf"/><Relationship Id="rId7" Type="http://schemas.openxmlformats.org/officeDocument/2006/relationships/image" Target="../media/image19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image" Target="../media/image22.emf"/><Relationship Id="rId7" Type="http://schemas.openxmlformats.org/officeDocument/2006/relationships/image" Target="../media/image19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emf"/><Relationship Id="rId5" Type="http://schemas.openxmlformats.org/officeDocument/2006/relationships/image" Target="../media/image23.emf"/><Relationship Id="rId4" Type="http://schemas.openxmlformats.org/officeDocument/2006/relationships/image" Target="../media/image6.emf"/><Relationship Id="rId9" Type="http://schemas.openxmlformats.org/officeDocument/2006/relationships/image" Target="../media/image25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image" Target="../media/image27.emf"/><Relationship Id="rId7" Type="http://schemas.openxmlformats.org/officeDocument/2006/relationships/image" Target="../media/image31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emf"/><Relationship Id="rId5" Type="http://schemas.openxmlformats.org/officeDocument/2006/relationships/image" Target="../media/image29.emf"/><Relationship Id="rId10" Type="http://schemas.openxmlformats.org/officeDocument/2006/relationships/image" Target="../media/image34.emf"/><Relationship Id="rId4" Type="http://schemas.openxmlformats.org/officeDocument/2006/relationships/image" Target="../media/image28.emf"/><Relationship Id="rId9" Type="http://schemas.openxmlformats.org/officeDocument/2006/relationships/image" Target="../media/image3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emf"/><Relationship Id="rId4" Type="http://schemas.openxmlformats.org/officeDocument/2006/relationships/image" Target="../media/image37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emf"/><Relationship Id="rId4" Type="http://schemas.openxmlformats.org/officeDocument/2006/relationships/image" Target="../media/image4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emf"/><Relationship Id="rId5" Type="http://schemas.openxmlformats.org/officeDocument/2006/relationships/image" Target="../media/image43.emf"/><Relationship Id="rId4" Type="http://schemas.openxmlformats.org/officeDocument/2006/relationships/image" Target="../media/image4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7" Type="http://schemas.openxmlformats.org/officeDocument/2006/relationships/image" Target="../media/image49.emf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emf"/><Relationship Id="rId5" Type="http://schemas.openxmlformats.org/officeDocument/2006/relationships/image" Target="../media/image47.emf"/><Relationship Id="rId4" Type="http://schemas.openxmlformats.org/officeDocument/2006/relationships/image" Target="../media/image46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emf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3" Type="http://schemas.openxmlformats.org/officeDocument/2006/relationships/image" Target="../media/image40.emf"/><Relationship Id="rId7" Type="http://schemas.openxmlformats.org/officeDocument/2006/relationships/image" Target="../media/image44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emf"/><Relationship Id="rId5" Type="http://schemas.openxmlformats.org/officeDocument/2006/relationships/image" Target="../media/image61.emf"/><Relationship Id="rId4" Type="http://schemas.openxmlformats.org/officeDocument/2006/relationships/image" Target="../media/image4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7" Type="http://schemas.openxmlformats.org/officeDocument/2006/relationships/image" Target="../media/image68.emf"/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emf"/><Relationship Id="rId5" Type="http://schemas.openxmlformats.org/officeDocument/2006/relationships/image" Target="../media/image61.emf"/><Relationship Id="rId4" Type="http://schemas.openxmlformats.org/officeDocument/2006/relationships/image" Target="../media/image6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emf"/><Relationship Id="rId4" Type="http://schemas.openxmlformats.org/officeDocument/2006/relationships/image" Target="../media/image70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emf"/><Relationship Id="rId5" Type="http://schemas.openxmlformats.org/officeDocument/2006/relationships/image" Target="../media/image74.emf"/><Relationship Id="rId4" Type="http://schemas.openxmlformats.org/officeDocument/2006/relationships/image" Target="../media/image73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emf"/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emf"/><Relationship Id="rId7" Type="http://schemas.openxmlformats.org/officeDocument/2006/relationships/image" Target="../media/image85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4.emf"/><Relationship Id="rId4" Type="http://schemas.openxmlformats.org/officeDocument/2006/relationships/image" Target="../media/image83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84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image" Target="../media/image83.emf"/><Relationship Id="rId4" Type="http://schemas.openxmlformats.org/officeDocument/2006/relationships/image" Target="../media/image82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emf"/><Relationship Id="rId3" Type="http://schemas.openxmlformats.org/officeDocument/2006/relationships/image" Target="../media/image86.emf"/><Relationship Id="rId7" Type="http://schemas.openxmlformats.org/officeDocument/2006/relationships/image" Target="../media/image89.png"/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emf"/><Relationship Id="rId5" Type="http://schemas.openxmlformats.org/officeDocument/2006/relationships/image" Target="../media/image83.emf"/><Relationship Id="rId4" Type="http://schemas.openxmlformats.org/officeDocument/2006/relationships/image" Target="../media/image87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emf"/><Relationship Id="rId2" Type="http://schemas.openxmlformats.org/officeDocument/2006/relationships/image" Target="../media/image91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emf"/><Relationship Id="rId3" Type="http://schemas.openxmlformats.org/officeDocument/2006/relationships/image" Target="../media/image96.png"/><Relationship Id="rId7" Type="http://schemas.openxmlformats.org/officeDocument/2006/relationships/image" Target="../media/image99.emf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emf"/><Relationship Id="rId5" Type="http://schemas.openxmlformats.org/officeDocument/2006/relationships/image" Target="../media/image97.emf"/><Relationship Id="rId4" Type="http://schemas.openxmlformats.org/officeDocument/2006/relationships/image" Target="../media/image4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emf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10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9.emf"/><Relationship Id="rId4" Type="http://schemas.openxmlformats.org/officeDocument/2006/relationships/image" Target="../media/image57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10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emf"/><Relationship Id="rId5" Type="http://schemas.openxmlformats.org/officeDocument/2006/relationships/image" Target="../media/image109.emf"/><Relationship Id="rId4" Type="http://schemas.openxmlformats.org/officeDocument/2006/relationships/image" Target="../media/image57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10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emf"/><Relationship Id="rId5" Type="http://schemas.openxmlformats.org/officeDocument/2006/relationships/image" Target="../media/image109.emf"/><Relationship Id="rId4" Type="http://schemas.openxmlformats.org/officeDocument/2006/relationships/image" Target="../media/image57.e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image" Target="../media/image111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://compneurosci.com/wiki/images/4/42/Intro_to_PCA_and_ICA.pdf" TargetMode="External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emf"/><Relationship Id="rId2" Type="http://schemas.openxmlformats.org/officeDocument/2006/relationships/image" Target="../media/image11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2C7284-77CC-FC88-ACE0-20E53773C64D}"/>
              </a:ext>
            </a:extLst>
          </p:cNvPr>
          <p:cNvSpPr/>
          <p:nvPr/>
        </p:nvSpPr>
        <p:spPr>
          <a:xfrm>
            <a:off x="925897" y="683627"/>
            <a:ext cx="10340205" cy="8474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925898" y="3991689"/>
            <a:ext cx="37839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solidFill>
                  <a:srgbClr val="0041A1"/>
                </a:solidFill>
                <a:latin typeface="Gill Sans MT" panose="020B0502020104020203" pitchFamily="34" charset="77"/>
              </a:rPr>
              <a:t>Domingo Mery</a:t>
            </a:r>
          </a:p>
          <a:p>
            <a:endParaRPr lang="es-ES_tradnl" sz="2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Ciencia de la Computación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Universidad Católica – Chile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  <a:hlinkClick r:id="rId2"/>
              </a:rPr>
              <a:t>http://domingomery.ing.uc.cl</a:t>
            </a:r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925898" y="546159"/>
            <a:ext cx="680385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Reconocimiento de Patrones</a:t>
            </a:r>
          </a:p>
          <a:p>
            <a:r>
              <a:rPr lang="es-ES_tradnl" sz="1400" noProof="1">
                <a:solidFill>
                  <a:schemeClr val="accent1">
                    <a:lumMod val="60000"/>
                    <a:lumOff val="40000"/>
                  </a:schemeClr>
                </a:solidFill>
                <a:latin typeface="Gill Sans MT" panose="020B0502020104020203" pitchFamily="34" charset="77"/>
              </a:rPr>
              <a:t>Versión 2026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84582F-25ED-D64F-A141-4702851F2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889" y="4153426"/>
            <a:ext cx="671000" cy="39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363235"/>
            <a:ext cx="1968488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PCA</a:t>
            </a:r>
            <a:endParaRPr lang="es-ES_tradnl" sz="1400" noProof="1">
              <a:latin typeface="Gill Sans MT" panose="020B0502020104020203" pitchFamily="34" charset="77"/>
            </a:endParaRPr>
          </a:p>
          <a:p>
            <a:r>
              <a:rPr lang="es-ES_tradnl" sz="1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(CAPÍTULO 3 – PR03B)</a:t>
            </a:r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4" name="Picture 3" descr="Screen Shot 2014-07-28 at 3.30.32 PM.png">
            <a:extLst>
              <a:ext uri="{FF2B5EF4-FFF2-40B4-BE49-F238E27FC236}">
                <a16:creationId xmlns:a16="http://schemas.microsoft.com/office/drawing/2014/main" id="{F713277D-8D19-F8E9-D0C7-160CDCD11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883" y="683626"/>
            <a:ext cx="2688219" cy="8474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7C2C46-FB77-25C3-BA3D-A0231C48A0BC}"/>
              </a:ext>
            </a:extLst>
          </p:cNvPr>
          <p:cNvSpPr/>
          <p:nvPr/>
        </p:nvSpPr>
        <p:spPr>
          <a:xfrm>
            <a:off x="8532327" y="889536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21CF4-4421-1287-4A0F-68915CE9BDF0}"/>
              </a:ext>
            </a:extLst>
          </p:cNvPr>
          <p:cNvSpPr/>
          <p:nvPr/>
        </p:nvSpPr>
        <p:spPr>
          <a:xfrm>
            <a:off x="9457147" y="1041936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97AF8-DB10-A907-E9A0-11DBFF2F41AD}"/>
              </a:ext>
            </a:extLst>
          </p:cNvPr>
          <p:cNvSpPr/>
          <p:nvPr/>
        </p:nvSpPr>
        <p:spPr>
          <a:xfrm>
            <a:off x="8450280" y="1194336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3E66E-94EA-0AAE-A7DB-7F462B910E03}"/>
              </a:ext>
            </a:extLst>
          </p:cNvPr>
          <p:cNvSpPr/>
          <p:nvPr/>
        </p:nvSpPr>
        <p:spPr>
          <a:xfrm>
            <a:off x="9200620" y="814788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468F98-E38C-0CEE-B1A7-0C8769B40381}"/>
              </a:ext>
            </a:extLst>
          </p:cNvPr>
          <p:cNvSpPr/>
          <p:nvPr/>
        </p:nvSpPr>
        <p:spPr>
          <a:xfrm>
            <a:off x="9043304" y="1325718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A19D03-04EC-AA37-4938-DBADBB388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</a:t>
            </a:fld>
            <a:endParaRPr lang="en-CL"/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31E5C055-2252-E90F-6F4E-B5F18145D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A1B5B7-AE94-4E17-616A-D377741DC7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1692" y="3132225"/>
            <a:ext cx="3515041" cy="346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5247853" y="2721114"/>
            <a:ext cx="16962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sz="4000" dirty="0">
                <a:latin typeface="Gill Sans MT" panose="020B0502020104020203" pitchFamily="34" charset="77"/>
              </a:rPr>
              <a:t>Repaso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42BF72-C0E6-D99F-8F75-D828F8371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64ECA9-9407-FE36-BE9B-322C57BD4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260528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1976969" y="753167"/>
            <a:ext cx="36461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sz="4000" dirty="0">
                <a:solidFill>
                  <a:schemeClr val="accent6"/>
                </a:solidFill>
                <a:latin typeface="Gill Sans MT" panose="020B0502020104020203" pitchFamily="34" charset="77"/>
              </a:rPr>
              <a:t>Valores Propios: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E80786-2F4D-834F-9675-6904F28DB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827" y="872252"/>
            <a:ext cx="419928" cy="49769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397A737-65C1-2645-9EF6-1C1F85069416}"/>
              </a:ext>
            </a:extLst>
          </p:cNvPr>
          <p:cNvGrpSpPr/>
          <p:nvPr/>
        </p:nvGrpSpPr>
        <p:grpSpPr>
          <a:xfrm>
            <a:off x="2253419" y="2690312"/>
            <a:ext cx="3397440" cy="523220"/>
            <a:chOff x="729419" y="2690312"/>
            <a:chExt cx="3397440" cy="52322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CC7B120-802B-BB4E-B1F8-4CE9D1E66B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9419" y="2786822"/>
              <a:ext cx="330200" cy="3302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1EC865C-6BE7-E942-BA4C-D735D876A74A}"/>
                </a:ext>
              </a:extLst>
            </p:cNvPr>
            <p:cNvSpPr txBox="1"/>
            <p:nvPr/>
          </p:nvSpPr>
          <p:spPr>
            <a:xfrm>
              <a:off x="1040406" y="2690312"/>
              <a:ext cx="289784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800" dirty="0">
                  <a:latin typeface="Gill Sans MT" panose="020B0502020104020203" pitchFamily="34" charset="77"/>
                </a:rPr>
                <a:t>: Matriz de            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FF8DFDC-F954-2143-A525-E727D0A508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71159" y="2776883"/>
              <a:ext cx="1155700" cy="317500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E5A7FE8-EDFA-3846-8300-1D4A8676A1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4883" y="3776869"/>
            <a:ext cx="2565400" cy="4699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70179D20-13E2-114A-9B78-4B07EC5FA931}"/>
              </a:ext>
            </a:extLst>
          </p:cNvPr>
          <p:cNvGrpSpPr/>
          <p:nvPr/>
        </p:nvGrpSpPr>
        <p:grpSpPr>
          <a:xfrm>
            <a:off x="5359687" y="3723549"/>
            <a:ext cx="4178890" cy="1106434"/>
            <a:chOff x="3835687" y="3723549"/>
            <a:chExt cx="4178890" cy="110643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925A1F8-46BF-2740-8FF3-663EC1DB4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35687" y="3796746"/>
              <a:ext cx="319605" cy="378791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A681954-BD4C-C649-8083-EE31D95C350F}"/>
                </a:ext>
              </a:extLst>
            </p:cNvPr>
            <p:cNvSpPr txBox="1"/>
            <p:nvPr/>
          </p:nvSpPr>
          <p:spPr>
            <a:xfrm>
              <a:off x="4292462" y="3723549"/>
              <a:ext cx="301960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800" dirty="0">
                  <a:latin typeface="Gill Sans MT" panose="020B0502020104020203" pitchFamily="34" charset="77"/>
                </a:rPr>
                <a:t>: valores propios de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592137D-275F-B04B-80A0-C09F224FAE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84377" y="3796746"/>
              <a:ext cx="330200" cy="3302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195632D-36D3-364E-BAE6-8B9AA92C463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49575" y="4410883"/>
              <a:ext cx="2501900" cy="419100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A471D26F-48D9-6144-ADB0-B83EB6F26C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4014" y="5340626"/>
            <a:ext cx="2882900" cy="469900"/>
          </a:xfrm>
          <a:prstGeom prst="rect">
            <a:avLst/>
          </a:prstGeom>
        </p:spPr>
      </p:pic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3D8954AF-08DF-AC40-E568-372AAAEEE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3D88455-4732-B08D-43E8-4FA584801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291854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1743856" y="767155"/>
            <a:ext cx="407829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latin typeface="Gill Sans MT" panose="020B0502020104020203" pitchFamily="34" charset="77"/>
              </a:rPr>
              <a:t>Ejemplo:</a:t>
            </a:r>
          </a:p>
          <a:p>
            <a:r>
              <a:rPr lang="es-ES_tradnl" sz="4000" dirty="0">
                <a:latin typeface="Gill Sans MT" panose="020B0502020104020203" pitchFamily="34" charset="77"/>
              </a:rPr>
              <a:t> </a:t>
            </a:r>
          </a:p>
          <a:p>
            <a:r>
              <a:rPr lang="es-ES_tradnl" sz="2800" dirty="0">
                <a:latin typeface="Gill Sans MT" panose="020B0502020104020203" pitchFamily="34" charset="77"/>
              </a:rPr>
              <a:t>calcular valores propios 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5A7FE8-EDFA-3846-8300-1D4A8676A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979" y="3287457"/>
            <a:ext cx="2565400" cy="469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9DCA2E-FE3C-BF40-B9EC-B74899796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195" y="1735269"/>
            <a:ext cx="2705100" cy="11049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46F3F66-87F5-F648-BE9B-891CF18454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6852" y="4132354"/>
            <a:ext cx="7981122" cy="9285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2C2EDEE-320C-F643-B2BB-AA92744844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6015" y="5532507"/>
            <a:ext cx="3111500" cy="444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D393122-4FEB-2B41-A91E-A1F943DDC5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9922" y="5532507"/>
            <a:ext cx="2895600" cy="4191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4DA7F4-5524-DE91-8D98-CC183C957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2B3089-5D3F-6BAC-392A-5CC9D4029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0078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2120805" y="753167"/>
            <a:ext cx="39349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sz="4000" dirty="0">
                <a:solidFill>
                  <a:schemeClr val="accent6"/>
                </a:solidFill>
                <a:latin typeface="Gill Sans MT" panose="020B0502020104020203" pitchFamily="34" charset="77"/>
              </a:rPr>
              <a:t>Vectores Propios: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D9C2D63-8108-024B-9E79-86614238A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830" y="1001844"/>
            <a:ext cx="454977" cy="360844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1860C16F-BFA0-3647-93DA-C81FEF506E2B}"/>
              </a:ext>
            </a:extLst>
          </p:cNvPr>
          <p:cNvGrpSpPr/>
          <p:nvPr/>
        </p:nvGrpSpPr>
        <p:grpSpPr>
          <a:xfrm>
            <a:off x="2063337" y="1828429"/>
            <a:ext cx="8250683" cy="523220"/>
            <a:chOff x="539336" y="1828429"/>
            <a:chExt cx="8250683" cy="52322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97EB502-6313-5C49-B170-3034171A1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336" y="1895554"/>
              <a:ext cx="2159000" cy="4064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F7F8224-BB94-0040-9C54-982927CA4A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68000" y="1960910"/>
              <a:ext cx="454977" cy="360844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E5D7F42-60F0-EF46-9F1D-17175E31031C}"/>
                </a:ext>
              </a:extLst>
            </p:cNvPr>
            <p:cNvSpPr txBox="1"/>
            <p:nvPr/>
          </p:nvSpPr>
          <p:spPr>
            <a:xfrm>
              <a:off x="4183221" y="1828429"/>
              <a:ext cx="322883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800" dirty="0">
                  <a:latin typeface="Gill Sans MT" panose="020B0502020104020203" pitchFamily="34" charset="77"/>
                </a:rPr>
                <a:t>: vectores propios de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446EB84-575B-9F44-A67A-708230FFE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48619" y="1910461"/>
              <a:ext cx="1041400" cy="317500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CB157D7-C84A-6A41-AB6D-313A122B8083}"/>
              </a:ext>
            </a:extLst>
          </p:cNvPr>
          <p:cNvGrpSpPr/>
          <p:nvPr/>
        </p:nvGrpSpPr>
        <p:grpSpPr>
          <a:xfrm>
            <a:off x="2014883" y="2718000"/>
            <a:ext cx="7429940" cy="523220"/>
            <a:chOff x="490883" y="2718000"/>
            <a:chExt cx="7429940" cy="52322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1EC865C-6BE7-E942-BA4C-D735D876A74A}"/>
                </a:ext>
              </a:extLst>
            </p:cNvPr>
            <p:cNvSpPr txBox="1"/>
            <p:nvPr/>
          </p:nvSpPr>
          <p:spPr>
            <a:xfrm>
              <a:off x="490883" y="2718000"/>
              <a:ext cx="519661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800" dirty="0">
                  <a:latin typeface="Gill Sans MT" panose="020B0502020104020203" pitchFamily="34" charset="77"/>
                </a:rPr>
                <a:t>Como hay infinitas soluciones: </a:t>
              </a:r>
              <a:r>
                <a:rPr lang="es-ES_tradnl" sz="2800" dirty="0" err="1">
                  <a:latin typeface="Gill Sans MT" panose="020B0502020104020203" pitchFamily="34" charset="77"/>
                </a:rPr>
                <a:t>s.t</a:t>
              </a:r>
              <a:r>
                <a:rPr lang="es-ES_tradnl" sz="2800" dirty="0">
                  <a:latin typeface="Gill Sans MT" panose="020B0502020104020203" pitchFamily="34" charset="77"/>
                </a:rPr>
                <a:t>.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9ACC5AA-CF50-7C46-BBC1-091B65CA5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44423" y="2718615"/>
              <a:ext cx="1676400" cy="4699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8D299A4-289A-CF4E-8415-5A6E66005623}"/>
              </a:ext>
            </a:extLst>
          </p:cNvPr>
          <p:cNvGrpSpPr/>
          <p:nvPr/>
        </p:nvGrpSpPr>
        <p:grpSpPr>
          <a:xfrm>
            <a:off x="2141331" y="3616782"/>
            <a:ext cx="6592155" cy="2091121"/>
            <a:chOff x="617330" y="3616781"/>
            <a:chExt cx="6592155" cy="2091121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535F8EC-82C5-6D44-9FE2-21F164F8F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7330" y="3687161"/>
              <a:ext cx="812800" cy="4699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B272666-4301-A04C-B280-F928FF8E0D76}"/>
                </a:ext>
              </a:extLst>
            </p:cNvPr>
            <p:cNvSpPr txBox="1"/>
            <p:nvPr/>
          </p:nvSpPr>
          <p:spPr>
            <a:xfrm>
              <a:off x="1618836" y="3616781"/>
              <a:ext cx="428117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800" dirty="0">
                  <a:latin typeface="Gill Sans MT" panose="020B0502020104020203" pitchFamily="34" charset="77"/>
                </a:rPr>
                <a:t>son vectores </a:t>
              </a:r>
              <a:r>
                <a:rPr lang="es-ES_tradnl" sz="2800" dirty="0" err="1">
                  <a:latin typeface="Gill Sans MT" panose="020B0502020104020203" pitchFamily="34" charset="77"/>
                </a:rPr>
                <a:t>ortonormales</a:t>
              </a:r>
              <a:r>
                <a:rPr lang="es-ES_tradnl" sz="2800" dirty="0">
                  <a:latin typeface="Gill Sans MT" panose="020B0502020104020203" pitchFamily="34" charset="77"/>
                </a:rPr>
                <a:t>: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EF7BFD4-7249-144E-817D-CEA2CC7EF7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r="5394"/>
            <a:stretch/>
          </p:blipFill>
          <p:spPr>
            <a:xfrm>
              <a:off x="781490" y="4603002"/>
              <a:ext cx="6427995" cy="1104900"/>
            </a:xfrm>
            <a:prstGeom prst="rect">
              <a:avLst/>
            </a:prstGeom>
          </p:spPr>
        </p:pic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07AC7342-AD66-7E44-8031-85BD2F8838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83700" y="6104833"/>
            <a:ext cx="2908300" cy="4699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8478E8-B8B7-514E-AA2E-742DA32D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F20FF0-E028-CD84-1543-8A6549597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33783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1967237" y="753167"/>
            <a:ext cx="59708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solidFill>
                  <a:schemeClr val="accent6"/>
                </a:solidFill>
                <a:latin typeface="Gill Sans MT" panose="020B0502020104020203" pitchFamily="34" charset="77"/>
              </a:rPr>
              <a:t>Matriz de Vectores Propios: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14D1D1-09EC-A04F-8C7A-015FCE84A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335" y="890306"/>
            <a:ext cx="448891" cy="402454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2D9A4877-6C56-4548-8017-53F30378C6D2}"/>
              </a:ext>
            </a:extLst>
          </p:cNvPr>
          <p:cNvGrpSpPr/>
          <p:nvPr/>
        </p:nvGrpSpPr>
        <p:grpSpPr>
          <a:xfrm>
            <a:off x="2190474" y="1951659"/>
            <a:ext cx="7052168" cy="523220"/>
            <a:chOff x="666474" y="1951659"/>
            <a:chExt cx="7052168" cy="52322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DDBC365-6805-874E-9B10-E07468E1AC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6474" y="1991415"/>
              <a:ext cx="3835400" cy="4699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BCB49FC-858F-6548-B57B-28B4450B3A4A}"/>
                </a:ext>
              </a:extLst>
            </p:cNvPr>
            <p:cNvSpPr txBox="1"/>
            <p:nvPr/>
          </p:nvSpPr>
          <p:spPr>
            <a:xfrm>
              <a:off x="4632189" y="1951659"/>
              <a:ext cx="289784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800" dirty="0">
                  <a:latin typeface="Gill Sans MT" panose="020B0502020104020203" pitchFamily="34" charset="77"/>
                </a:rPr>
                <a:t>: Matriz de            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866A941E-93CF-6F4E-B073-A95AA00DF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62942" y="2038230"/>
              <a:ext cx="1155700" cy="317500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D30AB7B-D245-7246-BF1B-79151B36BC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0474" y="4701207"/>
            <a:ext cx="1828800" cy="419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1729EA-47E1-C34E-88FC-B17F544B90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0474" y="5768284"/>
            <a:ext cx="5702300" cy="4699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41C52C2-6E7C-614B-828E-BEB9015BC2F6}"/>
              </a:ext>
            </a:extLst>
          </p:cNvPr>
          <p:cNvSpPr txBox="1"/>
          <p:nvPr/>
        </p:nvSpPr>
        <p:spPr>
          <a:xfrm>
            <a:off x="2092882" y="3795350"/>
            <a:ext cx="20368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</a:rPr>
              <a:t>Propiedades: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1215615-DC3C-8A40-8FD2-5A8BA43FCE03}"/>
              </a:ext>
            </a:extLst>
          </p:cNvPr>
          <p:cNvGrpSpPr/>
          <p:nvPr/>
        </p:nvGrpSpPr>
        <p:grpSpPr>
          <a:xfrm>
            <a:off x="4784035" y="4637688"/>
            <a:ext cx="5410752" cy="612701"/>
            <a:chOff x="3260035" y="3753104"/>
            <a:chExt cx="5410752" cy="612701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FBA991-8953-FE46-9F0A-E4748AC8AC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r="5394"/>
            <a:stretch/>
          </p:blipFill>
          <p:spPr>
            <a:xfrm>
              <a:off x="5106268" y="3753104"/>
              <a:ext cx="3564519" cy="612701"/>
            </a:xfrm>
            <a:prstGeom prst="rect">
              <a:avLst/>
            </a:prstGeom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19B8049-FA63-8545-9668-E8C230C41865}"/>
                </a:ext>
              </a:extLst>
            </p:cNvPr>
            <p:cNvCxnSpPr/>
            <p:nvPr/>
          </p:nvCxnSpPr>
          <p:spPr>
            <a:xfrm flipH="1">
              <a:off x="3260035" y="4066761"/>
              <a:ext cx="165983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65F3F62-201F-F449-AF59-45DDAF1BF09F}"/>
              </a:ext>
            </a:extLst>
          </p:cNvPr>
          <p:cNvGrpSpPr/>
          <p:nvPr/>
        </p:nvGrpSpPr>
        <p:grpSpPr>
          <a:xfrm>
            <a:off x="8181992" y="5878630"/>
            <a:ext cx="1915704" cy="249208"/>
            <a:chOff x="6657992" y="4994047"/>
            <a:chExt cx="1915704" cy="249208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4A10393-66AB-A14F-BEBC-D3A419D2E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49779" y="4994047"/>
              <a:ext cx="1323917" cy="249208"/>
            </a:xfrm>
            <a:prstGeom prst="rect">
              <a:avLst/>
            </a:prstGeom>
          </p:spPr>
        </p:pic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E1BF845-29F4-D047-ADAB-2318966EA6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7992" y="5118651"/>
              <a:ext cx="4610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5F30BCEC-844A-B947-A971-6E1843BC30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5935" y="3043304"/>
            <a:ext cx="2578100" cy="4699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99E98A-B21E-860A-19B3-40B61A3AD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9D1B9-4B8D-1CC6-7765-035C804F4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54785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1967236" y="753167"/>
            <a:ext cx="57773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solidFill>
                  <a:schemeClr val="accent6"/>
                </a:solidFill>
                <a:latin typeface="Gill Sans MT" panose="020B0502020104020203" pitchFamily="34" charset="77"/>
              </a:rPr>
              <a:t>Transformaciones Lineales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C43770-3E5D-1840-8AA8-EA506D3BD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436" y="3762652"/>
            <a:ext cx="1562100" cy="419100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0BDED9FA-F9DF-0044-9436-93320EBE2AE1}"/>
              </a:ext>
            </a:extLst>
          </p:cNvPr>
          <p:cNvGrpSpPr/>
          <p:nvPr/>
        </p:nvGrpSpPr>
        <p:grpSpPr>
          <a:xfrm>
            <a:off x="2021788" y="1813616"/>
            <a:ext cx="4644665" cy="1615385"/>
            <a:chOff x="497787" y="1813615"/>
            <a:chExt cx="4644665" cy="161538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A2D1C80-EC3A-AF44-8D63-2D1BEAF392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3923" y="1813615"/>
              <a:ext cx="4281801" cy="23384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D7B386A-D99B-504A-BEEE-FFC4F2146C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7238" y="2323824"/>
              <a:ext cx="4281801" cy="23384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36F8411-3070-8541-A635-79B7BF1199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7787" y="3195154"/>
              <a:ext cx="4644665" cy="233846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7F516FA-FE9F-4F48-B652-B61EFDE75183}"/>
                </a:ext>
              </a:extLst>
            </p:cNvPr>
            <p:cNvSpPr txBox="1"/>
            <p:nvPr/>
          </p:nvSpPr>
          <p:spPr>
            <a:xfrm>
              <a:off x="889188" y="2715455"/>
              <a:ext cx="2503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: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EF9A240-3F31-AC4A-AFC9-A54553255FBF}"/>
              </a:ext>
            </a:extLst>
          </p:cNvPr>
          <p:cNvGrpSpPr/>
          <p:nvPr/>
        </p:nvGrpSpPr>
        <p:grpSpPr>
          <a:xfrm>
            <a:off x="6968983" y="1813615"/>
            <a:ext cx="3425692" cy="2397954"/>
            <a:chOff x="5444983" y="1813615"/>
            <a:chExt cx="3425692" cy="2397954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525CD66-D3E1-9B41-903A-B0C2A006C594}"/>
                </a:ext>
              </a:extLst>
            </p:cNvPr>
            <p:cNvCxnSpPr/>
            <p:nvPr/>
          </p:nvCxnSpPr>
          <p:spPr>
            <a:xfrm flipV="1">
              <a:off x="6042991" y="2164107"/>
              <a:ext cx="0" cy="20474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DE75EC4-DA5B-2340-9A1E-B50C8B12FF37}"/>
                </a:ext>
              </a:extLst>
            </p:cNvPr>
            <p:cNvCxnSpPr>
              <a:cxnSpLocks/>
            </p:cNvCxnSpPr>
            <p:nvPr/>
          </p:nvCxnSpPr>
          <p:spPr>
            <a:xfrm>
              <a:off x="5817704" y="4026038"/>
              <a:ext cx="25510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A087248-AE6B-7C4D-B30B-8F00B1D9E0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27394" y="2981186"/>
              <a:ext cx="1944757" cy="11090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2038BF26-9BBB-FB41-8F7A-D98E6F8A71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34877" y="2551735"/>
              <a:ext cx="344556" cy="16300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2A6939BB-3CAB-4448-B707-326E32753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51575" y="3916155"/>
              <a:ext cx="419100" cy="279400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17E00749-1D6D-9C4C-A76E-9653E7E3B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20658" y="1813615"/>
              <a:ext cx="431800" cy="27940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AF06FEE2-00EB-FD4B-8D6F-C0960B2B7B8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444983" y="2200554"/>
              <a:ext cx="381000" cy="3048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616E79FA-0481-704C-80F4-9F1397E4C2C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949641" y="2757143"/>
              <a:ext cx="381000" cy="304800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55E8335-BADF-9F4F-A01C-38C766526250}"/>
                </a:ext>
              </a:extLst>
            </p:cNvPr>
            <p:cNvSpPr/>
            <p:nvPr/>
          </p:nvSpPr>
          <p:spPr>
            <a:xfrm>
              <a:off x="6627900" y="2116898"/>
              <a:ext cx="118654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para </a:t>
              </a:r>
              <a:r>
                <a:rPr lang="es-ES_tradnl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s-ES_tradnl" dirty="0">
                  <a:latin typeface="Gill Sans MT" panose="020B0502020104020203" pitchFamily="34" charset="77"/>
                </a:rPr>
                <a:t> = 2</a:t>
              </a:r>
              <a:endParaRPr lang="en-US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87EC57B-24E5-654C-8468-309A22A257E1}"/>
              </a:ext>
            </a:extLst>
          </p:cNvPr>
          <p:cNvGrpSpPr/>
          <p:nvPr/>
        </p:nvGrpSpPr>
        <p:grpSpPr>
          <a:xfrm>
            <a:off x="2201675" y="4793769"/>
            <a:ext cx="6854953" cy="923330"/>
            <a:chOff x="677674" y="4793769"/>
            <a:chExt cx="6854953" cy="92333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6788FE1-2668-BC4E-9A53-715B1FA1ABFD}"/>
                </a:ext>
              </a:extLst>
            </p:cNvPr>
            <p:cNvSpPr/>
            <p:nvPr/>
          </p:nvSpPr>
          <p:spPr>
            <a:xfrm>
              <a:off x="677674" y="4793769"/>
              <a:ext cx="6854953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_tradnl" dirty="0">
                  <a:latin typeface="Gill Sans MT" panose="020B0502020104020203" pitchFamily="34" charset="77"/>
                </a:rPr>
                <a:t>Ángulo entre </a:t>
              </a:r>
              <a:r>
                <a:rPr lang="es-ES_tradnl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s-ES_tradnl" baseline="-25000" dirty="0">
                  <a:latin typeface="Gill Sans MT" panose="020B0502020104020203" pitchFamily="34" charset="77"/>
                </a:rPr>
                <a:t>1</a:t>
              </a:r>
              <a:r>
                <a:rPr lang="es-ES_tradnl" dirty="0">
                  <a:latin typeface="Gill Sans MT" panose="020B0502020104020203" pitchFamily="34" charset="77"/>
                </a:rPr>
                <a:t> e </a:t>
              </a:r>
              <a:r>
                <a:rPr lang="es-ES_tradnl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s-ES_tradnl" baseline="-25000" dirty="0">
                  <a:latin typeface="Gill Sans MT" panose="020B0502020104020203" pitchFamily="34" charset="77"/>
                </a:rPr>
                <a:t>2</a:t>
              </a:r>
              <a:r>
                <a:rPr lang="es-ES_tradnl" dirty="0">
                  <a:latin typeface="Gill Sans MT" panose="020B0502020104020203" pitchFamily="34" charset="77"/>
                </a:rPr>
                <a:t> no necesariamente es 90</a:t>
              </a:r>
              <a:r>
                <a:rPr lang="es-ES_tradnl" baseline="30000" dirty="0">
                  <a:latin typeface="Gill Sans MT" panose="020B0502020104020203" pitchFamily="34" charset="77"/>
                </a:rPr>
                <a:t>0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_tradnl" dirty="0">
                  <a:latin typeface="Gill Sans MT" panose="020B0502020104020203" pitchFamily="34" charset="77"/>
                </a:rPr>
                <a:t>En esta transformación el origen coincide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_tradnl" dirty="0">
                  <a:latin typeface="Gill Sans MT" panose="020B0502020104020203" pitchFamily="34" charset="77"/>
                </a:rPr>
                <a:t>Si se necesita desplazar origen es necesario agregar             a la fila </a:t>
              </a:r>
              <a:r>
                <a:rPr lang="es-ES_tradnl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EA13B6C6-7DAF-084F-AD20-34E7BD783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899397" y="5426496"/>
              <a:ext cx="646872" cy="253124"/>
            </a:xfrm>
            <a:prstGeom prst="rect">
              <a:avLst/>
            </a:prstGeom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2FCFC4-9253-953D-A1D6-F8B847979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CD96AC-19BF-94FA-DB9A-A41B4A406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80477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1967237" y="753167"/>
            <a:ext cx="45782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solidFill>
                  <a:schemeClr val="accent6"/>
                </a:solidFill>
                <a:latin typeface="Gill Sans MT" panose="020B0502020104020203" pitchFamily="34" charset="77"/>
              </a:rPr>
              <a:t>Promedio y Varianza: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C9DDD6-B985-A649-94CD-0B9C436EE0CC}"/>
              </a:ext>
            </a:extLst>
          </p:cNvPr>
          <p:cNvGrpSpPr/>
          <p:nvPr/>
        </p:nvGrpSpPr>
        <p:grpSpPr>
          <a:xfrm>
            <a:off x="2107392" y="3389243"/>
            <a:ext cx="4446908" cy="1333500"/>
            <a:chOff x="3992507" y="3389243"/>
            <a:chExt cx="4446908" cy="13335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B1C2155-C982-1C4E-B922-30B1C4CEE5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74015" y="3389243"/>
              <a:ext cx="2565400" cy="133350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1311F12-282D-654A-B762-4483C85A6AF7}"/>
                </a:ext>
              </a:extLst>
            </p:cNvPr>
            <p:cNvSpPr/>
            <p:nvPr/>
          </p:nvSpPr>
          <p:spPr>
            <a:xfrm>
              <a:off x="3992507" y="3871327"/>
              <a:ext cx="124649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(promedio)</a:t>
              </a:r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F545554-7905-1446-B49C-2C14A798C02E}"/>
              </a:ext>
            </a:extLst>
          </p:cNvPr>
          <p:cNvGrpSpPr/>
          <p:nvPr/>
        </p:nvGrpSpPr>
        <p:grpSpPr>
          <a:xfrm>
            <a:off x="2160404" y="4998554"/>
            <a:ext cx="6533489" cy="1333500"/>
            <a:chOff x="6401090" y="4998554"/>
            <a:chExt cx="6533489" cy="13335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F71ED2B-D11C-DA40-A7BA-2C0476102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57779" y="4998554"/>
              <a:ext cx="4876800" cy="1333500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99153FD-5AC9-CA4F-A746-F8566063D533}"/>
                </a:ext>
              </a:extLst>
            </p:cNvPr>
            <p:cNvSpPr/>
            <p:nvPr/>
          </p:nvSpPr>
          <p:spPr>
            <a:xfrm>
              <a:off x="6401090" y="5480638"/>
              <a:ext cx="10839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(varianza)</a:t>
              </a:r>
              <a:endParaRPr lang="en-US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560CBAA-5B1C-C349-AF61-F71861CEDDC1}"/>
              </a:ext>
            </a:extLst>
          </p:cNvPr>
          <p:cNvGrpSpPr/>
          <p:nvPr/>
        </p:nvGrpSpPr>
        <p:grpSpPr>
          <a:xfrm>
            <a:off x="2209801" y="2168387"/>
            <a:ext cx="5418815" cy="533400"/>
            <a:chOff x="685800" y="2168387"/>
            <a:chExt cx="5418815" cy="533400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36453D4E-5B81-C340-B5E4-3C9111E63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5800" y="2168387"/>
              <a:ext cx="3886200" cy="533400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1C4B07B2-1BE9-EE48-B58C-9F6CD9779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45872" y="2345911"/>
              <a:ext cx="758743" cy="208446"/>
            </a:xfrm>
            <a:prstGeom prst="rect">
              <a:avLst/>
            </a:prstGeom>
          </p:spPr>
        </p:pic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A1E5127-B279-F547-A3E7-CB1B455AC71F}"/>
                </a:ext>
              </a:extLst>
            </p:cNvPr>
            <p:cNvSpPr/>
            <p:nvPr/>
          </p:nvSpPr>
          <p:spPr>
            <a:xfrm>
              <a:off x="4906328" y="2265468"/>
              <a:ext cx="4122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de</a:t>
              </a:r>
              <a:endParaRPr lang="en-US" dirty="0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BDF40F-0760-77EF-8C6A-90D1F314B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0BB8E5-5F25-2D93-2867-A9E767B2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51797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1967237" y="753167"/>
            <a:ext cx="26995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solidFill>
                  <a:schemeClr val="accent6"/>
                </a:solidFill>
                <a:latin typeface="Gill Sans MT" panose="020B0502020104020203" pitchFamily="34" charset="77"/>
              </a:rPr>
              <a:t>Covarianza: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7FC880F-564E-F842-8457-B4DF72AD8992}"/>
              </a:ext>
            </a:extLst>
          </p:cNvPr>
          <p:cNvGrpSpPr/>
          <p:nvPr/>
        </p:nvGrpSpPr>
        <p:grpSpPr>
          <a:xfrm>
            <a:off x="2247900" y="1683303"/>
            <a:ext cx="5529316" cy="469900"/>
            <a:chOff x="723900" y="2110685"/>
            <a:chExt cx="5529316" cy="4699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9AE6200-E837-9340-B812-2D03A2B36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" y="2110685"/>
              <a:ext cx="3848100" cy="469900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1903EC1-5611-0B4F-B518-AA9FDD2F92D6}"/>
                </a:ext>
              </a:extLst>
            </p:cNvPr>
            <p:cNvSpPr/>
            <p:nvPr/>
          </p:nvSpPr>
          <p:spPr>
            <a:xfrm>
              <a:off x="4819139" y="2160381"/>
              <a:ext cx="4122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de</a:t>
              </a:r>
              <a:endParaRPr lang="en-US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0E74FCB-7733-2840-BDBC-0A0A9244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77427" y="2234467"/>
              <a:ext cx="875789" cy="221159"/>
            </a:xfrm>
            <a:prstGeom prst="rect">
              <a:avLst/>
            </a:prstGeom>
          </p:spPr>
        </p:pic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90B0C37F-DED1-D542-9148-BDB857DA8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900" y="2374903"/>
            <a:ext cx="5499100" cy="1651000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0A6772D2-F9A4-6C42-846C-361E7BA6C979}"/>
              </a:ext>
            </a:extLst>
          </p:cNvPr>
          <p:cNvGrpSpPr/>
          <p:nvPr/>
        </p:nvGrpSpPr>
        <p:grpSpPr>
          <a:xfrm>
            <a:off x="4997451" y="3625289"/>
            <a:ext cx="4921630" cy="750069"/>
            <a:chOff x="3473450" y="4241511"/>
            <a:chExt cx="4921630" cy="750069"/>
          </a:xfrm>
        </p:grpSpPr>
        <p:sp>
          <p:nvSpPr>
            <p:cNvPr id="18" name="Left Brace 17">
              <a:extLst>
                <a:ext uri="{FF2B5EF4-FFF2-40B4-BE49-F238E27FC236}">
                  <a16:creationId xmlns:a16="http://schemas.microsoft.com/office/drawing/2014/main" id="{BFBD9750-A2A5-274B-B8DF-22445A02F281}"/>
                </a:ext>
              </a:extLst>
            </p:cNvPr>
            <p:cNvSpPr/>
            <p:nvPr/>
          </p:nvSpPr>
          <p:spPr>
            <a:xfrm rot="16200000">
              <a:off x="4752753" y="2962208"/>
              <a:ext cx="221159" cy="2779766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56AD01A-D50B-7646-A0DD-16E7040AA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23632" y="4622248"/>
              <a:ext cx="279400" cy="292100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BA18215-DC33-EF46-AB42-15B5C51679D8}"/>
                </a:ext>
              </a:extLst>
            </p:cNvPr>
            <p:cNvSpPr/>
            <p:nvPr/>
          </p:nvSpPr>
          <p:spPr>
            <a:xfrm>
              <a:off x="5157655" y="4622248"/>
              <a:ext cx="32374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promedio de cada columna de </a:t>
              </a:r>
              <a:r>
                <a:rPr lang="es-ES_tradnl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D75CA16-0A63-2D45-B2B3-5737FF283146}"/>
              </a:ext>
            </a:extLst>
          </p:cNvPr>
          <p:cNvGrpSpPr/>
          <p:nvPr/>
        </p:nvGrpSpPr>
        <p:grpSpPr>
          <a:xfrm>
            <a:off x="3639885" y="4801419"/>
            <a:ext cx="4815862" cy="1121200"/>
            <a:chOff x="2115884" y="5417642"/>
            <a:chExt cx="4815862" cy="11212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09FC941-CFB8-5A44-9267-6BF92A942EA1}"/>
                </a:ext>
              </a:extLst>
            </p:cNvPr>
            <p:cNvSpPr/>
            <p:nvPr/>
          </p:nvSpPr>
          <p:spPr>
            <a:xfrm>
              <a:off x="2268097" y="5892511"/>
              <a:ext cx="4663649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Matriz de                 : cada columna tiene el</a:t>
              </a:r>
            </a:p>
            <a:p>
              <a:r>
                <a:rPr lang="es-ES_tradnl" dirty="0">
                  <a:latin typeface="Gill Sans MT" panose="020B0502020104020203" pitchFamily="34" charset="77"/>
                </a:rPr>
                <a:t>promedio de la columna correspondiente de </a:t>
              </a:r>
              <a:r>
                <a:rPr lang="es-ES_tradnl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s-ES_tradnl" dirty="0">
                  <a:latin typeface="Gill Sans MT" panose="020B0502020104020203" pitchFamily="34" charset="77"/>
                </a:rPr>
                <a:t>.</a:t>
              </a:r>
              <a:endParaRPr lang="en-US" dirty="0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47CCA58-E8A5-7C48-BBAB-2C707B7FB2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82974" y="5966597"/>
              <a:ext cx="875789" cy="221159"/>
            </a:xfrm>
            <a:prstGeom prst="rect">
              <a:avLst/>
            </a:prstGeom>
          </p:spPr>
        </p:pic>
        <p:sp>
          <p:nvSpPr>
            <p:cNvPr id="24" name="Left Brace 23">
              <a:extLst>
                <a:ext uri="{FF2B5EF4-FFF2-40B4-BE49-F238E27FC236}">
                  <a16:creationId xmlns:a16="http://schemas.microsoft.com/office/drawing/2014/main" id="{60C0F2DD-8592-2B41-84DF-39ABBBD2927D}"/>
                </a:ext>
              </a:extLst>
            </p:cNvPr>
            <p:cNvSpPr/>
            <p:nvPr/>
          </p:nvSpPr>
          <p:spPr>
            <a:xfrm rot="16200000">
              <a:off x="4056393" y="3477133"/>
              <a:ext cx="256316" cy="4137334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8A72723-85BB-8D49-A465-0067413DFB2B}"/>
              </a:ext>
            </a:extLst>
          </p:cNvPr>
          <p:cNvGrpSpPr/>
          <p:nvPr/>
        </p:nvGrpSpPr>
        <p:grpSpPr>
          <a:xfrm>
            <a:off x="3639885" y="4189996"/>
            <a:ext cx="1173970" cy="536435"/>
            <a:chOff x="2115885" y="4806218"/>
            <a:chExt cx="1173970" cy="536435"/>
          </a:xfrm>
        </p:grpSpPr>
        <p:sp>
          <p:nvSpPr>
            <p:cNvPr id="25" name="Left Brace 24">
              <a:extLst>
                <a:ext uri="{FF2B5EF4-FFF2-40B4-BE49-F238E27FC236}">
                  <a16:creationId xmlns:a16="http://schemas.microsoft.com/office/drawing/2014/main" id="{B9039D43-9C01-7B40-9E7C-3B0DE0D2B456}"/>
                </a:ext>
              </a:extLst>
            </p:cNvPr>
            <p:cNvSpPr/>
            <p:nvPr/>
          </p:nvSpPr>
          <p:spPr>
            <a:xfrm rot="16200000">
              <a:off x="2648804" y="4273299"/>
              <a:ext cx="108132" cy="1173970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7F7EEFC-CC90-4042-812D-0F099F8534FF}"/>
                </a:ext>
              </a:extLst>
            </p:cNvPr>
            <p:cNvSpPr/>
            <p:nvPr/>
          </p:nvSpPr>
          <p:spPr>
            <a:xfrm>
              <a:off x="2268097" y="4973321"/>
              <a:ext cx="8707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s-ES_tradnl" dirty="0">
                  <a:latin typeface="Gill Sans MT" panose="020B0502020104020203" pitchFamily="34" charset="77"/>
                </a:rPr>
                <a:t> unos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574227-2CEB-377E-5887-EF2C47371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2308D7-9358-092E-68D4-55CD220C0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63393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1967237" y="753167"/>
            <a:ext cx="26995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solidFill>
                  <a:schemeClr val="accent6"/>
                </a:solidFill>
                <a:latin typeface="Gill Sans MT" panose="020B0502020104020203" pitchFamily="34" charset="77"/>
              </a:rPr>
              <a:t>Covarianza: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7FC880F-564E-F842-8457-B4DF72AD8992}"/>
              </a:ext>
            </a:extLst>
          </p:cNvPr>
          <p:cNvGrpSpPr/>
          <p:nvPr/>
        </p:nvGrpSpPr>
        <p:grpSpPr>
          <a:xfrm>
            <a:off x="2247900" y="1683303"/>
            <a:ext cx="5529316" cy="469900"/>
            <a:chOff x="723900" y="2110685"/>
            <a:chExt cx="5529316" cy="4699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9AE6200-E837-9340-B812-2D03A2B36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" y="2110685"/>
              <a:ext cx="3848100" cy="469900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1903EC1-5611-0B4F-B518-AA9FDD2F92D6}"/>
                </a:ext>
              </a:extLst>
            </p:cNvPr>
            <p:cNvSpPr/>
            <p:nvPr/>
          </p:nvSpPr>
          <p:spPr>
            <a:xfrm>
              <a:off x="4819139" y="2160381"/>
              <a:ext cx="4122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de</a:t>
              </a:r>
              <a:endParaRPr lang="en-US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0E74FCB-7733-2840-BDBC-0A0A9244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77427" y="2234467"/>
              <a:ext cx="875789" cy="221159"/>
            </a:xfrm>
            <a:prstGeom prst="rect">
              <a:avLst/>
            </a:prstGeom>
          </p:spPr>
        </p:pic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90B0C37F-DED1-D542-9148-BDB857DA8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900" y="2374903"/>
            <a:ext cx="5499100" cy="1651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9A7E5B5-8A4C-D344-B1DE-87EE90F38F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7600" y="4452067"/>
            <a:ext cx="2844800" cy="3937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E8F8AF6B-52F0-B34B-BDA4-252869208D18}"/>
              </a:ext>
            </a:extLst>
          </p:cNvPr>
          <p:cNvSpPr/>
          <p:nvPr/>
        </p:nvSpPr>
        <p:spPr>
          <a:xfrm>
            <a:off x="5864722" y="4415606"/>
            <a:ext cx="36830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cada columna de </a:t>
            </a:r>
            <a:r>
              <a:rPr lang="es-ES_tradn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s-ES_tradnl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s-ES_tradnl" dirty="0">
                <a:latin typeface="Gill Sans MT" panose="020B0502020104020203" pitchFamily="34" charset="77"/>
              </a:rPr>
              <a:t> tiene media cero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D8ACEF-F07F-4C46-B649-7422C3C29F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8550" y="5271931"/>
            <a:ext cx="5727700" cy="9398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4B1FDE-C100-A620-02E3-726D080E0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2A98A5-D782-A9C7-62B0-0EAB7B2E4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48369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1967237" y="753167"/>
            <a:ext cx="26995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solidFill>
                  <a:schemeClr val="accent6"/>
                </a:solidFill>
                <a:latin typeface="Gill Sans MT" panose="020B0502020104020203" pitchFamily="34" charset="77"/>
              </a:rPr>
              <a:t>Covarianza: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D8ACEF-F07F-4C46-B649-7422C3C29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550" y="5271931"/>
            <a:ext cx="5727700" cy="939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F7CC57-6091-EE4C-91B1-614962283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5369" y="2857500"/>
            <a:ext cx="2540000" cy="5715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007775D-90A3-2A4E-9348-B6757ECA43EB}"/>
              </a:ext>
            </a:extLst>
          </p:cNvPr>
          <p:cNvGrpSpPr/>
          <p:nvPr/>
        </p:nvGrpSpPr>
        <p:grpSpPr>
          <a:xfrm>
            <a:off x="2445370" y="3833469"/>
            <a:ext cx="5786091" cy="516996"/>
            <a:chOff x="921369" y="3833469"/>
            <a:chExt cx="5786091" cy="51699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27E40C9-9445-2D45-BF2F-D69BA67D1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1369" y="3880565"/>
              <a:ext cx="1955800" cy="46990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E235C-B897-2441-BF4B-D05768472986}"/>
                </a:ext>
              </a:extLst>
            </p:cNvPr>
            <p:cNvSpPr/>
            <p:nvPr/>
          </p:nvSpPr>
          <p:spPr>
            <a:xfrm>
              <a:off x="3006208" y="3833469"/>
              <a:ext cx="309751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sz="2400" dirty="0">
                  <a:latin typeface="Gill Sans MT" panose="020B0502020104020203" pitchFamily="34" charset="77"/>
                </a:rPr>
                <a:t>Covarianza de       con </a:t>
              </a:r>
              <a:endParaRPr lang="en-US" sz="2400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2D754EC-0B35-7740-90A9-8E35EF42A5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40457" y="3949587"/>
              <a:ext cx="368300" cy="2921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216E804-B851-2344-B839-78580358C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50260" y="3949587"/>
              <a:ext cx="457200" cy="292100"/>
            </a:xfrm>
            <a:prstGeom prst="rect">
              <a:avLst/>
            </a:prstGeom>
          </p:spPr>
        </p:pic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247F3B97-69C0-D04A-B623-9171CAC4E198}"/>
              </a:ext>
            </a:extLst>
          </p:cNvPr>
          <p:cNvSpPr/>
          <p:nvPr/>
        </p:nvSpPr>
        <p:spPr>
          <a:xfrm>
            <a:off x="4720114" y="4455839"/>
            <a:ext cx="247330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0  </a:t>
            </a:r>
            <a:r>
              <a:rPr lang="es-ES_tradnl" dirty="0">
                <a:latin typeface="Gill Sans MT" panose="020B0502020104020203" pitchFamily="34" charset="77"/>
                <a:cs typeface="Times New Roman" panose="02020603050405020304" pitchFamily="18" charset="0"/>
              </a:rPr>
              <a:t>correlación positiva</a:t>
            </a:r>
          </a:p>
          <a:p>
            <a:r>
              <a:rPr lang="es-ES_tradnl" dirty="0">
                <a:latin typeface="Gill Sans MT" panose="020B0502020104020203" pitchFamily="34" charset="77"/>
                <a:cs typeface="Times New Roman" panose="02020603050405020304" pitchFamily="18" charset="0"/>
              </a:rPr>
              <a:t>= 0 no hay correlación</a:t>
            </a:r>
          </a:p>
          <a:p>
            <a:r>
              <a:rPr lang="es-ES_tradnl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0  </a:t>
            </a:r>
            <a:r>
              <a:rPr lang="es-ES_tradnl" dirty="0">
                <a:latin typeface="Gill Sans MT" panose="020B0502020104020203" pitchFamily="34" charset="77"/>
                <a:cs typeface="Times New Roman" panose="02020603050405020304" pitchFamily="18" charset="0"/>
              </a:rPr>
              <a:t>correlación negativa</a:t>
            </a:r>
            <a:endParaRPr lang="es-ES_tradn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EACDD9-57B1-BF49-A2BF-2B8D676850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5850" y="3853347"/>
            <a:ext cx="2110371" cy="388476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BEA9818-D5E7-2873-6F9A-8C468C046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97F37CB-D260-C3F2-F32D-505E0D96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76033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1.48148E-6 L 0.00208 -0.5416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-27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CCA787-9A7F-8C42-AF45-C883A056A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426" y="367755"/>
            <a:ext cx="2573328" cy="20869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49DF97-C9F0-2742-A6E2-98A7B5F302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92"/>
          <a:stretch/>
        </p:blipFill>
        <p:spPr>
          <a:xfrm>
            <a:off x="6148251" y="1011465"/>
            <a:ext cx="2123803" cy="1054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B48F98-7C98-0647-9E61-989F74E16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4930" y="2390503"/>
            <a:ext cx="2573328" cy="21164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50F360-A501-A74C-B190-0DD239FA59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7459" y="4572001"/>
            <a:ext cx="2575607" cy="21164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30E251-A682-3E46-B3E3-A3853449BA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778" y="3066902"/>
            <a:ext cx="2120900" cy="965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69FBC5-4DB1-E643-88E4-ABE847A579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3053" y="4990907"/>
            <a:ext cx="2159000" cy="9271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10C89DD-9087-044B-8E4C-48F592A0FFA2}"/>
              </a:ext>
            </a:extLst>
          </p:cNvPr>
          <p:cNvSpPr txBox="1"/>
          <p:nvPr/>
        </p:nvSpPr>
        <p:spPr>
          <a:xfrm>
            <a:off x="6113054" y="367754"/>
            <a:ext cx="3442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Ejemplo</a:t>
            </a:r>
            <a:r>
              <a:rPr lang="en-US" dirty="0"/>
              <a:t>: Matrices de </a:t>
            </a:r>
            <a:r>
              <a:rPr lang="en-US" dirty="0" err="1"/>
              <a:t>Covarianza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58C28D-0E81-2C92-EA6F-305376927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AB8CA6-E981-6923-BCF3-A3C13C8A1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88377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4FD2993-E95A-7047-ACBE-01CCD1A7A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687638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TRANSFORMACIÓN</a:t>
            </a:r>
            <a:br>
              <a:rPr lang="en-US" dirty="0"/>
            </a:br>
            <a:r>
              <a:rPr lang="en-US" dirty="0"/>
              <a:t>KARHUNEN-LOEVE (PCA)</a:t>
            </a:r>
            <a:br>
              <a:rPr lang="en-US" dirty="0"/>
            </a:br>
            <a:r>
              <a:rPr lang="en-US" dirty="0"/>
              <a:t>(1947)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053A27-BE31-A9CD-99FC-3451A0FFD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0A2EC-BF00-4BAE-0718-E8A829D4D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47876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AD0B775-DF48-AF4C-AAEE-3B421A704E9A}"/>
              </a:ext>
            </a:extLst>
          </p:cNvPr>
          <p:cNvSpPr/>
          <p:nvPr/>
        </p:nvSpPr>
        <p:spPr>
          <a:xfrm>
            <a:off x="5380381" y="3771900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KL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87D59A-38D8-E543-B589-42FDD7A59E25}"/>
              </a:ext>
            </a:extLst>
          </p:cNvPr>
          <p:cNvCxnSpPr>
            <a:cxnSpLocks/>
          </p:cNvCxnSpPr>
          <p:nvPr/>
        </p:nvCxnSpPr>
        <p:spPr>
          <a:xfrm>
            <a:off x="4605129" y="4239038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531375D-42BF-C142-B900-1A1E9877FDDE}"/>
              </a:ext>
            </a:extLst>
          </p:cNvPr>
          <p:cNvCxnSpPr>
            <a:cxnSpLocks/>
          </p:cNvCxnSpPr>
          <p:nvPr/>
        </p:nvCxnSpPr>
        <p:spPr>
          <a:xfrm>
            <a:off x="7202148" y="4239038"/>
            <a:ext cx="9313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E6EA12F7-6045-B04E-A9DA-170202D91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314" y="2518299"/>
            <a:ext cx="368300" cy="317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0DF9D6-E420-D04A-A0FA-1158DF095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5148" y="2518299"/>
            <a:ext cx="381000" cy="317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6790287-36FC-944D-8303-BCA906458C00}"/>
              </a:ext>
            </a:extLst>
          </p:cNvPr>
          <p:cNvSpPr txBox="1"/>
          <p:nvPr/>
        </p:nvSpPr>
        <p:spPr>
          <a:xfrm>
            <a:off x="5934074" y="4760846"/>
            <a:ext cx="747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(PCA)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C5C837-DC09-AC4B-9A91-2AD90CD10EBE}"/>
              </a:ext>
            </a:extLst>
          </p:cNvPr>
          <p:cNvSpPr txBox="1"/>
          <p:nvPr/>
        </p:nvSpPr>
        <p:spPr>
          <a:xfrm>
            <a:off x="2706757" y="889760"/>
            <a:ext cx="64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La Transformada de </a:t>
            </a:r>
            <a:r>
              <a:rPr lang="es-ES_tradnl" dirty="0" err="1">
                <a:latin typeface="Gill Sans MT" panose="020B0502020104020203" pitchFamily="34" charset="77"/>
              </a:rPr>
              <a:t>Karhunen-Loeve</a:t>
            </a:r>
            <a:r>
              <a:rPr lang="es-ES_tradnl" dirty="0">
                <a:latin typeface="Gill Sans MT" panose="020B0502020104020203" pitchFamily="34" charset="77"/>
              </a:rPr>
              <a:t> (KL) es conocida como PCA (Principal </a:t>
            </a:r>
            <a:r>
              <a:rPr lang="es-ES_tradnl" dirty="0" err="1">
                <a:latin typeface="Gill Sans MT" panose="020B0502020104020203" pitchFamily="34" charset="77"/>
              </a:rPr>
              <a:t>Component</a:t>
            </a:r>
            <a:r>
              <a:rPr lang="es-ES_tradnl" dirty="0">
                <a:latin typeface="Gill Sans MT" panose="020B0502020104020203" pitchFamily="34" charset="77"/>
              </a:rPr>
              <a:t> </a:t>
            </a:r>
            <a:r>
              <a:rPr lang="es-ES_tradnl" dirty="0" err="1">
                <a:latin typeface="Gill Sans MT" panose="020B0502020104020203" pitchFamily="34" charset="77"/>
              </a:rPr>
              <a:t>Analysys</a:t>
            </a:r>
            <a:r>
              <a:rPr lang="es-ES_tradnl" dirty="0">
                <a:latin typeface="Gill Sans MT" panose="020B0502020104020203" pitchFamily="34" charset="77"/>
              </a:rPr>
              <a:t>). La idea es transformar los datos originales </a:t>
            </a:r>
            <a:r>
              <a:rPr lang="es-ES_tradn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s-ES_tradnl" dirty="0">
                <a:latin typeface="Gill Sans MT" panose="020B0502020104020203" pitchFamily="34" charset="77"/>
              </a:rPr>
              <a:t> en datos nuevos </a:t>
            </a:r>
            <a:r>
              <a:rPr lang="es-ES_tradn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s-ES_tradnl" dirty="0">
                <a:latin typeface="Gill Sans MT" panose="020B0502020104020203" pitchFamily="34" charset="77"/>
              </a:rPr>
              <a:t>que no tengan correlación entre ellos.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CA26C9-2309-CC45-8E2A-7756790BE0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5195" y="2905097"/>
            <a:ext cx="1540538" cy="26806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B62CE8C-53F8-F94F-8737-25AE2ADB5F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1013" y="2905098"/>
            <a:ext cx="578397" cy="26639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FC844A6-267A-9C4C-80A1-FBF3C81E27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1140" y="5755339"/>
            <a:ext cx="1472091" cy="244248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3DA345-028D-547F-14AF-735CAF6CA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F592E-41C0-85F5-888B-85E988657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03429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1967236" y="753167"/>
            <a:ext cx="42528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solidFill>
                  <a:schemeClr val="accent6"/>
                </a:solidFill>
                <a:latin typeface="Gill Sans MT" panose="020B0502020104020203" pitchFamily="34" charset="77"/>
              </a:rPr>
              <a:t>Transformación KL: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7FC880F-564E-F842-8457-B4DF72AD8992}"/>
              </a:ext>
            </a:extLst>
          </p:cNvPr>
          <p:cNvGrpSpPr/>
          <p:nvPr/>
        </p:nvGrpSpPr>
        <p:grpSpPr>
          <a:xfrm>
            <a:off x="2884005" y="1872145"/>
            <a:ext cx="5529316" cy="469900"/>
            <a:chOff x="723900" y="2110685"/>
            <a:chExt cx="5529316" cy="4699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9AE6200-E837-9340-B812-2D03A2B36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" y="2110685"/>
              <a:ext cx="3848100" cy="469900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1903EC1-5611-0B4F-B518-AA9FDD2F92D6}"/>
                </a:ext>
              </a:extLst>
            </p:cNvPr>
            <p:cNvSpPr/>
            <p:nvPr/>
          </p:nvSpPr>
          <p:spPr>
            <a:xfrm>
              <a:off x="4819139" y="2160381"/>
              <a:ext cx="4122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de</a:t>
              </a:r>
              <a:endParaRPr lang="en-US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0E74FCB-7733-2840-BDBC-0A0A9244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77427" y="2234467"/>
              <a:ext cx="875789" cy="221159"/>
            </a:xfrm>
            <a:prstGeom prst="rect">
              <a:avLst/>
            </a:prstGeom>
          </p:spPr>
        </p:pic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69A7E5B5-8A4C-D344-B1DE-87EE90F38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5532" y="2623269"/>
            <a:ext cx="2844800" cy="3937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E83ACBB-D150-3549-8E10-EEFFBAAF60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3883" y="4880081"/>
            <a:ext cx="2006600" cy="406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2C5881-FA83-7C49-BAEC-5155BB7BD2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3761" y="4124502"/>
            <a:ext cx="2806700" cy="4699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54CE895-8664-CC43-AC8A-7AF568B2801D}"/>
              </a:ext>
            </a:extLst>
          </p:cNvPr>
          <p:cNvGrpSpPr/>
          <p:nvPr/>
        </p:nvGrpSpPr>
        <p:grpSpPr>
          <a:xfrm>
            <a:off x="5039692" y="4903506"/>
            <a:ext cx="2686482" cy="369332"/>
            <a:chOff x="3644899" y="4714664"/>
            <a:chExt cx="2686482" cy="36933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FC68F5C-8085-AA40-A3C0-56B9B3CE7558}"/>
                </a:ext>
              </a:extLst>
            </p:cNvPr>
            <p:cNvSpPr/>
            <p:nvPr/>
          </p:nvSpPr>
          <p:spPr>
            <a:xfrm>
              <a:off x="3848650" y="4714664"/>
              <a:ext cx="2482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Transformación KL de </a:t>
              </a:r>
              <a:r>
                <a:rPr lang="es-ES_tradnl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A0FFC4C-E645-A143-B95C-5D3784ACFD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4899" y="4899330"/>
              <a:ext cx="19381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A3F9E2B9-2165-E140-B060-942A04299C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5532" y="3060717"/>
            <a:ext cx="5727700" cy="939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1A61FAB-1893-4F4A-AAB1-771750943F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23761" y="5639389"/>
            <a:ext cx="3238500" cy="49530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FA0ED95F-2CE3-C140-BD2E-7092C525FBB2}"/>
              </a:ext>
            </a:extLst>
          </p:cNvPr>
          <p:cNvGrpSpPr/>
          <p:nvPr/>
        </p:nvGrpSpPr>
        <p:grpSpPr>
          <a:xfrm>
            <a:off x="6483282" y="5702373"/>
            <a:ext cx="3398152" cy="369332"/>
            <a:chOff x="3644899" y="4714664"/>
            <a:chExt cx="3398152" cy="369332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029B139-8928-CC45-B1D2-E89F631512E9}"/>
                </a:ext>
              </a:extLst>
            </p:cNvPr>
            <p:cNvSpPr/>
            <p:nvPr/>
          </p:nvSpPr>
          <p:spPr>
            <a:xfrm>
              <a:off x="3848650" y="4714664"/>
              <a:ext cx="319440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Transformación KL inversa de </a:t>
              </a:r>
              <a:r>
                <a:rPr lang="es-ES_tradnl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FE681AD-112D-2C4C-8E6A-77E189B399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4899" y="4899330"/>
              <a:ext cx="19381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F97A97C-CAE2-8A4F-AAAA-801265896C96}"/>
              </a:ext>
            </a:extLst>
          </p:cNvPr>
          <p:cNvCxnSpPr/>
          <p:nvPr/>
        </p:nvCxnSpPr>
        <p:spPr>
          <a:xfrm flipV="1">
            <a:off x="1967236" y="5421923"/>
            <a:ext cx="8333016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54EA497-FB9E-A44E-970B-08058FF140DD}"/>
              </a:ext>
            </a:extLst>
          </p:cNvPr>
          <p:cNvSpPr txBox="1"/>
          <p:nvPr/>
        </p:nvSpPr>
        <p:spPr>
          <a:xfrm>
            <a:off x="3702343" y="6189470"/>
            <a:ext cx="192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Gill Sans MT" panose="020B0502020104020203" pitchFamily="34" charset="77"/>
              </a:rPr>
              <a:t> es </a:t>
            </a:r>
            <a:r>
              <a:rPr lang="en-US" dirty="0" err="1">
                <a:latin typeface="Gill Sans MT" panose="020B0502020104020203" pitchFamily="34" charset="77"/>
              </a:rPr>
              <a:t>ortonormal</a:t>
            </a:r>
            <a:r>
              <a:rPr lang="en-US" dirty="0">
                <a:latin typeface="Gill Sans MT" panose="020B0502020104020203" pitchFamily="34" charset="77"/>
              </a:rPr>
              <a:t>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E6B846-5611-7FD5-AEAE-6A58D6DAF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4C3A3-610C-8DE4-9FF3-B531BC558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45517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1967237" y="753167"/>
            <a:ext cx="46451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solidFill>
                  <a:schemeClr val="accent6"/>
                </a:solidFill>
                <a:latin typeface="Gill Sans MT" panose="020B0502020104020203" pitchFamily="34" charset="77"/>
              </a:rPr>
              <a:t>Interpretación de KL: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08DFBA-7DD1-C945-8411-1774A6A5D9E3}"/>
              </a:ext>
            </a:extLst>
          </p:cNvPr>
          <p:cNvSpPr/>
          <p:nvPr/>
        </p:nvSpPr>
        <p:spPr>
          <a:xfrm>
            <a:off x="2006520" y="1803161"/>
            <a:ext cx="31109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3200" dirty="0">
                <a:latin typeface="Gill Sans MT" panose="020B0502020104020203" pitchFamily="34" charset="77"/>
              </a:rPr>
              <a:t>Covarianza de </a:t>
            </a:r>
            <a:r>
              <a:rPr lang="es-ES_trad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_tradnl" sz="3200" dirty="0">
                <a:latin typeface="Gill Sans MT" panose="020B0502020104020203" pitchFamily="34" charset="77"/>
              </a:rPr>
              <a:t>:</a:t>
            </a:r>
            <a:endParaRPr lang="en-US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C17F61-DA93-094C-84D0-4A420A450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48" y="2730042"/>
            <a:ext cx="5740400" cy="939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A6ABDD-92D4-E74B-913D-B32CAFDA9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6211" y="4164496"/>
            <a:ext cx="2844800" cy="457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5D191A-C926-BE46-9EA0-3CBBAA4EC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6211" y="5096472"/>
            <a:ext cx="1600200" cy="39370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5AF1532C-1FB1-1543-9A25-A5560C5E3F97}"/>
              </a:ext>
            </a:extLst>
          </p:cNvPr>
          <p:cNvGrpSpPr/>
          <p:nvPr/>
        </p:nvGrpSpPr>
        <p:grpSpPr>
          <a:xfrm>
            <a:off x="4594718" y="3856387"/>
            <a:ext cx="5657420" cy="1061829"/>
            <a:chOff x="3070718" y="3856386"/>
            <a:chExt cx="5657420" cy="1061829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F6433AF-5CA5-5149-A499-D439ABC55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26554" y="4010437"/>
              <a:ext cx="1283804" cy="260011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4E6366B-6C1F-E04D-B5CC-FF6FA7116FF5}"/>
                </a:ext>
              </a:extLst>
            </p:cNvPr>
            <p:cNvSpPr/>
            <p:nvPr/>
          </p:nvSpPr>
          <p:spPr>
            <a:xfrm>
              <a:off x="3972306" y="3856386"/>
              <a:ext cx="3844322" cy="10618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s-ES_tradnl" dirty="0">
                  <a:latin typeface="Gill Sans MT" panose="020B0502020104020203" pitchFamily="34" charset="77"/>
                </a:rPr>
                <a:t>Como                        y la media de las</a:t>
              </a:r>
            </a:p>
            <a:p>
              <a:r>
                <a:rPr lang="es-ES_tradnl" dirty="0">
                  <a:latin typeface="Gill Sans MT" panose="020B0502020104020203" pitchFamily="34" charset="77"/>
                </a:rPr>
                <a:t>columnas de </a:t>
              </a:r>
              <a:r>
                <a:rPr lang="es-ES_tradnl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s-ES_tradnl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s-ES_tradnl" dirty="0">
                  <a:latin typeface="Gill Sans MT" panose="020B0502020104020203" pitchFamily="34" charset="77"/>
                </a:rPr>
                <a:t> es cero, entonces</a:t>
              </a:r>
            </a:p>
            <a:p>
              <a:r>
                <a:rPr lang="es-ES_tradnl" dirty="0">
                  <a:latin typeface="Gill Sans MT" panose="020B0502020104020203" pitchFamily="34" charset="77"/>
                </a:rPr>
                <a:t> </a:t>
              </a:r>
              <a:endParaRPr lang="en-US" dirty="0"/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0677130-A5F1-E14E-A829-D1559162B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09158" y="4313153"/>
              <a:ext cx="1118980" cy="327506"/>
            </a:xfrm>
            <a:prstGeom prst="rect">
              <a:avLst/>
            </a:prstGeom>
          </p:spPr>
        </p:pic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A1321CA-1505-5047-915C-6E0A420C755D}"/>
                </a:ext>
              </a:extLst>
            </p:cNvPr>
            <p:cNvCxnSpPr/>
            <p:nvPr/>
          </p:nvCxnSpPr>
          <p:spPr>
            <a:xfrm flipV="1">
              <a:off x="3070718" y="4011949"/>
              <a:ext cx="497430" cy="76877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683BFC91-67A7-7641-BD54-5337B5B9B3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6150" y="5644872"/>
            <a:ext cx="5549900" cy="9398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D787A0-03C1-4867-66B5-9B40451AA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71389D-2F2C-496C-71EE-B173A8146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499147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1967237" y="753167"/>
            <a:ext cx="46451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solidFill>
                  <a:schemeClr val="accent6"/>
                </a:solidFill>
                <a:latin typeface="Gill Sans MT" panose="020B0502020104020203" pitchFamily="34" charset="77"/>
              </a:rPr>
              <a:t>Interpretación de KL: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08DFBA-7DD1-C945-8411-1774A6A5D9E3}"/>
              </a:ext>
            </a:extLst>
          </p:cNvPr>
          <p:cNvSpPr/>
          <p:nvPr/>
        </p:nvSpPr>
        <p:spPr>
          <a:xfrm>
            <a:off x="2006520" y="1803161"/>
            <a:ext cx="31109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3200" dirty="0">
                <a:latin typeface="Gill Sans MT" panose="020B0502020104020203" pitchFamily="34" charset="77"/>
              </a:rPr>
              <a:t>Covarianza de </a:t>
            </a:r>
            <a:r>
              <a:rPr lang="es-ES_trad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_tradnl" sz="3200" dirty="0">
                <a:latin typeface="Gill Sans MT" panose="020B0502020104020203" pitchFamily="34" charset="77"/>
              </a:rPr>
              <a:t>:</a:t>
            </a:r>
            <a:endParaRPr lang="en-US" sz="3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83BFC91-67A7-7641-BD54-5337B5B9B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150" y="5644872"/>
            <a:ext cx="5549900" cy="939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3DB595-BF63-C444-BD51-6BDEF38BD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733" y="3498022"/>
            <a:ext cx="4356100" cy="939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68AA4F-B194-D74F-88F6-1FE65EA8B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3733" y="4559741"/>
            <a:ext cx="4051300" cy="939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97B538-AD87-BC46-B0FA-032DB81A0A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3733" y="5714445"/>
            <a:ext cx="2108200" cy="4953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A9A60E-9FC6-5761-0913-C35234F2C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41C861-7A63-2D9B-7218-79311798C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241091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3.33333E-6 L -0.00625 -0.475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3" y="-237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1967237" y="753167"/>
            <a:ext cx="46451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solidFill>
                  <a:schemeClr val="accent6"/>
                </a:solidFill>
                <a:latin typeface="Gill Sans MT" panose="020B0502020104020203" pitchFamily="34" charset="77"/>
              </a:rPr>
              <a:t>Interpretación de KL: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08DFBA-7DD1-C945-8411-1774A6A5D9E3}"/>
              </a:ext>
            </a:extLst>
          </p:cNvPr>
          <p:cNvSpPr/>
          <p:nvPr/>
        </p:nvSpPr>
        <p:spPr>
          <a:xfrm>
            <a:off x="2006520" y="1803161"/>
            <a:ext cx="31109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3200" dirty="0">
                <a:latin typeface="Gill Sans MT" panose="020B0502020104020203" pitchFamily="34" charset="77"/>
              </a:rPr>
              <a:t>Covarianza de </a:t>
            </a:r>
            <a:r>
              <a:rPr lang="es-ES_trad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_tradnl" sz="3200" dirty="0">
                <a:latin typeface="Gill Sans MT" panose="020B0502020104020203" pitchFamily="34" charset="77"/>
              </a:rPr>
              <a:t>:</a:t>
            </a:r>
            <a:endParaRPr lang="en-US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53B26B-8AB8-9D4B-8560-30D107AE9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911" y="5710579"/>
            <a:ext cx="2819400" cy="5588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206BB811-4E9E-0C4E-BEC7-D8C44E93B621}"/>
              </a:ext>
            </a:extLst>
          </p:cNvPr>
          <p:cNvGrpSpPr/>
          <p:nvPr/>
        </p:nvGrpSpPr>
        <p:grpSpPr>
          <a:xfrm>
            <a:off x="5355500" y="2495092"/>
            <a:ext cx="4703532" cy="469900"/>
            <a:chOff x="2900002" y="3814307"/>
            <a:chExt cx="4703532" cy="46990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176FBE6-6427-6049-A29F-A080DAC32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37861" y="3814307"/>
              <a:ext cx="2806700" cy="4699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AB8BB92-40A0-6043-9297-31E6B6106456}"/>
                </a:ext>
              </a:extLst>
            </p:cNvPr>
            <p:cNvSpPr/>
            <p:nvPr/>
          </p:nvSpPr>
          <p:spPr>
            <a:xfrm>
              <a:off x="2900002" y="3864591"/>
              <a:ext cx="470353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como                                                 entonces</a:t>
              </a:r>
              <a:endParaRPr lang="en-US" dirty="0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F45D1DCF-7463-854F-BD71-8E172673C8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9184" y="3411773"/>
            <a:ext cx="3835400" cy="4699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D5783F9-D7A1-4649-BC66-F83637DFBB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7609" y="4235116"/>
            <a:ext cx="5918200" cy="4699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C65D58E-88DA-F94B-851E-A3CE1E2AB0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1709" y="5678552"/>
            <a:ext cx="8674100" cy="5588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E47BE6-9186-D681-5964-CC0B5AE25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C07CC7-38E4-7220-6C53-78ED4C7DE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29129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3.7037E-7 L -0.00087 -0.475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237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1967237" y="753167"/>
            <a:ext cx="46451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solidFill>
                  <a:schemeClr val="accent6"/>
                </a:solidFill>
                <a:latin typeface="Gill Sans MT" panose="020B0502020104020203" pitchFamily="34" charset="77"/>
              </a:rPr>
              <a:t>Interpretación de KL: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08DFBA-7DD1-C945-8411-1774A6A5D9E3}"/>
              </a:ext>
            </a:extLst>
          </p:cNvPr>
          <p:cNvSpPr/>
          <p:nvPr/>
        </p:nvSpPr>
        <p:spPr>
          <a:xfrm>
            <a:off x="2006520" y="1803161"/>
            <a:ext cx="31109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3200" dirty="0">
                <a:latin typeface="Gill Sans MT" panose="020B0502020104020203" pitchFamily="34" charset="77"/>
              </a:rPr>
              <a:t>Covarianza de </a:t>
            </a:r>
            <a:r>
              <a:rPr lang="es-ES_trad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_tradnl" sz="3200" dirty="0">
                <a:latin typeface="Gill Sans MT" panose="020B0502020104020203" pitchFamily="34" charset="77"/>
              </a:rPr>
              <a:t>:</a:t>
            </a:r>
            <a:endParaRPr lang="en-US" sz="3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C65D58E-88DA-F94B-851E-A3CE1E2AB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709" y="5678552"/>
            <a:ext cx="8674100" cy="558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6E5A8D8-CAE0-6D4E-99AE-5A765389C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993" y="3556551"/>
            <a:ext cx="8483600" cy="22098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F085EE2A-B831-1F41-ACCE-0CC80BB95CD2}"/>
              </a:ext>
            </a:extLst>
          </p:cNvPr>
          <p:cNvGrpSpPr/>
          <p:nvPr/>
        </p:nvGrpSpPr>
        <p:grpSpPr>
          <a:xfrm>
            <a:off x="3529162" y="3556552"/>
            <a:ext cx="6009090" cy="2080187"/>
            <a:chOff x="2005162" y="3556551"/>
            <a:chExt cx="6009090" cy="208018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6EC3C6D-1C5D-2644-A6D1-1F043D937E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9371" y="3657600"/>
              <a:ext cx="1188612" cy="42918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DA9AC49-B008-F148-9FB5-D74D9E9E8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5640" y="3556551"/>
              <a:ext cx="1188612" cy="42918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A72ABE3-9B37-AB43-A361-E29904521E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5162" y="4188364"/>
              <a:ext cx="1188612" cy="42918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5350B4F-C246-F145-97B7-E66083F678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5640" y="4188363"/>
              <a:ext cx="1188612" cy="42918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94428CB-4117-EB45-844F-4BC49F2412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5162" y="5207551"/>
              <a:ext cx="1188612" cy="42918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990E664-0B86-C74E-95FD-D786BBF666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9371" y="5204236"/>
              <a:ext cx="1188612" cy="42918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AF5C3-A147-8664-6BE3-F6ABBA826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D8BBE-BFBB-42B6-C447-CFA1269D1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074245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1.11022E-16 L -0.00243 -0.4745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" y="-237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1967237" y="753167"/>
            <a:ext cx="46451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solidFill>
                  <a:schemeClr val="accent6"/>
                </a:solidFill>
                <a:latin typeface="Gill Sans MT" panose="020B0502020104020203" pitchFamily="34" charset="77"/>
              </a:rPr>
              <a:t>Interpretación de KL: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08DFBA-7DD1-C945-8411-1774A6A5D9E3}"/>
              </a:ext>
            </a:extLst>
          </p:cNvPr>
          <p:cNvSpPr/>
          <p:nvPr/>
        </p:nvSpPr>
        <p:spPr>
          <a:xfrm>
            <a:off x="2006520" y="1803161"/>
            <a:ext cx="31109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3200" dirty="0">
                <a:latin typeface="Gill Sans MT" panose="020B0502020104020203" pitchFamily="34" charset="77"/>
              </a:rPr>
              <a:t>Covarianza de </a:t>
            </a:r>
            <a:r>
              <a:rPr lang="es-ES_trad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_tradnl" sz="3200" dirty="0">
                <a:latin typeface="Gill Sans MT" panose="020B0502020104020203" pitchFamily="34" charset="77"/>
              </a:rPr>
              <a:t>:</a:t>
            </a:r>
            <a:endParaRPr lang="en-US" sz="3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C65D58E-88DA-F94B-851E-A3CE1E2AB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831" y="2418525"/>
            <a:ext cx="8674100" cy="558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C41811-B66A-7A4E-ABD3-3748DBE2C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693" y="3566495"/>
            <a:ext cx="8458200" cy="22098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A83BA6E-030C-2044-85D5-F695A05C3D0A}"/>
              </a:ext>
            </a:extLst>
          </p:cNvPr>
          <p:cNvGrpSpPr/>
          <p:nvPr/>
        </p:nvGrpSpPr>
        <p:grpSpPr>
          <a:xfrm>
            <a:off x="3790122" y="3343420"/>
            <a:ext cx="6732068" cy="2533918"/>
            <a:chOff x="2266122" y="3343420"/>
            <a:chExt cx="6732068" cy="253391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543F0EA-8DDA-4940-A02F-4CD09B8E8223}"/>
                </a:ext>
              </a:extLst>
            </p:cNvPr>
            <p:cNvGrpSpPr/>
            <p:nvPr/>
          </p:nvGrpSpPr>
          <p:grpSpPr>
            <a:xfrm>
              <a:off x="2266122" y="3343420"/>
              <a:ext cx="1838710" cy="870771"/>
              <a:chOff x="2266122" y="3343420"/>
              <a:chExt cx="1838710" cy="870771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3571784F-F30E-E247-983B-C6AD63222AF3}"/>
                  </a:ext>
                </a:extLst>
              </p:cNvPr>
              <p:cNvSpPr/>
              <p:nvPr/>
            </p:nvSpPr>
            <p:spPr>
              <a:xfrm>
                <a:off x="2266122" y="3448878"/>
                <a:ext cx="1272209" cy="765313"/>
              </a:xfrm>
              <a:prstGeom prst="ellipse">
                <a:avLst/>
              </a:prstGeom>
              <a:noFill/>
              <a:ln w="19050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244CE3-A422-7247-9E85-16D2A6FEEDF7}"/>
                  </a:ext>
                </a:extLst>
              </p:cNvPr>
              <p:cNvSpPr txBox="1"/>
              <p:nvPr/>
            </p:nvSpPr>
            <p:spPr>
              <a:xfrm rot="20917555">
                <a:off x="3461707" y="3343420"/>
                <a:ext cx="64312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= 1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3949543-17EA-4C4A-9447-489552FE626A}"/>
                </a:ext>
              </a:extLst>
            </p:cNvPr>
            <p:cNvGrpSpPr/>
            <p:nvPr/>
          </p:nvGrpSpPr>
          <p:grpSpPr>
            <a:xfrm>
              <a:off x="4267197" y="3893381"/>
              <a:ext cx="1838710" cy="870771"/>
              <a:chOff x="2266122" y="3343420"/>
              <a:chExt cx="1838710" cy="870771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050B92E-D7D3-A343-B0B6-04E042DCCFD7}"/>
                  </a:ext>
                </a:extLst>
              </p:cNvPr>
              <p:cNvSpPr/>
              <p:nvPr/>
            </p:nvSpPr>
            <p:spPr>
              <a:xfrm>
                <a:off x="2266122" y="3448878"/>
                <a:ext cx="1272209" cy="765313"/>
              </a:xfrm>
              <a:prstGeom prst="ellipse">
                <a:avLst/>
              </a:prstGeom>
              <a:noFill/>
              <a:ln w="19050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0C48CBA-2AF2-A44F-A1F0-2DE2E9136E12}"/>
                  </a:ext>
                </a:extLst>
              </p:cNvPr>
              <p:cNvSpPr txBox="1"/>
              <p:nvPr/>
            </p:nvSpPr>
            <p:spPr>
              <a:xfrm rot="20917555">
                <a:off x="3461707" y="3343420"/>
                <a:ext cx="64312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= 1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9C8A299-2838-7543-B8CE-8756B3324F78}"/>
                </a:ext>
              </a:extLst>
            </p:cNvPr>
            <p:cNvGrpSpPr/>
            <p:nvPr/>
          </p:nvGrpSpPr>
          <p:grpSpPr>
            <a:xfrm>
              <a:off x="7159480" y="5006567"/>
              <a:ext cx="1838710" cy="870771"/>
              <a:chOff x="2266122" y="3343420"/>
              <a:chExt cx="1838710" cy="870771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61684138-75F9-634F-BD18-11498645F88E}"/>
                  </a:ext>
                </a:extLst>
              </p:cNvPr>
              <p:cNvSpPr/>
              <p:nvPr/>
            </p:nvSpPr>
            <p:spPr>
              <a:xfrm>
                <a:off x="2266122" y="3448878"/>
                <a:ext cx="1272209" cy="765313"/>
              </a:xfrm>
              <a:prstGeom prst="ellipse">
                <a:avLst/>
              </a:prstGeom>
              <a:noFill/>
              <a:ln w="19050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1CD4977-A135-E046-964E-5996647D838C}"/>
                  </a:ext>
                </a:extLst>
              </p:cNvPr>
              <p:cNvSpPr txBox="1"/>
              <p:nvPr/>
            </p:nvSpPr>
            <p:spPr>
              <a:xfrm rot="20917555">
                <a:off x="3461707" y="3343420"/>
                <a:ext cx="64312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= 1</a:t>
                </a:r>
              </a:p>
            </p:txBody>
          </p:sp>
        </p:grp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285DAA-15C1-0830-726D-0FF26E977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F70F5B-A436-A770-4102-636B9DFE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15860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1967237" y="753167"/>
            <a:ext cx="46451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solidFill>
                  <a:schemeClr val="accent6"/>
                </a:solidFill>
                <a:latin typeface="Gill Sans MT" panose="020B0502020104020203" pitchFamily="34" charset="77"/>
              </a:rPr>
              <a:t>Interpretación de KL: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08DFBA-7DD1-C945-8411-1774A6A5D9E3}"/>
              </a:ext>
            </a:extLst>
          </p:cNvPr>
          <p:cNvSpPr/>
          <p:nvPr/>
        </p:nvSpPr>
        <p:spPr>
          <a:xfrm>
            <a:off x="2006520" y="1803161"/>
            <a:ext cx="31109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3200" dirty="0">
                <a:latin typeface="Gill Sans MT" panose="020B0502020104020203" pitchFamily="34" charset="77"/>
              </a:rPr>
              <a:t>Covarianza de </a:t>
            </a:r>
            <a:r>
              <a:rPr lang="es-ES_trad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_tradnl" sz="3200" dirty="0">
                <a:latin typeface="Gill Sans MT" panose="020B0502020104020203" pitchFamily="34" charset="77"/>
              </a:rPr>
              <a:t>:</a:t>
            </a:r>
            <a:endParaRPr lang="en-US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C1F6FC-D70E-BC44-A5FB-304304785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461" y="2946676"/>
            <a:ext cx="5334000" cy="21971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1BC8755-11D8-4143-8986-D323DBA575C7}"/>
              </a:ext>
            </a:extLst>
          </p:cNvPr>
          <p:cNvSpPr/>
          <p:nvPr/>
        </p:nvSpPr>
        <p:spPr>
          <a:xfrm>
            <a:off x="2180171" y="6027291"/>
            <a:ext cx="41920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Generalmente, se ordena de tal forma que: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60DBA9-7B6E-1B47-A1BB-1AD6D3E1D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535" y="6034013"/>
            <a:ext cx="2749473" cy="295245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29BC233-05F8-BD43-F9E1-5B5324638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C69DD8B-3E7B-EE83-B9DD-7A30F3668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510719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F09A-B37B-8048-A66C-28F4386B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687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SIGNIFICADO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6E515A-DE1C-A9FA-363B-A8F9A3368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9781D-0DB5-D237-9C1A-B36517906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8506818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3C18FA6-CA04-0B42-8E88-4BECF76E6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993627"/>
            <a:ext cx="9144000" cy="44610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FA7E49-A8E0-964B-81D6-D8BFD4443AF7}"/>
              </a:ext>
            </a:extLst>
          </p:cNvPr>
          <p:cNvSpPr txBox="1"/>
          <p:nvPr/>
        </p:nvSpPr>
        <p:spPr>
          <a:xfrm>
            <a:off x="1967236" y="753167"/>
            <a:ext cx="3275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solidFill>
                  <a:schemeClr val="accent6"/>
                </a:solidFill>
                <a:latin typeface="Gill Sans MT" panose="020B0502020104020203" pitchFamily="34" charset="77"/>
              </a:rPr>
              <a:t>Ejemplo en 2D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884E345-14F4-B237-F5F2-7BA15A640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559CC1D-518F-5299-E5D9-713191C07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3654383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DEF03BE-466A-4340-B038-6E2CFAB03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4231" y="337026"/>
            <a:ext cx="2702891" cy="21533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FA7E49-A8E0-964B-81D6-D8BFD4443AF7}"/>
              </a:ext>
            </a:extLst>
          </p:cNvPr>
          <p:cNvSpPr txBox="1"/>
          <p:nvPr/>
        </p:nvSpPr>
        <p:spPr>
          <a:xfrm>
            <a:off x="1967236" y="753167"/>
            <a:ext cx="3275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solidFill>
                  <a:schemeClr val="accent6"/>
                </a:solidFill>
                <a:latin typeface="Gill Sans MT" panose="020B0502020104020203" pitchFamily="34" charset="77"/>
              </a:rPr>
              <a:t>Ejemplo en 5D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977755-55ED-0844-B8C2-8FDFEF023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2392" y="2656550"/>
            <a:ext cx="368300" cy="317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23701E-9119-0E45-9ADD-F1CA81E7E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9686" y="2587922"/>
            <a:ext cx="456334" cy="3861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D137EA-24A9-7043-B9BC-CD665D86D3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6593" y="753167"/>
            <a:ext cx="419928" cy="4976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8452FD-0778-C448-8E71-ED46B1FFFE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086" y="3021497"/>
            <a:ext cx="3785838" cy="34994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4B7D34D-754B-8245-8AD4-6A2B3F0BF5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0265" y="3021497"/>
            <a:ext cx="3700504" cy="34994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5ED64F-2020-4749-B846-B47FBF0AF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716" y="218076"/>
            <a:ext cx="368300" cy="3175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014F55-AF34-F51F-885E-00DCFF52F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76E9D-0C02-034D-1D5F-F56923B12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81346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0.01018 L 0.20746 -0.15926 " pathEditMode="relative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85000" y="18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DEF03BE-466A-4340-B038-6E2CFAB03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4231" y="337026"/>
            <a:ext cx="2702891" cy="21533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FA7E49-A8E0-964B-81D6-D8BFD4443AF7}"/>
              </a:ext>
            </a:extLst>
          </p:cNvPr>
          <p:cNvSpPr txBox="1"/>
          <p:nvPr/>
        </p:nvSpPr>
        <p:spPr>
          <a:xfrm>
            <a:off x="1967236" y="753167"/>
            <a:ext cx="3275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solidFill>
                  <a:schemeClr val="accent6"/>
                </a:solidFill>
                <a:latin typeface="Gill Sans MT" panose="020B0502020104020203" pitchFamily="34" charset="77"/>
              </a:rPr>
              <a:t>Ejemplo en 5D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B7D34D-754B-8245-8AD4-6A2B3F0BF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265" y="3021497"/>
            <a:ext cx="3700504" cy="34994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977755-55ED-0844-B8C2-8FDFEF0237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2392" y="2656550"/>
            <a:ext cx="368300" cy="317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23701E-9119-0E45-9ADD-F1CA81E7E1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9686" y="2587922"/>
            <a:ext cx="456334" cy="3861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D137EA-24A9-7043-B9BC-CD665D86D3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6593" y="753167"/>
            <a:ext cx="419928" cy="4976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8452FD-0778-C448-8E71-ED46B1FFFE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086" y="3021497"/>
            <a:ext cx="3785838" cy="34994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3872F34-335A-F743-88EC-217B495B4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4887" y="124083"/>
            <a:ext cx="456334" cy="386129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771CC0-2299-ACAD-3DC4-03C28766E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D4491-88B7-41B4-57F3-A5F753CD8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63772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1.85185E-6 L -0.23958 -0.1666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979" y="-833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185000" y="18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F09A-B37B-8048-A66C-28F4386B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687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SIGNIFICADO</a:t>
            </a:r>
            <a:br>
              <a:rPr lang="en-US" dirty="0"/>
            </a:br>
            <a:r>
              <a:rPr lang="en-US" dirty="0"/>
              <a:t>EN LA TRANSFORMACIÓN DE CARACTERÍSTICAS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77C4B2-2350-7629-6456-4F1F016FC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F1987-507B-FB98-AC53-C0FA20399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5999353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4052612" y="960476"/>
            <a:ext cx="82291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m</a:t>
            </a:r>
            <a:r>
              <a:rPr lang="en-US" sz="1200" dirty="0"/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features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22687" y="972961"/>
            <a:ext cx="78925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p</a:t>
            </a:r>
            <a:r>
              <a:rPr lang="en-US" sz="1200" dirty="0"/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features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2389020" y="1720342"/>
            <a:ext cx="0" cy="436764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31910" y="1423120"/>
          <a:ext cx="2656546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44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4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5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6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7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8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9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86050" y="1423120"/>
          <a:ext cx="893292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1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2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3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6" name="Oval 15"/>
          <p:cNvSpPr/>
          <p:nvPr/>
        </p:nvSpPr>
        <p:spPr>
          <a:xfrm>
            <a:off x="3554966" y="609046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153406" y="608799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5046977" y="609171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9903611" y="608923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9609971" y="609295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9316331" y="609048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Elbow Connector 22"/>
          <p:cNvCxnSpPr>
            <a:stCxn id="18" idx="4"/>
            <a:endCxn id="19" idx="4"/>
          </p:cNvCxnSpPr>
          <p:nvPr/>
        </p:nvCxnSpPr>
        <p:spPr>
          <a:xfrm rot="5400000" flipH="1" flipV="1">
            <a:off x="7496916" y="3707875"/>
            <a:ext cx="2475" cy="4856634"/>
          </a:xfrm>
          <a:prstGeom prst="bentConnector3">
            <a:avLst>
              <a:gd name="adj1" fmla="val -4692283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/>
          <p:cNvCxnSpPr>
            <a:stCxn id="17" idx="4"/>
            <a:endCxn id="20" idx="4"/>
          </p:cNvCxnSpPr>
          <p:nvPr/>
        </p:nvCxnSpPr>
        <p:spPr>
          <a:xfrm rot="16200000" flipH="1">
            <a:off x="6902066" y="3407909"/>
            <a:ext cx="4965" cy="5456565"/>
          </a:xfrm>
          <a:prstGeom prst="bentConnector3">
            <a:avLst>
              <a:gd name="adj1" fmla="val 4494763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985453" y="3503658"/>
            <a:ext cx="80663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N</a:t>
            </a:r>
            <a:r>
              <a:rPr lang="en-US" sz="1200" dirty="0"/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samples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09" y="5773342"/>
            <a:ext cx="368300" cy="317500"/>
          </a:xfrm>
          <a:prstGeom prst="rect">
            <a:avLst/>
          </a:prstGeom>
        </p:spPr>
      </p:pic>
      <p:cxnSp>
        <p:nvCxnSpPr>
          <p:cNvPr id="46" name="Straight Arrow Connector 45"/>
          <p:cNvCxnSpPr/>
          <p:nvPr/>
        </p:nvCxnSpPr>
        <p:spPr>
          <a:xfrm>
            <a:off x="8609052" y="1737642"/>
            <a:ext cx="0" cy="436764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205485" y="3520958"/>
            <a:ext cx="80663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N</a:t>
            </a:r>
            <a:r>
              <a:rPr lang="en-US" sz="1200" dirty="0"/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samples</a:t>
            </a:r>
          </a:p>
        </p:txBody>
      </p:sp>
      <p:cxnSp>
        <p:nvCxnSpPr>
          <p:cNvPr id="48" name="Straight Arrow Connector 47"/>
          <p:cNvCxnSpPr>
            <a:cxnSpLocks/>
          </p:cNvCxnSpPr>
          <p:nvPr/>
        </p:nvCxnSpPr>
        <p:spPr>
          <a:xfrm flipH="1">
            <a:off x="3116494" y="1257101"/>
            <a:ext cx="2671962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9141114" y="1274742"/>
            <a:ext cx="951465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/>
          <p:cNvCxnSpPr>
            <a:stCxn id="16" idx="4"/>
            <a:endCxn id="21" idx="4"/>
          </p:cNvCxnSpPr>
          <p:nvPr/>
        </p:nvCxnSpPr>
        <p:spPr>
          <a:xfrm rot="16200000" flipH="1">
            <a:off x="6458501" y="3255509"/>
            <a:ext cx="15" cy="5761365"/>
          </a:xfrm>
          <a:prstGeom prst="bentConnector3">
            <a:avLst>
              <a:gd name="adj1" fmla="val 2147483647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749160" y="720247"/>
            <a:ext cx="638084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Gill Sans MT" panose="020B0502020104020203" pitchFamily="34" charset="77"/>
                <a:cs typeface="Arial"/>
              </a:rPr>
              <a:t>Extracted features                                                                         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Gill Sans MT" panose="020B0502020104020203" pitchFamily="34" charset="77"/>
                <a:cs typeface="Arial"/>
              </a:rPr>
              <a:t>Selected</a:t>
            </a:r>
            <a:r>
              <a:rPr lang="en-US" sz="1400" dirty="0">
                <a:latin typeface="Gill Sans MT" panose="020B0502020104020203" pitchFamily="34" charset="77"/>
                <a:cs typeface="Arial"/>
              </a:rPr>
              <a:t> features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5742" y="5765263"/>
            <a:ext cx="279400" cy="317500"/>
          </a:xfrm>
          <a:prstGeom prst="rect">
            <a:avLst/>
          </a:prstGeom>
        </p:spPr>
      </p:pic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066589" y="1432852"/>
          <a:ext cx="297764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977333" y="1089220"/>
            <a:ext cx="52770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Arial"/>
              </a:rPr>
              <a:t>labels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802" y="5706009"/>
            <a:ext cx="279400" cy="330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BB3834-8457-A643-A0C3-C7000D74F681}"/>
              </a:ext>
            </a:extLst>
          </p:cNvPr>
          <p:cNvSpPr txBox="1"/>
          <p:nvPr/>
        </p:nvSpPr>
        <p:spPr>
          <a:xfrm>
            <a:off x="4829697" y="200296"/>
            <a:ext cx="3653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SELECCION DE CARACTERISTICAS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DFB954-59E2-9885-28E1-369990E7E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DD2CE5B-BD64-739B-6067-02DB5EB24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22303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863771" y="960476"/>
            <a:ext cx="82291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m</a:t>
            </a:r>
            <a:r>
              <a:rPr lang="en-US" sz="1200" dirty="0"/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features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22687" y="972961"/>
            <a:ext cx="78925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p</a:t>
            </a:r>
            <a:r>
              <a:rPr lang="en-US" sz="1200" dirty="0"/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features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2319445" y="1720342"/>
            <a:ext cx="0" cy="436764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943069" y="1423120"/>
          <a:ext cx="2656546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44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4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5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6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7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8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9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86050" y="1423120"/>
          <a:ext cx="893292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1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2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3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6" name="Oval 15"/>
          <p:cNvSpPr/>
          <p:nvPr/>
        </p:nvSpPr>
        <p:spPr>
          <a:xfrm>
            <a:off x="3366125" y="609046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964565" y="608799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4858136" y="609171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9903611" y="608923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9609971" y="609295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9316331" y="609048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Elbow Connector 22"/>
          <p:cNvCxnSpPr>
            <a:stCxn id="18" idx="4"/>
            <a:endCxn id="19" idx="4"/>
          </p:cNvCxnSpPr>
          <p:nvPr/>
        </p:nvCxnSpPr>
        <p:spPr>
          <a:xfrm rot="5400000" flipH="1" flipV="1">
            <a:off x="7402495" y="3613455"/>
            <a:ext cx="2475" cy="5045475"/>
          </a:xfrm>
          <a:prstGeom prst="bentConnector3">
            <a:avLst>
              <a:gd name="adj1" fmla="val -9236364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/>
          <p:cNvCxnSpPr>
            <a:stCxn id="17" idx="4"/>
            <a:endCxn id="20" idx="4"/>
          </p:cNvCxnSpPr>
          <p:nvPr/>
        </p:nvCxnSpPr>
        <p:spPr>
          <a:xfrm rot="16200000" flipH="1">
            <a:off x="6807646" y="3313488"/>
            <a:ext cx="4965" cy="5645406"/>
          </a:xfrm>
          <a:prstGeom prst="bentConnector3">
            <a:avLst>
              <a:gd name="adj1" fmla="val 4704230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925817" y="3503658"/>
            <a:ext cx="80663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N</a:t>
            </a:r>
            <a:r>
              <a:rPr lang="en-US" sz="1200" dirty="0"/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samples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268" y="5773342"/>
            <a:ext cx="368300" cy="317500"/>
          </a:xfrm>
          <a:prstGeom prst="rect">
            <a:avLst/>
          </a:prstGeom>
        </p:spPr>
      </p:pic>
      <p:cxnSp>
        <p:nvCxnSpPr>
          <p:cNvPr id="46" name="Straight Arrow Connector 45"/>
          <p:cNvCxnSpPr/>
          <p:nvPr/>
        </p:nvCxnSpPr>
        <p:spPr>
          <a:xfrm>
            <a:off x="8609052" y="1737642"/>
            <a:ext cx="0" cy="436764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205485" y="3520958"/>
            <a:ext cx="80663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N</a:t>
            </a:r>
            <a:r>
              <a:rPr lang="en-US" sz="1200" dirty="0"/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samples</a:t>
            </a:r>
          </a:p>
        </p:txBody>
      </p:sp>
      <p:cxnSp>
        <p:nvCxnSpPr>
          <p:cNvPr id="48" name="Straight Arrow Connector 47"/>
          <p:cNvCxnSpPr>
            <a:cxnSpLocks/>
          </p:cNvCxnSpPr>
          <p:nvPr/>
        </p:nvCxnSpPr>
        <p:spPr>
          <a:xfrm flipH="1">
            <a:off x="2927653" y="1257101"/>
            <a:ext cx="2671962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9141114" y="1274742"/>
            <a:ext cx="951465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/>
          <p:cNvCxnSpPr>
            <a:stCxn id="16" idx="4"/>
            <a:endCxn id="21" idx="4"/>
          </p:cNvCxnSpPr>
          <p:nvPr/>
        </p:nvCxnSpPr>
        <p:spPr>
          <a:xfrm rot="16200000" flipH="1">
            <a:off x="6364081" y="3161088"/>
            <a:ext cx="15" cy="5950206"/>
          </a:xfrm>
          <a:prstGeom prst="bentConnector3">
            <a:avLst>
              <a:gd name="adj1" fmla="val 1524100000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490745" y="720247"/>
            <a:ext cx="686803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Gill Sans MT" panose="020B0502020104020203" pitchFamily="34" charset="77"/>
                <a:cs typeface="Arial"/>
              </a:rPr>
              <a:t>Extracted features                                                                             </a:t>
            </a:r>
            <a:r>
              <a:rPr lang="en-US" sz="1400" dirty="0">
                <a:solidFill>
                  <a:srgbClr val="FF0000"/>
                </a:solidFill>
                <a:latin typeface="Gill Sans MT" panose="020B0502020104020203" pitchFamily="34" charset="77"/>
                <a:cs typeface="Arial"/>
              </a:rPr>
              <a:t>Transformed</a:t>
            </a:r>
            <a:r>
              <a:rPr lang="en-US" sz="1400" dirty="0">
                <a:latin typeface="Gill Sans MT" panose="020B0502020104020203" pitchFamily="34" charset="77"/>
                <a:cs typeface="Arial"/>
              </a:rPr>
              <a:t> features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5742" y="5765263"/>
            <a:ext cx="279400" cy="317500"/>
          </a:xfrm>
          <a:prstGeom prst="rect">
            <a:avLst/>
          </a:prstGeom>
        </p:spPr>
      </p:pic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877748" y="1432852"/>
          <a:ext cx="297764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788492" y="1089220"/>
            <a:ext cx="52770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Arial"/>
              </a:rPr>
              <a:t>labels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0961" y="5706009"/>
            <a:ext cx="279400" cy="330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BB3834-8457-A643-A0C3-C7000D74F681}"/>
              </a:ext>
            </a:extLst>
          </p:cNvPr>
          <p:cNvSpPr txBox="1"/>
          <p:nvPr/>
        </p:nvSpPr>
        <p:spPr>
          <a:xfrm>
            <a:off x="6234426" y="200296"/>
            <a:ext cx="612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A24A6F-C1A4-1A48-B262-251B7DC140A7}"/>
              </a:ext>
            </a:extLst>
          </p:cNvPr>
          <p:cNvSpPr/>
          <p:nvPr/>
        </p:nvSpPr>
        <p:spPr>
          <a:xfrm>
            <a:off x="6480786" y="1057007"/>
            <a:ext cx="951423" cy="50975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6144CDD-3903-0941-A796-180BDFF13962}"/>
              </a:ext>
            </a:extLst>
          </p:cNvPr>
          <p:cNvSpPr/>
          <p:nvPr/>
        </p:nvSpPr>
        <p:spPr>
          <a:xfrm>
            <a:off x="3205410" y="6106395"/>
            <a:ext cx="7066743" cy="38612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0DD43B4-FB78-DC4E-AB04-C84797AF56C0}"/>
              </a:ext>
            </a:extLst>
          </p:cNvPr>
          <p:cNvSpPr/>
          <p:nvPr/>
        </p:nvSpPr>
        <p:spPr>
          <a:xfrm>
            <a:off x="8746436" y="5715457"/>
            <a:ext cx="378707" cy="38612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B8C2F5-4AF8-8746-BF62-6F49348F51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9065" y="5704073"/>
            <a:ext cx="456334" cy="3861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02B659-8D77-AC4C-9C0F-2AFDB688E6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1225" y="3422211"/>
            <a:ext cx="1473200" cy="419100"/>
          </a:xfrm>
          <a:prstGeom prst="rect">
            <a:avLst/>
          </a:prstGeom>
        </p:spPr>
      </p:pic>
      <p:sp>
        <p:nvSpPr>
          <p:cNvPr id="10" name="Left Brace 9">
            <a:extLst>
              <a:ext uri="{FF2B5EF4-FFF2-40B4-BE49-F238E27FC236}">
                <a16:creationId xmlns:a16="http://schemas.microsoft.com/office/drawing/2014/main" id="{A870070D-AD74-574A-B1B1-1FE9D68049E4}"/>
              </a:ext>
            </a:extLst>
          </p:cNvPr>
          <p:cNvSpPr/>
          <p:nvPr/>
        </p:nvSpPr>
        <p:spPr>
          <a:xfrm rot="16200000">
            <a:off x="9537176" y="5897381"/>
            <a:ext cx="181534" cy="92927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C963F0-7BA7-9F41-870E-C2A524C0F91C}"/>
              </a:ext>
            </a:extLst>
          </p:cNvPr>
          <p:cNvSpPr txBox="1"/>
          <p:nvPr/>
        </p:nvSpPr>
        <p:spPr>
          <a:xfrm>
            <a:off x="8334078" y="6484782"/>
            <a:ext cx="2548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 principal components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0E800E8-FA7C-2B4C-A728-B391D6C3C4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2561" y="1648799"/>
            <a:ext cx="329801" cy="44748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53AC4C7-F0E5-894A-883E-C3936EB890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1954" y="1651509"/>
            <a:ext cx="329801" cy="44748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DBAB7AA-7F1A-3349-B0B7-72CEAFE545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0642" y="1651412"/>
            <a:ext cx="329801" cy="44748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AE6D60B-98FC-E040-B7C6-D9DB2C3849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6725" y="3492499"/>
            <a:ext cx="1003300" cy="3937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9847EE-147A-674C-9468-C46DB95F2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0DA5537-3CCB-1D5D-5EAB-14117C426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029413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F09A-B37B-8048-A66C-28F4386B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539" y="4314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s-ES_tradnl" dirty="0">
                <a:solidFill>
                  <a:schemeClr val="accent6"/>
                </a:solidFill>
              </a:rPr>
              <a:t>Significado de PCA: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D82AEAD-D7A3-3A44-9BFF-C438B1B21262}"/>
              </a:ext>
            </a:extLst>
          </p:cNvPr>
          <p:cNvSpPr txBox="1">
            <a:spLocks/>
          </p:cNvSpPr>
          <p:nvPr/>
        </p:nvSpPr>
        <p:spPr>
          <a:xfrm>
            <a:off x="1762539" y="185606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3600" dirty="0">
                <a:latin typeface="Gill Sans MT" panose="020B0502020104020203" pitchFamily="34" charset="77"/>
              </a:rPr>
              <a:t>1. </a:t>
            </a:r>
            <a:r>
              <a:rPr lang="es-ES_tradn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s-ES_tradnl" sz="3600" dirty="0">
                <a:latin typeface="Gill Sans MT" panose="020B0502020104020203" pitchFamily="34" charset="77"/>
              </a:rPr>
              <a:t>es una nueva representación de </a:t>
            </a:r>
            <a:r>
              <a:rPr lang="es-ES_tradn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s-ES_tradnl" sz="3600" dirty="0">
                <a:latin typeface="Gill Sans MT" panose="020B0502020104020203" pitchFamily="34" charset="77"/>
              </a:rPr>
              <a:t> (es una transformación lineal de </a:t>
            </a:r>
            <a:r>
              <a:rPr lang="es-ES_tradn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s-ES_tradnl" sz="3600" dirty="0">
                <a:latin typeface="Gill Sans MT" panose="020B0502020104020203" pitchFamily="34" charset="77"/>
              </a:rPr>
              <a:t>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89F9FC7-89EC-7349-944D-451BB728A25D}"/>
              </a:ext>
            </a:extLst>
          </p:cNvPr>
          <p:cNvGrpSpPr/>
          <p:nvPr/>
        </p:nvGrpSpPr>
        <p:grpSpPr>
          <a:xfrm>
            <a:off x="1762539" y="3237601"/>
            <a:ext cx="8229600" cy="1143000"/>
            <a:chOff x="238539" y="3237601"/>
            <a:chExt cx="8229600" cy="1143000"/>
          </a:xfrm>
        </p:grpSpPr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EEADF6EF-032A-7248-AAD7-156C498C491E}"/>
                </a:ext>
              </a:extLst>
            </p:cNvPr>
            <p:cNvSpPr txBox="1">
              <a:spLocks/>
            </p:cNvSpPr>
            <p:nvPr/>
          </p:nvSpPr>
          <p:spPr>
            <a:xfrm>
              <a:off x="238539" y="3237601"/>
              <a:ext cx="8229600" cy="11430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s-ES_tradnl" sz="3600" dirty="0">
                  <a:latin typeface="Gill Sans MT" panose="020B0502020104020203" pitchFamily="34" charset="77"/>
                </a:rPr>
                <a:t>2. Las columnas de </a:t>
              </a:r>
              <a:r>
                <a:rPr lang="es-ES_tradnl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s-ES_tradnl" sz="3600" dirty="0">
                  <a:latin typeface="Gill Sans MT" panose="020B0502020104020203" pitchFamily="34" charset="77"/>
                </a:rPr>
                <a:t> no tienen correlación:                        para 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9F61DF6-3BB7-0349-B20B-4FD03E24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41982" y="3848857"/>
              <a:ext cx="2298700" cy="4826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9647251-AE95-194D-B415-0D3A1666F0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64852" y="3849962"/>
              <a:ext cx="965200" cy="431800"/>
            </a:xfrm>
            <a:prstGeom prst="rect">
              <a:avLst/>
            </a:prstGeom>
          </p:spPr>
        </p:pic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91F7A266-8527-A54B-BA2D-E3A64A18E201}"/>
              </a:ext>
            </a:extLst>
          </p:cNvPr>
          <p:cNvSpPr txBox="1">
            <a:spLocks/>
          </p:cNvSpPr>
          <p:nvPr/>
        </p:nvSpPr>
        <p:spPr>
          <a:xfrm>
            <a:off x="1845365" y="478147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3600" dirty="0">
                <a:latin typeface="Gill Sans MT" panose="020B0502020104020203" pitchFamily="34" charset="77"/>
              </a:rPr>
              <a:t>3. Ordenado de mayor a menor las columnas de </a:t>
            </a:r>
            <a:r>
              <a:rPr lang="es-ES_tradn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_tradnl" sz="3600" dirty="0">
                <a:latin typeface="Gill Sans MT" panose="020B0502020104020203" pitchFamily="34" charset="77"/>
              </a:rPr>
              <a:t> están ordenadas por importancia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07CD5-66EE-380C-062F-046D1E6DE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62F4753-05AB-B77A-B299-2860F593E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060112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F09A-B37B-8048-A66C-28F4386B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687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APLICACIÓN A </a:t>
            </a:r>
            <a:br>
              <a:rPr lang="en-US" dirty="0"/>
            </a:br>
            <a:r>
              <a:rPr lang="en-US" dirty="0"/>
              <a:t>RECONOCIMIENTO DE PATRONES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5FE486-6251-7AFE-546C-58B562BFC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80425-0EF9-16F6-C61C-7D7B6009E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873102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99E8C0D-06B5-674C-9831-A0364C25E516}"/>
              </a:ext>
            </a:extLst>
          </p:cNvPr>
          <p:cNvSpPr/>
          <p:nvPr/>
        </p:nvSpPr>
        <p:spPr>
          <a:xfrm>
            <a:off x="2498033" y="2802837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PCA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8A2BEA-3E86-7E4D-A358-474FC127FED1}"/>
              </a:ext>
            </a:extLst>
          </p:cNvPr>
          <p:cNvCxnSpPr>
            <a:cxnSpLocks/>
          </p:cNvCxnSpPr>
          <p:nvPr/>
        </p:nvCxnSpPr>
        <p:spPr>
          <a:xfrm>
            <a:off x="1722781" y="3269975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970640B-A9FD-C84B-B072-9D47A3BF3C37}"/>
              </a:ext>
            </a:extLst>
          </p:cNvPr>
          <p:cNvSpPr/>
          <p:nvPr/>
        </p:nvSpPr>
        <p:spPr>
          <a:xfrm>
            <a:off x="5743161" y="2797866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Diseño</a:t>
            </a:r>
          </a:p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Clasificador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5FE37D9-E2EF-1840-B12F-6B8E1E5ABD1F}"/>
              </a:ext>
            </a:extLst>
          </p:cNvPr>
          <p:cNvCxnSpPr>
            <a:cxnSpLocks/>
          </p:cNvCxnSpPr>
          <p:nvPr/>
        </p:nvCxnSpPr>
        <p:spPr>
          <a:xfrm>
            <a:off x="4319800" y="3269975"/>
            <a:ext cx="14183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5EF20750-C8A0-F146-B9BF-2B7EA0339427}"/>
              </a:ext>
            </a:extLst>
          </p:cNvPr>
          <p:cNvSpPr/>
          <p:nvPr/>
        </p:nvSpPr>
        <p:spPr>
          <a:xfrm>
            <a:off x="1581192" y="4454040"/>
            <a:ext cx="314156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Características extraídas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dirty="0">
                <a:latin typeface="Gill Sans MT" panose="020B0502020104020203" pitchFamily="34" charset="77"/>
              </a:rPr>
              <a:t> x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  <a:p>
            <a:r>
              <a:rPr lang="es-ES_tradnl" dirty="0">
                <a:latin typeface="Gill Sans MT" panose="020B0502020104020203" pitchFamily="34" charset="77"/>
              </a:rPr>
              <a:t>(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dirty="0">
                <a:latin typeface="Gill Sans MT" panose="020B0502020104020203" pitchFamily="34" charset="77"/>
              </a:rPr>
              <a:t> muestras y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s-ES_tradnl" dirty="0">
                <a:latin typeface="Gill Sans MT" panose="020B0502020104020203" pitchFamily="34" charset="77"/>
              </a:rPr>
              <a:t> características)</a:t>
            </a:r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0CF8F64-B24B-9943-A62D-C3CD7BF1F846}"/>
              </a:ext>
            </a:extLst>
          </p:cNvPr>
          <p:cNvSpPr/>
          <p:nvPr/>
        </p:nvSpPr>
        <p:spPr>
          <a:xfrm>
            <a:off x="5123791" y="5480551"/>
            <a:ext cx="473657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Nuevas características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dirty="0">
                <a:latin typeface="Gill Sans MT" panose="020B0502020104020203" pitchFamily="34" charset="77"/>
              </a:rPr>
              <a:t> x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  <a:p>
            <a:r>
              <a:rPr lang="es-ES_tradnl" dirty="0">
                <a:latin typeface="Gill Sans MT" panose="020B0502020104020203" pitchFamily="34" charset="77"/>
              </a:rPr>
              <a:t>(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dirty="0">
                <a:latin typeface="Gill Sans MT" panose="020B0502020104020203" pitchFamily="34" charset="77"/>
              </a:rPr>
              <a:t> muestras y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s-ES_tradnl" dirty="0">
                <a:latin typeface="Gill Sans MT" panose="020B0502020104020203" pitchFamily="34" charset="77"/>
              </a:rPr>
              <a:t> nuevas características)</a:t>
            </a:r>
          </a:p>
          <a:p>
            <a:r>
              <a:rPr lang="es-ES_tradnl" dirty="0">
                <a:latin typeface="Gill Sans MT" panose="020B0502020104020203" pitchFamily="34" charset="77"/>
              </a:rPr>
              <a:t>Se escogen las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s-ES_tradnl" dirty="0">
                <a:latin typeface="Gill Sans MT" panose="020B0502020104020203" pitchFamily="34" charset="77"/>
              </a:rPr>
              <a:t> primeras (las componentes principales)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EA7B4FD-B6CA-2B46-BEF5-D1723AE8CEB9}"/>
              </a:ext>
            </a:extLst>
          </p:cNvPr>
          <p:cNvCxnSpPr>
            <a:cxnSpLocks/>
          </p:cNvCxnSpPr>
          <p:nvPr/>
        </p:nvCxnSpPr>
        <p:spPr>
          <a:xfrm>
            <a:off x="2110406" y="3508516"/>
            <a:ext cx="0" cy="795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849BD36-DDA8-2E42-8C8F-D0F9AC9476C3}"/>
              </a:ext>
            </a:extLst>
          </p:cNvPr>
          <p:cNvCxnSpPr>
            <a:cxnSpLocks/>
          </p:cNvCxnSpPr>
          <p:nvPr/>
        </p:nvCxnSpPr>
        <p:spPr>
          <a:xfrm flipV="1">
            <a:off x="5335380" y="3523903"/>
            <a:ext cx="0" cy="19028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itle 1">
            <a:extLst>
              <a:ext uri="{FF2B5EF4-FFF2-40B4-BE49-F238E27FC236}">
                <a16:creationId xmlns:a16="http://schemas.microsoft.com/office/drawing/2014/main" id="{537607F1-A474-3846-A13D-35C9B8143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539" y="4314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s-ES_tradnl" dirty="0">
                <a:solidFill>
                  <a:schemeClr val="accent6"/>
                </a:solidFill>
              </a:rPr>
              <a:t>Estrategia con PCA: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8BDA813A-C9BE-E34D-8ED5-345C5BA30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004" y="2789644"/>
            <a:ext cx="368300" cy="3175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6F9ED51-E114-5248-B914-E624DB229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790" y="2792896"/>
            <a:ext cx="381000" cy="317500"/>
          </a:xfrm>
          <a:prstGeom prst="rect">
            <a:avLst/>
          </a:prstGeom>
        </p:spPr>
      </p:pic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DAA043B-3150-AC46-ABAD-873D6325289A}"/>
              </a:ext>
            </a:extLst>
          </p:cNvPr>
          <p:cNvCxnSpPr>
            <a:cxnSpLocks/>
          </p:cNvCxnSpPr>
          <p:nvPr/>
        </p:nvCxnSpPr>
        <p:spPr>
          <a:xfrm>
            <a:off x="7604997" y="3269281"/>
            <a:ext cx="5758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EDC5605F-9064-864E-99BD-15B621F0D113}"/>
              </a:ext>
            </a:extLst>
          </p:cNvPr>
          <p:cNvSpPr/>
          <p:nvPr/>
        </p:nvSpPr>
        <p:spPr>
          <a:xfrm>
            <a:off x="8180799" y="3089485"/>
            <a:ext cx="8114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output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9DB314-53E3-A47E-AD5F-5BF0FAA25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0A0E73-752D-843A-1061-506043BB7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174900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F09A-B37B-8048-A66C-28F4386B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539" y="4314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s-ES_tradnl" dirty="0">
                <a:solidFill>
                  <a:schemeClr val="accent6"/>
                </a:solidFill>
              </a:rPr>
              <a:t>Training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99E8C0D-06B5-674C-9831-A0364C25E516}"/>
              </a:ext>
            </a:extLst>
          </p:cNvPr>
          <p:cNvSpPr/>
          <p:nvPr/>
        </p:nvSpPr>
        <p:spPr>
          <a:xfrm>
            <a:off x="2498033" y="2802837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PCA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8A2BEA-3E86-7E4D-A358-474FC127FED1}"/>
              </a:ext>
            </a:extLst>
          </p:cNvPr>
          <p:cNvCxnSpPr>
            <a:cxnSpLocks/>
          </p:cNvCxnSpPr>
          <p:nvPr/>
        </p:nvCxnSpPr>
        <p:spPr>
          <a:xfrm>
            <a:off x="1722781" y="3269975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970640B-A9FD-C84B-B072-9D47A3BF3C37}"/>
              </a:ext>
            </a:extLst>
          </p:cNvPr>
          <p:cNvSpPr/>
          <p:nvPr/>
        </p:nvSpPr>
        <p:spPr>
          <a:xfrm>
            <a:off x="5743161" y="2797866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Diseño</a:t>
            </a:r>
          </a:p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Clasificador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5FE37D9-E2EF-1840-B12F-6B8E1E5ABD1F}"/>
              </a:ext>
            </a:extLst>
          </p:cNvPr>
          <p:cNvCxnSpPr>
            <a:cxnSpLocks/>
          </p:cNvCxnSpPr>
          <p:nvPr/>
        </p:nvCxnSpPr>
        <p:spPr>
          <a:xfrm>
            <a:off x="4319800" y="3269975"/>
            <a:ext cx="14183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184F2E1-CAD6-7645-93AD-17F74B16CA5D}"/>
              </a:ext>
            </a:extLst>
          </p:cNvPr>
          <p:cNvSpPr txBox="1"/>
          <p:nvPr/>
        </p:nvSpPr>
        <p:spPr>
          <a:xfrm>
            <a:off x="1627262" y="2525838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>
                <a:latin typeface="Courier" pitchFamily="2" charset="0"/>
              </a:rPr>
              <a:t>Xtrain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B13FEB-73FC-1648-A572-1F0230619298}"/>
              </a:ext>
            </a:extLst>
          </p:cNvPr>
          <p:cNvSpPr txBox="1"/>
          <p:nvPr/>
        </p:nvSpPr>
        <p:spPr>
          <a:xfrm>
            <a:off x="4309873" y="2491698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>
                <a:latin typeface="Courier" pitchFamily="2" charset="0"/>
              </a:rPr>
              <a:t>Xtrain_pca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76A33C2-6B6F-F942-A86B-A9E1440EE72A}"/>
              </a:ext>
            </a:extLst>
          </p:cNvPr>
          <p:cNvCxnSpPr>
            <a:cxnSpLocks/>
          </p:cNvCxnSpPr>
          <p:nvPr/>
        </p:nvCxnSpPr>
        <p:spPr>
          <a:xfrm>
            <a:off x="6672470" y="2124020"/>
            <a:ext cx="0" cy="673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7EDDEB2-FD84-DD4E-970D-5C3657AA829B}"/>
              </a:ext>
            </a:extLst>
          </p:cNvPr>
          <p:cNvSpPr/>
          <p:nvPr/>
        </p:nvSpPr>
        <p:spPr>
          <a:xfrm>
            <a:off x="6185452" y="1681822"/>
            <a:ext cx="10118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>
                <a:latin typeface="Courier" pitchFamily="2" charset="0"/>
              </a:rPr>
              <a:t>ytrain</a:t>
            </a:r>
            <a:endParaRPr lang="es-ES_trad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6FB0C-0BDF-9BA4-5315-8B116DC67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E3F28-B18F-2B68-E75E-20DD8AD88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874471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F09A-B37B-8048-A66C-28F4386B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539" y="4314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s-ES_tradnl" dirty="0">
                <a:solidFill>
                  <a:schemeClr val="accent6"/>
                </a:solidFill>
              </a:rPr>
              <a:t>Training / </a:t>
            </a:r>
            <a:r>
              <a:rPr lang="es-ES_tradnl" dirty="0" err="1">
                <a:solidFill>
                  <a:schemeClr val="accent6"/>
                </a:solidFill>
              </a:rPr>
              <a:t>Testing</a:t>
            </a:r>
            <a:endParaRPr lang="es-ES_tradnl" dirty="0">
              <a:solidFill>
                <a:schemeClr val="accent6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99E8C0D-06B5-674C-9831-A0364C25E516}"/>
              </a:ext>
            </a:extLst>
          </p:cNvPr>
          <p:cNvSpPr/>
          <p:nvPr/>
        </p:nvSpPr>
        <p:spPr>
          <a:xfrm>
            <a:off x="2498033" y="2802837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PCA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8A2BEA-3E86-7E4D-A358-474FC127FED1}"/>
              </a:ext>
            </a:extLst>
          </p:cNvPr>
          <p:cNvCxnSpPr>
            <a:cxnSpLocks/>
          </p:cNvCxnSpPr>
          <p:nvPr/>
        </p:nvCxnSpPr>
        <p:spPr>
          <a:xfrm>
            <a:off x="1722781" y="3269975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970640B-A9FD-C84B-B072-9D47A3BF3C37}"/>
              </a:ext>
            </a:extLst>
          </p:cNvPr>
          <p:cNvSpPr/>
          <p:nvPr/>
        </p:nvSpPr>
        <p:spPr>
          <a:xfrm>
            <a:off x="5743161" y="2797866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Diseño</a:t>
            </a:r>
          </a:p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Clasificador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5FE37D9-E2EF-1840-B12F-6B8E1E5ABD1F}"/>
              </a:ext>
            </a:extLst>
          </p:cNvPr>
          <p:cNvCxnSpPr>
            <a:cxnSpLocks/>
          </p:cNvCxnSpPr>
          <p:nvPr/>
        </p:nvCxnSpPr>
        <p:spPr>
          <a:xfrm>
            <a:off x="4319800" y="3269975"/>
            <a:ext cx="14183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184F2E1-CAD6-7645-93AD-17F74B16CA5D}"/>
              </a:ext>
            </a:extLst>
          </p:cNvPr>
          <p:cNvSpPr txBox="1"/>
          <p:nvPr/>
        </p:nvSpPr>
        <p:spPr>
          <a:xfrm>
            <a:off x="1627262" y="2525838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>
                <a:latin typeface="Courier" pitchFamily="2" charset="0"/>
              </a:rPr>
              <a:t>Xtrain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B13FEB-73FC-1648-A572-1F0230619298}"/>
              </a:ext>
            </a:extLst>
          </p:cNvPr>
          <p:cNvSpPr txBox="1"/>
          <p:nvPr/>
        </p:nvSpPr>
        <p:spPr>
          <a:xfrm>
            <a:off x="4309873" y="2491698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>
                <a:latin typeface="Courier" pitchFamily="2" charset="0"/>
              </a:rPr>
              <a:t>Xtrain_pca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76A33C2-6B6F-F942-A86B-A9E1440EE72A}"/>
              </a:ext>
            </a:extLst>
          </p:cNvPr>
          <p:cNvCxnSpPr>
            <a:cxnSpLocks/>
          </p:cNvCxnSpPr>
          <p:nvPr/>
        </p:nvCxnSpPr>
        <p:spPr>
          <a:xfrm>
            <a:off x="6672470" y="2124020"/>
            <a:ext cx="0" cy="673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7EDDEB2-FD84-DD4E-970D-5C3657AA829B}"/>
              </a:ext>
            </a:extLst>
          </p:cNvPr>
          <p:cNvSpPr/>
          <p:nvPr/>
        </p:nvSpPr>
        <p:spPr>
          <a:xfrm>
            <a:off x="6185452" y="1681822"/>
            <a:ext cx="10118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>
                <a:latin typeface="Courier" pitchFamily="2" charset="0"/>
              </a:rPr>
              <a:t>ytrain</a:t>
            </a:r>
            <a:endParaRPr lang="es-ES_tradnl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197DAE8-5C82-0840-9160-C52BA082D890}"/>
              </a:ext>
            </a:extLst>
          </p:cNvPr>
          <p:cNvSpPr/>
          <p:nvPr/>
        </p:nvSpPr>
        <p:spPr>
          <a:xfrm>
            <a:off x="2493062" y="4416755"/>
            <a:ext cx="1858618" cy="944218"/>
          </a:xfrm>
          <a:prstGeom prst="roundRect">
            <a:avLst/>
          </a:prstGeom>
          <a:noFill/>
          <a:ln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56113DA-51DB-B84A-85FB-4799A3FB61A5}"/>
              </a:ext>
            </a:extLst>
          </p:cNvPr>
          <p:cNvCxnSpPr>
            <a:cxnSpLocks/>
          </p:cNvCxnSpPr>
          <p:nvPr/>
        </p:nvCxnSpPr>
        <p:spPr>
          <a:xfrm>
            <a:off x="1717810" y="4883893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1B3558D-908E-6F4A-86E0-0CCD5890A391}"/>
              </a:ext>
            </a:extLst>
          </p:cNvPr>
          <p:cNvSpPr/>
          <p:nvPr/>
        </p:nvSpPr>
        <p:spPr>
          <a:xfrm>
            <a:off x="5738190" y="4411784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Clasificación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05D4480-3096-2D4B-963A-CE080E7D3BD8}"/>
              </a:ext>
            </a:extLst>
          </p:cNvPr>
          <p:cNvCxnSpPr>
            <a:cxnSpLocks/>
          </p:cNvCxnSpPr>
          <p:nvPr/>
        </p:nvCxnSpPr>
        <p:spPr>
          <a:xfrm>
            <a:off x="4314829" y="4883893"/>
            <a:ext cx="14183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AA56918-5133-1C4D-BAF4-E76F29C0315D}"/>
              </a:ext>
            </a:extLst>
          </p:cNvPr>
          <p:cNvSpPr txBox="1"/>
          <p:nvPr/>
        </p:nvSpPr>
        <p:spPr>
          <a:xfrm>
            <a:off x="1622291" y="4139756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 err="1">
                <a:latin typeface="Courier" pitchFamily="2" charset="0"/>
              </a:rPr>
              <a:t>Xtest</a:t>
            </a:r>
            <a:endParaRPr lang="es-ES_tradnl" dirty="0">
              <a:latin typeface="Courier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B37EE2-C03C-2C44-8950-ACD6616C50C5}"/>
              </a:ext>
            </a:extLst>
          </p:cNvPr>
          <p:cNvSpPr txBox="1"/>
          <p:nvPr/>
        </p:nvSpPr>
        <p:spPr>
          <a:xfrm>
            <a:off x="4304902" y="4105616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 err="1">
                <a:latin typeface="Courier" pitchFamily="2" charset="0"/>
              </a:rPr>
              <a:t>Xtest_pca</a:t>
            </a:r>
            <a:endParaRPr lang="es-ES_tradnl" dirty="0">
              <a:latin typeface="Courier" pitchFamily="2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52020EF-B4EC-5340-B1BB-5B9512B97D17}"/>
              </a:ext>
            </a:extLst>
          </p:cNvPr>
          <p:cNvCxnSpPr>
            <a:cxnSpLocks/>
          </p:cNvCxnSpPr>
          <p:nvPr/>
        </p:nvCxnSpPr>
        <p:spPr>
          <a:xfrm>
            <a:off x="6667499" y="3737938"/>
            <a:ext cx="0" cy="673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9538B21-4859-B74B-B532-E362330B6982}"/>
              </a:ext>
            </a:extLst>
          </p:cNvPr>
          <p:cNvCxnSpPr>
            <a:cxnSpLocks/>
          </p:cNvCxnSpPr>
          <p:nvPr/>
        </p:nvCxnSpPr>
        <p:spPr>
          <a:xfrm>
            <a:off x="7596809" y="4883893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735221E-636F-9F4B-B32F-B5DF617A1A70}"/>
              </a:ext>
            </a:extLst>
          </p:cNvPr>
          <p:cNvSpPr txBox="1"/>
          <p:nvPr/>
        </p:nvSpPr>
        <p:spPr>
          <a:xfrm>
            <a:off x="7660059" y="4411784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>
                <a:latin typeface="Courier" pitchFamily="2" charset="0"/>
              </a:rPr>
              <a:t>ypred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20762B1-2E3B-3C48-A47A-892C91C7912B}"/>
              </a:ext>
            </a:extLst>
          </p:cNvPr>
          <p:cNvSpPr/>
          <p:nvPr/>
        </p:nvSpPr>
        <p:spPr>
          <a:xfrm>
            <a:off x="8374489" y="4711051"/>
            <a:ext cx="358345" cy="3907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DDFF269-AFD5-EE45-B3B9-70DD2C7E2F6F}"/>
              </a:ext>
            </a:extLst>
          </p:cNvPr>
          <p:cNvSpPr/>
          <p:nvPr/>
        </p:nvSpPr>
        <p:spPr>
          <a:xfrm>
            <a:off x="8401575" y="4612169"/>
            <a:ext cx="3000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800">
                <a:solidFill>
                  <a:schemeClr val="bg1"/>
                </a:solidFill>
                <a:latin typeface="Gill Sans MT" panose="020B0502020104020203" pitchFamily="34" charset="77"/>
              </a:rPr>
              <a:t>-</a:t>
            </a:r>
            <a:endParaRPr lang="es-ES_tradnl" sz="2800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723CE7-C3B3-C549-AD5E-F02EBA81A010}"/>
              </a:ext>
            </a:extLst>
          </p:cNvPr>
          <p:cNvSpPr txBox="1"/>
          <p:nvPr/>
        </p:nvSpPr>
        <p:spPr>
          <a:xfrm>
            <a:off x="1668457" y="5453306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>
                <a:latin typeface="Courier" pitchFamily="2" charset="0"/>
              </a:rPr>
              <a:t>ytest</a:t>
            </a:r>
          </a:p>
        </p:txBody>
      </p: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CBE7D3C1-10C0-054A-8757-E6832FF95776}"/>
              </a:ext>
            </a:extLst>
          </p:cNvPr>
          <p:cNvCxnSpPr>
            <a:stCxn id="33" idx="3"/>
            <a:endCxn id="32" idx="2"/>
          </p:cNvCxnSpPr>
          <p:nvPr/>
        </p:nvCxnSpPr>
        <p:spPr>
          <a:xfrm flipV="1">
            <a:off x="2542414" y="5135390"/>
            <a:ext cx="6009203" cy="50258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A21F245-8541-AD46-815F-E495B510B5D1}"/>
              </a:ext>
            </a:extLst>
          </p:cNvPr>
          <p:cNvCxnSpPr>
            <a:cxnSpLocks/>
          </p:cNvCxnSpPr>
          <p:nvPr/>
        </p:nvCxnSpPr>
        <p:spPr>
          <a:xfrm>
            <a:off x="8732834" y="4883893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B071619-F669-B94A-9A30-C94CD844F413}"/>
              </a:ext>
            </a:extLst>
          </p:cNvPr>
          <p:cNvSpPr txBox="1"/>
          <p:nvPr/>
        </p:nvSpPr>
        <p:spPr>
          <a:xfrm>
            <a:off x="9506623" y="466923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>
                <a:latin typeface="Courier" pitchFamily="2" charset="0"/>
              </a:rPr>
              <a:t>acc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BDC402-6B58-E844-AFC2-D82BCCE85AB1}"/>
              </a:ext>
            </a:extLst>
          </p:cNvPr>
          <p:cNvSpPr/>
          <p:nvPr/>
        </p:nvSpPr>
        <p:spPr>
          <a:xfrm>
            <a:off x="6689997" y="3829733"/>
            <a:ext cx="8947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modelo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07DAB8-0DD4-B18A-1B4F-9B19928F8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A77EA-1E38-7948-F02E-AF9CD00A3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478448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F09A-B37B-8048-A66C-28F4386B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539" y="4314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s-ES_tradnl" dirty="0">
                <a:solidFill>
                  <a:schemeClr val="accent6"/>
                </a:solidFill>
              </a:rPr>
              <a:t>Training / </a:t>
            </a:r>
            <a:r>
              <a:rPr lang="es-ES_tradnl" dirty="0" err="1">
                <a:solidFill>
                  <a:schemeClr val="accent6"/>
                </a:solidFill>
              </a:rPr>
              <a:t>Testing</a:t>
            </a:r>
            <a:endParaRPr lang="es-ES_tradnl" dirty="0">
              <a:solidFill>
                <a:schemeClr val="accent6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99E8C0D-06B5-674C-9831-A0364C25E516}"/>
              </a:ext>
            </a:extLst>
          </p:cNvPr>
          <p:cNvSpPr/>
          <p:nvPr/>
        </p:nvSpPr>
        <p:spPr>
          <a:xfrm>
            <a:off x="2498033" y="2802837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PCA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8A2BEA-3E86-7E4D-A358-474FC127FED1}"/>
              </a:ext>
            </a:extLst>
          </p:cNvPr>
          <p:cNvCxnSpPr>
            <a:cxnSpLocks/>
          </p:cNvCxnSpPr>
          <p:nvPr/>
        </p:nvCxnSpPr>
        <p:spPr>
          <a:xfrm>
            <a:off x="1722781" y="3269975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970640B-A9FD-C84B-B072-9D47A3BF3C37}"/>
              </a:ext>
            </a:extLst>
          </p:cNvPr>
          <p:cNvSpPr/>
          <p:nvPr/>
        </p:nvSpPr>
        <p:spPr>
          <a:xfrm>
            <a:off x="5743161" y="2797866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Diseño</a:t>
            </a:r>
          </a:p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Clasificador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5FE37D9-E2EF-1840-B12F-6B8E1E5ABD1F}"/>
              </a:ext>
            </a:extLst>
          </p:cNvPr>
          <p:cNvCxnSpPr>
            <a:cxnSpLocks/>
          </p:cNvCxnSpPr>
          <p:nvPr/>
        </p:nvCxnSpPr>
        <p:spPr>
          <a:xfrm>
            <a:off x="4319800" y="3269975"/>
            <a:ext cx="14183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184F2E1-CAD6-7645-93AD-17F74B16CA5D}"/>
              </a:ext>
            </a:extLst>
          </p:cNvPr>
          <p:cNvSpPr txBox="1"/>
          <p:nvPr/>
        </p:nvSpPr>
        <p:spPr>
          <a:xfrm>
            <a:off x="1627262" y="2525838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>
                <a:latin typeface="Courier" pitchFamily="2" charset="0"/>
              </a:rPr>
              <a:t>Xtrain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B13FEB-73FC-1648-A572-1F0230619298}"/>
              </a:ext>
            </a:extLst>
          </p:cNvPr>
          <p:cNvSpPr txBox="1"/>
          <p:nvPr/>
        </p:nvSpPr>
        <p:spPr>
          <a:xfrm>
            <a:off x="4309873" y="2491698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>
                <a:latin typeface="Courier" pitchFamily="2" charset="0"/>
              </a:rPr>
              <a:t>Xtrain_pca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76A33C2-6B6F-F942-A86B-A9E1440EE72A}"/>
              </a:ext>
            </a:extLst>
          </p:cNvPr>
          <p:cNvCxnSpPr>
            <a:cxnSpLocks/>
          </p:cNvCxnSpPr>
          <p:nvPr/>
        </p:nvCxnSpPr>
        <p:spPr>
          <a:xfrm>
            <a:off x="6672470" y="2124020"/>
            <a:ext cx="0" cy="673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7EDDEB2-FD84-DD4E-970D-5C3657AA829B}"/>
              </a:ext>
            </a:extLst>
          </p:cNvPr>
          <p:cNvSpPr/>
          <p:nvPr/>
        </p:nvSpPr>
        <p:spPr>
          <a:xfrm>
            <a:off x="6185452" y="1681822"/>
            <a:ext cx="10118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>
                <a:latin typeface="Courier" pitchFamily="2" charset="0"/>
              </a:rPr>
              <a:t>ytrain</a:t>
            </a:r>
            <a:endParaRPr lang="es-ES_tradnl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197DAE8-5C82-0840-9160-C52BA082D890}"/>
              </a:ext>
            </a:extLst>
          </p:cNvPr>
          <p:cNvSpPr/>
          <p:nvPr/>
        </p:nvSpPr>
        <p:spPr>
          <a:xfrm>
            <a:off x="2493062" y="4416755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>
                <a:latin typeface="Gill Sans MT" panose="020B0502020104020203" pitchFamily="34" charset="77"/>
              </a:rPr>
              <a:t>Transformación</a:t>
            </a:r>
          </a:p>
          <a:p>
            <a:pPr algn="ctr"/>
            <a:r>
              <a:rPr lang="es-ES_tradnl" dirty="0">
                <a:latin typeface="Gill Sans MT" panose="020B0502020104020203" pitchFamily="34" charset="77"/>
              </a:rPr>
              <a:t>Lineal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56113DA-51DB-B84A-85FB-4799A3FB61A5}"/>
              </a:ext>
            </a:extLst>
          </p:cNvPr>
          <p:cNvCxnSpPr>
            <a:cxnSpLocks/>
          </p:cNvCxnSpPr>
          <p:nvPr/>
        </p:nvCxnSpPr>
        <p:spPr>
          <a:xfrm>
            <a:off x="1717810" y="4883893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1B3558D-908E-6F4A-86E0-0CCD5890A391}"/>
              </a:ext>
            </a:extLst>
          </p:cNvPr>
          <p:cNvSpPr/>
          <p:nvPr/>
        </p:nvSpPr>
        <p:spPr>
          <a:xfrm>
            <a:off x="5738190" y="4411784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Clasificación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05D4480-3096-2D4B-963A-CE080E7D3BD8}"/>
              </a:ext>
            </a:extLst>
          </p:cNvPr>
          <p:cNvCxnSpPr>
            <a:cxnSpLocks/>
          </p:cNvCxnSpPr>
          <p:nvPr/>
        </p:nvCxnSpPr>
        <p:spPr>
          <a:xfrm>
            <a:off x="4314829" y="4883893"/>
            <a:ext cx="14183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AA56918-5133-1C4D-BAF4-E76F29C0315D}"/>
              </a:ext>
            </a:extLst>
          </p:cNvPr>
          <p:cNvSpPr txBox="1"/>
          <p:nvPr/>
        </p:nvSpPr>
        <p:spPr>
          <a:xfrm>
            <a:off x="1622291" y="4139756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 err="1">
                <a:latin typeface="Courier" pitchFamily="2" charset="0"/>
              </a:rPr>
              <a:t>Xtest</a:t>
            </a:r>
            <a:endParaRPr lang="es-ES_tradnl" dirty="0">
              <a:latin typeface="Courier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B37EE2-C03C-2C44-8950-ACD6616C50C5}"/>
              </a:ext>
            </a:extLst>
          </p:cNvPr>
          <p:cNvSpPr txBox="1"/>
          <p:nvPr/>
        </p:nvSpPr>
        <p:spPr>
          <a:xfrm>
            <a:off x="4304902" y="4105616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 err="1">
                <a:latin typeface="Courier" pitchFamily="2" charset="0"/>
              </a:rPr>
              <a:t>Xtest_pca</a:t>
            </a:r>
            <a:endParaRPr lang="es-ES_tradnl" dirty="0">
              <a:latin typeface="Courier" pitchFamily="2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52020EF-B4EC-5340-B1BB-5B9512B97D17}"/>
              </a:ext>
            </a:extLst>
          </p:cNvPr>
          <p:cNvCxnSpPr>
            <a:cxnSpLocks/>
          </p:cNvCxnSpPr>
          <p:nvPr/>
        </p:nvCxnSpPr>
        <p:spPr>
          <a:xfrm>
            <a:off x="6667499" y="3737938"/>
            <a:ext cx="0" cy="673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9538B21-4859-B74B-B532-E362330B6982}"/>
              </a:ext>
            </a:extLst>
          </p:cNvPr>
          <p:cNvCxnSpPr>
            <a:cxnSpLocks/>
          </p:cNvCxnSpPr>
          <p:nvPr/>
        </p:nvCxnSpPr>
        <p:spPr>
          <a:xfrm>
            <a:off x="7596809" y="4883893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735221E-636F-9F4B-B32F-B5DF617A1A70}"/>
              </a:ext>
            </a:extLst>
          </p:cNvPr>
          <p:cNvSpPr txBox="1"/>
          <p:nvPr/>
        </p:nvSpPr>
        <p:spPr>
          <a:xfrm>
            <a:off x="7660059" y="4411784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>
                <a:latin typeface="Courier" pitchFamily="2" charset="0"/>
              </a:rPr>
              <a:t>ypred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20762B1-2E3B-3C48-A47A-892C91C7912B}"/>
              </a:ext>
            </a:extLst>
          </p:cNvPr>
          <p:cNvSpPr/>
          <p:nvPr/>
        </p:nvSpPr>
        <p:spPr>
          <a:xfrm>
            <a:off x="8374489" y="4711051"/>
            <a:ext cx="358345" cy="3907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DDFF269-AFD5-EE45-B3B9-70DD2C7E2F6F}"/>
              </a:ext>
            </a:extLst>
          </p:cNvPr>
          <p:cNvSpPr/>
          <p:nvPr/>
        </p:nvSpPr>
        <p:spPr>
          <a:xfrm>
            <a:off x="8401575" y="4612169"/>
            <a:ext cx="3000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800">
                <a:solidFill>
                  <a:schemeClr val="bg1"/>
                </a:solidFill>
                <a:latin typeface="Gill Sans MT" panose="020B0502020104020203" pitchFamily="34" charset="77"/>
              </a:rPr>
              <a:t>-</a:t>
            </a:r>
            <a:endParaRPr lang="es-ES_tradnl" sz="2800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723CE7-C3B3-C549-AD5E-F02EBA81A010}"/>
              </a:ext>
            </a:extLst>
          </p:cNvPr>
          <p:cNvSpPr txBox="1"/>
          <p:nvPr/>
        </p:nvSpPr>
        <p:spPr>
          <a:xfrm>
            <a:off x="1668457" y="5453306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>
                <a:latin typeface="Courier" pitchFamily="2" charset="0"/>
              </a:rPr>
              <a:t>ytest</a:t>
            </a:r>
          </a:p>
        </p:txBody>
      </p: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CBE7D3C1-10C0-054A-8757-E6832FF95776}"/>
              </a:ext>
            </a:extLst>
          </p:cNvPr>
          <p:cNvCxnSpPr>
            <a:stCxn id="33" idx="3"/>
            <a:endCxn id="32" idx="2"/>
          </p:cNvCxnSpPr>
          <p:nvPr/>
        </p:nvCxnSpPr>
        <p:spPr>
          <a:xfrm flipV="1">
            <a:off x="2542414" y="5135390"/>
            <a:ext cx="6009203" cy="50258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A21F245-8541-AD46-815F-E495B510B5D1}"/>
              </a:ext>
            </a:extLst>
          </p:cNvPr>
          <p:cNvCxnSpPr>
            <a:cxnSpLocks/>
          </p:cNvCxnSpPr>
          <p:nvPr/>
        </p:nvCxnSpPr>
        <p:spPr>
          <a:xfrm>
            <a:off x="8732834" y="4883893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B071619-F669-B94A-9A30-C94CD844F413}"/>
              </a:ext>
            </a:extLst>
          </p:cNvPr>
          <p:cNvSpPr txBox="1"/>
          <p:nvPr/>
        </p:nvSpPr>
        <p:spPr>
          <a:xfrm>
            <a:off x="9506623" y="466923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>
                <a:latin typeface="Courier" pitchFamily="2" charset="0"/>
              </a:rPr>
              <a:t>acc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D752AA3-B67D-CB43-AB9E-B758790AA4F2}"/>
              </a:ext>
            </a:extLst>
          </p:cNvPr>
          <p:cNvCxnSpPr>
            <a:cxnSpLocks/>
          </p:cNvCxnSpPr>
          <p:nvPr/>
        </p:nvCxnSpPr>
        <p:spPr>
          <a:xfrm>
            <a:off x="3452188" y="5135389"/>
            <a:ext cx="0" cy="106662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755FD6A-48BD-0548-9CD7-CBBBB926FBE8}"/>
              </a:ext>
            </a:extLst>
          </p:cNvPr>
          <p:cNvCxnSpPr>
            <a:cxnSpLocks/>
          </p:cNvCxnSpPr>
          <p:nvPr/>
        </p:nvCxnSpPr>
        <p:spPr>
          <a:xfrm>
            <a:off x="3261688" y="3737938"/>
            <a:ext cx="0" cy="673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A74FDF6-B5E0-4048-96B4-99B094E66BB8}"/>
              </a:ext>
            </a:extLst>
          </p:cNvPr>
          <p:cNvCxnSpPr>
            <a:cxnSpLocks/>
          </p:cNvCxnSpPr>
          <p:nvPr/>
        </p:nvCxnSpPr>
        <p:spPr>
          <a:xfrm>
            <a:off x="3592994" y="3737938"/>
            <a:ext cx="0" cy="673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EE0D115-2D3A-EC45-A378-2C55E91D9905}"/>
              </a:ext>
            </a:extLst>
          </p:cNvPr>
          <p:cNvSpPr txBox="1"/>
          <p:nvPr/>
        </p:nvSpPr>
        <p:spPr>
          <a:xfrm>
            <a:off x="2846436" y="3833351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Courier" pitchFamily="2" charset="0"/>
              </a:rPr>
              <a:t>A     Mx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6B0BB2-1F38-CE4D-B397-D8E04CBB383F}"/>
              </a:ext>
            </a:extLst>
          </p:cNvPr>
          <p:cNvSpPr txBox="1"/>
          <p:nvPr/>
        </p:nvSpPr>
        <p:spPr>
          <a:xfrm>
            <a:off x="2542413" y="6305191"/>
            <a:ext cx="3768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 err="1">
                <a:latin typeface="Courier" pitchFamily="2" charset="0"/>
              </a:rPr>
              <a:t>Xtest_pca</a:t>
            </a:r>
            <a:r>
              <a:rPr lang="es-ES_tradnl" dirty="0">
                <a:latin typeface="Courier" pitchFamily="2" charset="0"/>
              </a:rPr>
              <a:t> = (</a:t>
            </a:r>
            <a:r>
              <a:rPr lang="es-ES_tradnl" dirty="0" err="1">
                <a:latin typeface="Courier" pitchFamily="2" charset="0"/>
              </a:rPr>
              <a:t>Xtest</a:t>
            </a:r>
            <a:r>
              <a:rPr lang="es-ES_tradnl" dirty="0">
                <a:latin typeface="Courier" pitchFamily="2" charset="0"/>
              </a:rPr>
              <a:t> – Mx) 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BDC402-6B58-E844-AFC2-D82BCCE85AB1}"/>
              </a:ext>
            </a:extLst>
          </p:cNvPr>
          <p:cNvSpPr/>
          <p:nvPr/>
        </p:nvSpPr>
        <p:spPr>
          <a:xfrm>
            <a:off x="6689997" y="3829733"/>
            <a:ext cx="8947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modelo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C87F3C-FFCE-0240-998A-E63012755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693" y="6455740"/>
            <a:ext cx="76200" cy="889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BE6F7-851B-AA87-41A0-5304627DD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68BDC-9B31-A803-9111-36D317BD3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615488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F09A-B37B-8048-A66C-28F4386B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539" y="4314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s-ES_tradnl" dirty="0">
                <a:solidFill>
                  <a:schemeClr val="accent6"/>
                </a:solidFill>
              </a:rPr>
              <a:t>Ventajas de PCA: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D82AEAD-D7A3-3A44-9BFF-C438B1B21262}"/>
              </a:ext>
            </a:extLst>
          </p:cNvPr>
          <p:cNvSpPr txBox="1">
            <a:spLocks/>
          </p:cNvSpPr>
          <p:nvPr/>
        </p:nvSpPr>
        <p:spPr>
          <a:xfrm>
            <a:off x="1762539" y="166721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3200" dirty="0">
                <a:latin typeface="Gill Sans MT" panose="020B0502020104020203" pitchFamily="34" charset="77"/>
              </a:rPr>
              <a:t>1. La representación de muchas características es mucho más sencilla ya que se reduce la </a:t>
            </a:r>
            <a:r>
              <a:rPr lang="es-ES_tradnl" sz="3200" dirty="0" err="1">
                <a:latin typeface="Gill Sans MT" panose="020B0502020104020203" pitchFamily="34" charset="77"/>
              </a:rPr>
              <a:t>dimensionalidad</a:t>
            </a:r>
            <a:endParaRPr lang="es-ES_tradnl" sz="3200" dirty="0">
              <a:latin typeface="Gill Sans MT" panose="020B0502020104020203" pitchFamily="34" charset="77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1F7A266-8527-A54B-BA2D-E3A64A18E201}"/>
              </a:ext>
            </a:extLst>
          </p:cNvPr>
          <p:cNvSpPr txBox="1">
            <a:spLocks/>
          </p:cNvSpPr>
          <p:nvPr/>
        </p:nvSpPr>
        <p:spPr>
          <a:xfrm>
            <a:off x="1845365" y="347945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3200" dirty="0">
                <a:latin typeface="Gill Sans MT" panose="020B0502020104020203" pitchFamily="34" charset="77"/>
              </a:rPr>
              <a:t>2. La clasificación usando las primeras componentes es más simple y más rápida para el clasificador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11B4B9D-41A1-F840-BB0C-9D5C3AC7350B}"/>
              </a:ext>
            </a:extLst>
          </p:cNvPr>
          <p:cNvSpPr txBox="1">
            <a:spLocks/>
          </p:cNvSpPr>
          <p:nvPr/>
        </p:nvSpPr>
        <p:spPr>
          <a:xfrm>
            <a:off x="1845365" y="519078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3200" dirty="0">
                <a:latin typeface="Gill Sans MT" panose="020B0502020104020203" pitchFamily="34" charset="77"/>
              </a:rPr>
              <a:t>3. Es posible reconstruir </a:t>
            </a:r>
            <a:r>
              <a:rPr lang="es-ES_trad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s-ES_tradnl" sz="3200" dirty="0">
                <a:latin typeface="Gill Sans MT" panose="020B0502020104020203" pitchFamily="34" charset="77"/>
              </a:rPr>
              <a:t> a partir de las principales columnas de </a:t>
            </a:r>
            <a:r>
              <a:rPr lang="es-ES_trad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_tradnl" sz="3200" dirty="0">
                <a:latin typeface="Gill Sans MT" panose="020B0502020104020203" pitchFamily="34" charset="77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571A9E-E304-934C-8D4B-216E42744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430" y="5793619"/>
            <a:ext cx="2780196" cy="42520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AB423-5660-921B-2A7F-F7E8CBF66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DE2270-2EE0-5D56-7E4F-197268CAD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666513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F09A-B37B-8048-A66C-28F4386B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539" y="4314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s-ES_tradnl" dirty="0">
                <a:solidFill>
                  <a:schemeClr val="accent6"/>
                </a:solidFill>
              </a:rPr>
              <a:t>Reconstrucción con PCA: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2096B3-4D7E-1847-91B5-E80DF10E0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757" y="1761263"/>
            <a:ext cx="3354064" cy="2778884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8D253CB-A623-5E43-B6B7-508AD3D4836D}"/>
              </a:ext>
            </a:extLst>
          </p:cNvPr>
          <p:cNvSpPr/>
          <p:nvPr/>
        </p:nvSpPr>
        <p:spPr>
          <a:xfrm>
            <a:off x="3889507" y="2683567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PCA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B0EE26-8DB9-DB47-9CF2-FDB0E44D6C8D}"/>
              </a:ext>
            </a:extLst>
          </p:cNvPr>
          <p:cNvCxnSpPr>
            <a:cxnSpLocks/>
          </p:cNvCxnSpPr>
          <p:nvPr/>
        </p:nvCxnSpPr>
        <p:spPr>
          <a:xfrm>
            <a:off x="3114255" y="3150705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519B260-A302-5149-8234-BB2E16D5D576}"/>
              </a:ext>
            </a:extLst>
          </p:cNvPr>
          <p:cNvCxnSpPr>
            <a:cxnSpLocks/>
          </p:cNvCxnSpPr>
          <p:nvPr/>
        </p:nvCxnSpPr>
        <p:spPr>
          <a:xfrm>
            <a:off x="5748126" y="3150705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267BABA5-3981-A144-BEF9-DDD650CCE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231" y="2337905"/>
            <a:ext cx="1663700" cy="1625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7D14ECF-BFE2-EA41-B957-A9726A3A4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3003" y="2065878"/>
            <a:ext cx="250343" cy="29670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80F7418-DE1A-4545-BB1D-582FA997B1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1620" y="4829833"/>
            <a:ext cx="4487925" cy="29211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B2DD1BE-59AD-B14C-B43C-C9E6C68625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0769" y="5407665"/>
            <a:ext cx="7710029" cy="2921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A220AE8-8CF6-484D-9400-0FE5DF30E1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9428" y="5859448"/>
            <a:ext cx="5459264" cy="381282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1E0704E4-8FD1-9449-9045-764ECF908CC3}"/>
              </a:ext>
            </a:extLst>
          </p:cNvPr>
          <p:cNvGrpSpPr/>
          <p:nvPr/>
        </p:nvGrpSpPr>
        <p:grpSpPr>
          <a:xfrm>
            <a:off x="7232374" y="2908858"/>
            <a:ext cx="152400" cy="1377727"/>
            <a:chOff x="5708374" y="2908857"/>
            <a:chExt cx="152400" cy="137772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7036C83-540A-8F48-A35A-1C721B108589}"/>
                </a:ext>
              </a:extLst>
            </p:cNvPr>
            <p:cNvCxnSpPr/>
            <p:nvPr/>
          </p:nvCxnSpPr>
          <p:spPr>
            <a:xfrm>
              <a:off x="5774635" y="3261679"/>
              <a:ext cx="0" cy="1024905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D98C53D6-ADCC-F146-A3EA-76D32E85094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708374" y="2908857"/>
              <a:ext cx="152400" cy="304800"/>
            </a:xfrm>
            <a:prstGeom prst="rect">
              <a:avLst/>
            </a:prstGeom>
          </p:spPr>
        </p:pic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426CC2-6D0C-CB3F-5D50-B8B476BC5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77DF9-21DF-F162-1A36-4329ECDF9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343517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F09A-B37B-8048-A66C-28F4386B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539" y="4314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s-ES_tradnl" dirty="0">
                <a:solidFill>
                  <a:schemeClr val="accent6"/>
                </a:solidFill>
              </a:rPr>
              <a:t>Reconstrucción con PCA: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BC6BD69-6ECE-744D-9EE1-207B0AB4063E}"/>
              </a:ext>
            </a:extLst>
          </p:cNvPr>
          <p:cNvGraphicFramePr>
            <a:graphicFrameLocks noGrp="1"/>
          </p:cNvGraphicFramePr>
          <p:nvPr/>
        </p:nvGraphicFramePr>
        <p:xfrm>
          <a:off x="2501348" y="2092739"/>
          <a:ext cx="2968488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244">
                  <a:extLst>
                    <a:ext uri="{9D8B030D-6E8A-4147-A177-3AD203B41FA5}">
                      <a16:colId xmlns:a16="http://schemas.microsoft.com/office/drawing/2014/main" val="3088671041"/>
                    </a:ext>
                  </a:extLst>
                </a:gridCol>
                <a:gridCol w="1484244">
                  <a:extLst>
                    <a:ext uri="{9D8B030D-6E8A-4147-A177-3AD203B41FA5}">
                      <a16:colId xmlns:a16="http://schemas.microsoft.com/office/drawing/2014/main" val="25053239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00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329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371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183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2.05%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420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2.93%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59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3.67%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950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5.36%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811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6.98%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37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9.10%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550799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A80ABC10-8A60-484E-9239-A483C4BFF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169" y="1480483"/>
            <a:ext cx="1620000" cy="162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7C2AD55-965A-F94E-8EE2-1CB6E1BE7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733" y="3315978"/>
            <a:ext cx="1620000" cy="162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68D26D-E2D2-8944-9C36-3DC2DEDB07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733" y="5151473"/>
            <a:ext cx="1620000" cy="162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2D19B03-2194-214E-9674-D0D59F8FE8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6502" y="1480483"/>
            <a:ext cx="1620000" cy="162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0F00783-BEB2-E14C-8AD1-6351DEFA37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6502" y="3315978"/>
            <a:ext cx="1620000" cy="1620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1A05BBE-577B-F549-9E62-6B9BA123CD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6502" y="5151473"/>
            <a:ext cx="1620000" cy="1620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E910E7D-03E2-4B43-8D2A-70B081A68B24}"/>
              </a:ext>
            </a:extLst>
          </p:cNvPr>
          <p:cNvSpPr txBox="1"/>
          <p:nvPr/>
        </p:nvSpPr>
        <p:spPr>
          <a:xfrm>
            <a:off x="7752977" y="149749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C583C6-1D4E-064B-AF4B-DF9A2F04BC8E}"/>
              </a:ext>
            </a:extLst>
          </p:cNvPr>
          <p:cNvSpPr txBox="1"/>
          <p:nvPr/>
        </p:nvSpPr>
        <p:spPr>
          <a:xfrm>
            <a:off x="7759465" y="330495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B5E355-B666-BD44-A2E3-5F37768A6C72}"/>
              </a:ext>
            </a:extLst>
          </p:cNvPr>
          <p:cNvSpPr txBox="1"/>
          <p:nvPr/>
        </p:nvSpPr>
        <p:spPr>
          <a:xfrm>
            <a:off x="7774029" y="515147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A7A99B-E443-8C40-91B3-3B4CE579B299}"/>
              </a:ext>
            </a:extLst>
          </p:cNvPr>
          <p:cNvSpPr txBox="1"/>
          <p:nvPr/>
        </p:nvSpPr>
        <p:spPr>
          <a:xfrm>
            <a:off x="9640533" y="148048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9EA2B4-8906-A245-BAF1-FA316F6FEC06}"/>
              </a:ext>
            </a:extLst>
          </p:cNvPr>
          <p:cNvSpPr txBox="1"/>
          <p:nvPr/>
        </p:nvSpPr>
        <p:spPr>
          <a:xfrm>
            <a:off x="9746411" y="328793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7DDBFB-6FAE-1542-A560-9C1622EEBC2D}"/>
              </a:ext>
            </a:extLst>
          </p:cNvPr>
          <p:cNvSpPr txBox="1"/>
          <p:nvPr/>
        </p:nvSpPr>
        <p:spPr>
          <a:xfrm>
            <a:off x="9760975" y="513445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C98119-AFA4-C6AA-3A14-121B242F3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3781C6-E439-4A88-D433-D1B6C4E41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444671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F09A-B37B-8048-A66C-28F4386B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539" y="4314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s-ES_tradnl" dirty="0">
                <a:solidFill>
                  <a:schemeClr val="accent6"/>
                </a:solidFill>
              </a:rPr>
              <a:t>Desventajas de PCA: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D82AEAD-D7A3-3A44-9BFF-C438B1B21262}"/>
              </a:ext>
            </a:extLst>
          </p:cNvPr>
          <p:cNvSpPr txBox="1">
            <a:spLocks/>
          </p:cNvSpPr>
          <p:nvPr/>
        </p:nvSpPr>
        <p:spPr>
          <a:xfrm>
            <a:off x="1762539" y="22860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3200" dirty="0">
                <a:latin typeface="Gill Sans MT" panose="020B0502020104020203" pitchFamily="34" charset="77"/>
              </a:rPr>
              <a:t>1. Las características de PCA dependen de todas las características extraídas (es necesario extraer todas las características </a:t>
            </a:r>
            <a:r>
              <a:rPr lang="es-ES_trad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s-ES_tradnl" sz="3200" dirty="0">
                <a:latin typeface="Gill Sans MT" panose="020B0502020104020203" pitchFamily="34" charset="77"/>
              </a:rPr>
              <a:t> para obtener </a:t>
            </a:r>
            <a:r>
              <a:rPr lang="es-ES_trad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_tradnl" sz="3200" dirty="0">
                <a:latin typeface="Gill Sans MT" panose="020B0502020104020203" pitchFamily="34" charset="77"/>
              </a:rPr>
              <a:t>, no hay ahorro de cómputo en la extracción)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1F7A266-8527-A54B-BA2D-E3A64A18E201}"/>
              </a:ext>
            </a:extLst>
          </p:cNvPr>
          <p:cNvSpPr txBox="1">
            <a:spLocks/>
          </p:cNvSpPr>
          <p:nvPr/>
        </p:nvSpPr>
        <p:spPr>
          <a:xfrm>
            <a:off x="1762539" y="473178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3200" dirty="0">
                <a:latin typeface="Gill Sans MT" panose="020B0502020104020203" pitchFamily="34" charset="77"/>
              </a:rPr>
              <a:t>2. PCA al no incluir información de los </a:t>
            </a:r>
            <a:r>
              <a:rPr lang="es-ES_tradnl" sz="3200" dirty="0" err="1">
                <a:latin typeface="Gill Sans MT" panose="020B0502020104020203" pitchFamily="34" charset="77"/>
              </a:rPr>
              <a:t>labels</a:t>
            </a:r>
            <a:r>
              <a:rPr lang="es-ES_tradnl" sz="3200" dirty="0">
                <a:latin typeface="Gill Sans MT" panose="020B0502020104020203" pitchFamily="34" charset="77"/>
              </a:rPr>
              <a:t> no asegura que las características transformadas tengan una buena separabilidad.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B7927-556F-3BAB-2487-D124062F5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AC20DF-3409-F617-0927-BC56C39BC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83344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F09A-B37B-8048-A66C-28F4386B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687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ALTERNATIVAS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026E55-1C17-19F9-37C3-C1EFDC384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9A222-6D8F-9A5B-8A72-797B3AD08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25832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99E8C0D-06B5-674C-9831-A0364C25E516}"/>
              </a:ext>
            </a:extLst>
          </p:cNvPr>
          <p:cNvSpPr/>
          <p:nvPr/>
        </p:nvSpPr>
        <p:spPr>
          <a:xfrm>
            <a:off x="2498033" y="2802837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PCA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8A2BEA-3E86-7E4D-A358-474FC127FED1}"/>
              </a:ext>
            </a:extLst>
          </p:cNvPr>
          <p:cNvCxnSpPr>
            <a:cxnSpLocks/>
          </p:cNvCxnSpPr>
          <p:nvPr/>
        </p:nvCxnSpPr>
        <p:spPr>
          <a:xfrm>
            <a:off x="1722781" y="3269975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970640B-A9FD-C84B-B072-9D47A3BF3C37}"/>
              </a:ext>
            </a:extLst>
          </p:cNvPr>
          <p:cNvSpPr/>
          <p:nvPr/>
        </p:nvSpPr>
        <p:spPr>
          <a:xfrm>
            <a:off x="5743161" y="2797866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Diseño</a:t>
            </a:r>
          </a:p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Clasificador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5FE37D9-E2EF-1840-B12F-6B8E1E5ABD1F}"/>
              </a:ext>
            </a:extLst>
          </p:cNvPr>
          <p:cNvCxnSpPr>
            <a:cxnSpLocks/>
          </p:cNvCxnSpPr>
          <p:nvPr/>
        </p:nvCxnSpPr>
        <p:spPr>
          <a:xfrm>
            <a:off x="4319800" y="3269975"/>
            <a:ext cx="14183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5EF20750-C8A0-F146-B9BF-2B7EA0339427}"/>
              </a:ext>
            </a:extLst>
          </p:cNvPr>
          <p:cNvSpPr/>
          <p:nvPr/>
        </p:nvSpPr>
        <p:spPr>
          <a:xfrm>
            <a:off x="1581192" y="4454040"/>
            <a:ext cx="314156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Características extraídas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dirty="0">
                <a:latin typeface="Gill Sans MT" panose="020B0502020104020203" pitchFamily="34" charset="77"/>
              </a:rPr>
              <a:t> x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  <a:p>
            <a:r>
              <a:rPr lang="es-ES_tradnl" dirty="0">
                <a:latin typeface="Gill Sans MT" panose="020B0502020104020203" pitchFamily="34" charset="77"/>
              </a:rPr>
              <a:t>(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dirty="0">
                <a:latin typeface="Gill Sans MT" panose="020B0502020104020203" pitchFamily="34" charset="77"/>
              </a:rPr>
              <a:t> muestras y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s-ES_tradnl" dirty="0">
                <a:latin typeface="Gill Sans MT" panose="020B0502020104020203" pitchFamily="34" charset="77"/>
              </a:rPr>
              <a:t> características)</a:t>
            </a:r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0CF8F64-B24B-9943-A62D-C3CD7BF1F846}"/>
              </a:ext>
            </a:extLst>
          </p:cNvPr>
          <p:cNvSpPr/>
          <p:nvPr/>
        </p:nvSpPr>
        <p:spPr>
          <a:xfrm>
            <a:off x="5123791" y="5480551"/>
            <a:ext cx="473657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Nuevas características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dirty="0">
                <a:latin typeface="Gill Sans MT" panose="020B0502020104020203" pitchFamily="34" charset="77"/>
              </a:rPr>
              <a:t> x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  <a:p>
            <a:r>
              <a:rPr lang="es-ES_tradnl" dirty="0">
                <a:latin typeface="Gill Sans MT" panose="020B0502020104020203" pitchFamily="34" charset="77"/>
              </a:rPr>
              <a:t>(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dirty="0">
                <a:latin typeface="Gill Sans MT" panose="020B0502020104020203" pitchFamily="34" charset="77"/>
              </a:rPr>
              <a:t> muestras y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s-ES_tradnl" dirty="0">
                <a:latin typeface="Gill Sans MT" panose="020B0502020104020203" pitchFamily="34" charset="77"/>
              </a:rPr>
              <a:t> nuevas características)</a:t>
            </a:r>
          </a:p>
          <a:p>
            <a:r>
              <a:rPr lang="es-ES_tradnl" dirty="0">
                <a:latin typeface="Gill Sans MT" panose="020B0502020104020203" pitchFamily="34" charset="77"/>
              </a:rPr>
              <a:t>Se escogen las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s-ES_tradnl" dirty="0">
                <a:latin typeface="Gill Sans MT" panose="020B0502020104020203" pitchFamily="34" charset="77"/>
              </a:rPr>
              <a:t> primeras (las componentes principales)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EA7B4FD-B6CA-2B46-BEF5-D1723AE8CEB9}"/>
              </a:ext>
            </a:extLst>
          </p:cNvPr>
          <p:cNvCxnSpPr>
            <a:cxnSpLocks/>
          </p:cNvCxnSpPr>
          <p:nvPr/>
        </p:nvCxnSpPr>
        <p:spPr>
          <a:xfrm>
            <a:off x="2110406" y="3508516"/>
            <a:ext cx="0" cy="795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849BD36-DDA8-2E42-8C8F-D0F9AC9476C3}"/>
              </a:ext>
            </a:extLst>
          </p:cNvPr>
          <p:cNvCxnSpPr>
            <a:cxnSpLocks/>
          </p:cNvCxnSpPr>
          <p:nvPr/>
        </p:nvCxnSpPr>
        <p:spPr>
          <a:xfrm flipV="1">
            <a:off x="5335380" y="3523903"/>
            <a:ext cx="0" cy="19028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itle 1">
            <a:extLst>
              <a:ext uri="{FF2B5EF4-FFF2-40B4-BE49-F238E27FC236}">
                <a16:creationId xmlns:a16="http://schemas.microsoft.com/office/drawing/2014/main" id="{537607F1-A474-3846-A13D-35C9B8143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539" y="4314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s-ES_tradnl" dirty="0">
                <a:solidFill>
                  <a:schemeClr val="accent6"/>
                </a:solidFill>
              </a:rPr>
              <a:t>Estrategia con PCA (original):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8BDA813A-C9BE-E34D-8ED5-345C5BA30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004" y="2789644"/>
            <a:ext cx="368300" cy="3175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6F9ED51-E114-5248-B914-E624DB229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790" y="2792896"/>
            <a:ext cx="381000" cy="317500"/>
          </a:xfrm>
          <a:prstGeom prst="rect">
            <a:avLst/>
          </a:prstGeom>
        </p:spPr>
      </p:pic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DAA043B-3150-AC46-ABAD-873D6325289A}"/>
              </a:ext>
            </a:extLst>
          </p:cNvPr>
          <p:cNvCxnSpPr>
            <a:cxnSpLocks/>
          </p:cNvCxnSpPr>
          <p:nvPr/>
        </p:nvCxnSpPr>
        <p:spPr>
          <a:xfrm>
            <a:off x="7604997" y="3269281"/>
            <a:ext cx="5758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EDC5605F-9064-864E-99BD-15B621F0D113}"/>
              </a:ext>
            </a:extLst>
          </p:cNvPr>
          <p:cNvSpPr/>
          <p:nvPr/>
        </p:nvSpPr>
        <p:spPr>
          <a:xfrm>
            <a:off x="8180799" y="3089485"/>
            <a:ext cx="8114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output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70BD7-FD53-0252-9AF4-CCFBE1740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4D2A89-143A-E301-750E-32D572F45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993250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99E8C0D-06B5-674C-9831-A0364C25E516}"/>
              </a:ext>
            </a:extLst>
          </p:cNvPr>
          <p:cNvSpPr/>
          <p:nvPr/>
        </p:nvSpPr>
        <p:spPr>
          <a:xfrm>
            <a:off x="2498033" y="2802837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SFS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8A2BEA-3E86-7E4D-A358-474FC127FED1}"/>
              </a:ext>
            </a:extLst>
          </p:cNvPr>
          <p:cNvCxnSpPr>
            <a:cxnSpLocks/>
          </p:cNvCxnSpPr>
          <p:nvPr/>
        </p:nvCxnSpPr>
        <p:spPr>
          <a:xfrm>
            <a:off x="1722781" y="3269975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970640B-A9FD-C84B-B072-9D47A3BF3C37}"/>
              </a:ext>
            </a:extLst>
          </p:cNvPr>
          <p:cNvSpPr/>
          <p:nvPr/>
        </p:nvSpPr>
        <p:spPr>
          <a:xfrm>
            <a:off x="7522267" y="2797866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Diseño</a:t>
            </a:r>
          </a:p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Clasificador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5FE37D9-E2EF-1840-B12F-6B8E1E5ABD1F}"/>
              </a:ext>
            </a:extLst>
          </p:cNvPr>
          <p:cNvCxnSpPr>
            <a:cxnSpLocks/>
          </p:cNvCxnSpPr>
          <p:nvPr/>
        </p:nvCxnSpPr>
        <p:spPr>
          <a:xfrm>
            <a:off x="4319799" y="3269975"/>
            <a:ext cx="64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itle 1">
            <a:extLst>
              <a:ext uri="{FF2B5EF4-FFF2-40B4-BE49-F238E27FC236}">
                <a16:creationId xmlns:a16="http://schemas.microsoft.com/office/drawing/2014/main" id="{537607F1-A474-3846-A13D-35C9B8143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539" y="4314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s-ES_tradnl" dirty="0">
                <a:solidFill>
                  <a:schemeClr val="accent6"/>
                </a:solidFill>
              </a:rPr>
              <a:t>Estrategia con PCA y SFS (1/4):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8BDA813A-C9BE-E34D-8ED5-345C5BA30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004" y="2789644"/>
            <a:ext cx="368300" cy="317500"/>
          </a:xfrm>
          <a:prstGeom prst="rect">
            <a:avLst/>
          </a:prstGeom>
        </p:spPr>
      </p:pic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DAA043B-3150-AC46-ABAD-873D6325289A}"/>
              </a:ext>
            </a:extLst>
          </p:cNvPr>
          <p:cNvCxnSpPr>
            <a:cxnSpLocks/>
          </p:cNvCxnSpPr>
          <p:nvPr/>
        </p:nvCxnSpPr>
        <p:spPr>
          <a:xfrm>
            <a:off x="9384103" y="3269281"/>
            <a:ext cx="379437" cy="6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EDC5605F-9064-864E-99BD-15B621F0D113}"/>
              </a:ext>
            </a:extLst>
          </p:cNvPr>
          <p:cNvSpPr/>
          <p:nvPr/>
        </p:nvSpPr>
        <p:spPr>
          <a:xfrm>
            <a:off x="9751186" y="3089485"/>
            <a:ext cx="8114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output</a:t>
            </a:r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D600A33-AF31-014A-B259-26005ECB1876}"/>
              </a:ext>
            </a:extLst>
          </p:cNvPr>
          <p:cNvSpPr/>
          <p:nvPr/>
        </p:nvSpPr>
        <p:spPr>
          <a:xfrm>
            <a:off x="5010150" y="2789644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PCA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D700CE-6BC8-8541-9EE4-B5FE03A55A57}"/>
              </a:ext>
            </a:extLst>
          </p:cNvPr>
          <p:cNvCxnSpPr>
            <a:cxnSpLocks/>
          </p:cNvCxnSpPr>
          <p:nvPr/>
        </p:nvCxnSpPr>
        <p:spPr>
          <a:xfrm>
            <a:off x="6831916" y="3256782"/>
            <a:ext cx="64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09FF33F-3E77-B44C-9795-878F33C07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0806" y="2804828"/>
            <a:ext cx="546100" cy="393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8B9D52-AB82-2B45-A463-964E130621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712" y="2826363"/>
            <a:ext cx="546100" cy="3937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5EB6FE-A588-85AF-88A5-E63684785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6B99A1-A345-DBB1-4C14-66183CB19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65058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99E8C0D-06B5-674C-9831-A0364C25E516}"/>
              </a:ext>
            </a:extLst>
          </p:cNvPr>
          <p:cNvSpPr/>
          <p:nvPr/>
        </p:nvSpPr>
        <p:spPr>
          <a:xfrm>
            <a:off x="2498033" y="2802837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SFS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8A2BEA-3E86-7E4D-A358-474FC127FED1}"/>
              </a:ext>
            </a:extLst>
          </p:cNvPr>
          <p:cNvCxnSpPr>
            <a:cxnSpLocks/>
          </p:cNvCxnSpPr>
          <p:nvPr/>
        </p:nvCxnSpPr>
        <p:spPr>
          <a:xfrm>
            <a:off x="1722781" y="3269975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970640B-A9FD-C84B-B072-9D47A3BF3C37}"/>
              </a:ext>
            </a:extLst>
          </p:cNvPr>
          <p:cNvSpPr/>
          <p:nvPr/>
        </p:nvSpPr>
        <p:spPr>
          <a:xfrm>
            <a:off x="7522267" y="2797866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Diseño</a:t>
            </a:r>
          </a:p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Clasificador</a:t>
            </a: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537607F1-A474-3846-A13D-35C9B8143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539" y="4314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s-ES_tradnl" dirty="0">
                <a:solidFill>
                  <a:schemeClr val="accent6"/>
                </a:solidFill>
              </a:rPr>
              <a:t>Estrategia con PCA y SFS (2/4):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DAA043B-3150-AC46-ABAD-873D6325289A}"/>
              </a:ext>
            </a:extLst>
          </p:cNvPr>
          <p:cNvCxnSpPr>
            <a:cxnSpLocks/>
          </p:cNvCxnSpPr>
          <p:nvPr/>
        </p:nvCxnSpPr>
        <p:spPr>
          <a:xfrm>
            <a:off x="9384103" y="3269281"/>
            <a:ext cx="379437" cy="6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EDC5605F-9064-864E-99BD-15B621F0D113}"/>
              </a:ext>
            </a:extLst>
          </p:cNvPr>
          <p:cNvSpPr/>
          <p:nvPr/>
        </p:nvSpPr>
        <p:spPr>
          <a:xfrm>
            <a:off x="9751186" y="3089485"/>
            <a:ext cx="8114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output</a:t>
            </a:r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D600A33-AF31-014A-B259-26005ECB1876}"/>
              </a:ext>
            </a:extLst>
          </p:cNvPr>
          <p:cNvSpPr/>
          <p:nvPr/>
        </p:nvSpPr>
        <p:spPr>
          <a:xfrm>
            <a:off x="2498033" y="4037906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PCA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D700CE-6BC8-8541-9EE4-B5FE03A55A57}"/>
              </a:ext>
            </a:extLst>
          </p:cNvPr>
          <p:cNvCxnSpPr>
            <a:cxnSpLocks/>
          </p:cNvCxnSpPr>
          <p:nvPr/>
        </p:nvCxnSpPr>
        <p:spPr>
          <a:xfrm>
            <a:off x="6831916" y="3256782"/>
            <a:ext cx="64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09FF33F-3E77-B44C-9795-878F33C07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806" y="2804828"/>
            <a:ext cx="546100" cy="393700"/>
          </a:xfrm>
          <a:prstGeom prst="rect">
            <a:avLst/>
          </a:prstGeom>
        </p:spPr>
      </p:pic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CB2FDAC0-05F0-4B4D-9CB0-C78E769F6FE2}"/>
              </a:ext>
            </a:extLst>
          </p:cNvPr>
          <p:cNvCxnSpPr>
            <a:cxnSpLocks/>
            <a:endCxn id="16" idx="1"/>
          </p:cNvCxnSpPr>
          <p:nvPr/>
        </p:nvCxnSpPr>
        <p:spPr>
          <a:xfrm rot="16200000" flipH="1">
            <a:off x="1670200" y="3682183"/>
            <a:ext cx="1253786" cy="4018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0B86F98B-104E-D547-8CA8-2351657E5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004" y="2799583"/>
            <a:ext cx="368300" cy="31750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C5D24E3-9EFB-FF41-89EB-756A3AD1A243}"/>
              </a:ext>
            </a:extLst>
          </p:cNvPr>
          <p:cNvCxnSpPr>
            <a:cxnSpLocks/>
          </p:cNvCxnSpPr>
          <p:nvPr/>
        </p:nvCxnSpPr>
        <p:spPr>
          <a:xfrm>
            <a:off x="4319799" y="3269975"/>
            <a:ext cx="64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AD5EADE-F782-8943-97C1-3F62AFBFE855}"/>
              </a:ext>
            </a:extLst>
          </p:cNvPr>
          <p:cNvSpPr/>
          <p:nvPr/>
        </p:nvSpPr>
        <p:spPr>
          <a:xfrm>
            <a:off x="5010150" y="2789644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 err="1">
                <a:latin typeface="Gill Sans MT" panose="020B0502020104020203" pitchFamily="34" charset="77"/>
              </a:rPr>
              <a:t>Concatenate</a:t>
            </a:r>
            <a:endParaRPr lang="es-ES_tradnl" sz="2000" dirty="0">
              <a:latin typeface="Gill Sans MT" panose="020B0502020104020203" pitchFamily="34" charset="77"/>
            </a:endParaRP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93669766-AD5D-7C4C-B8E6-B58EA0E06CB9}"/>
              </a:ext>
            </a:extLst>
          </p:cNvPr>
          <p:cNvCxnSpPr>
            <a:cxnSpLocks/>
            <a:stCxn id="16" idx="3"/>
            <a:endCxn id="20" idx="2"/>
          </p:cNvCxnSpPr>
          <p:nvPr/>
        </p:nvCxnSpPr>
        <p:spPr>
          <a:xfrm flipV="1">
            <a:off x="4356651" y="3733863"/>
            <a:ext cx="1582808" cy="7761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75DDFDA0-8AA6-C346-8B12-20E169ECC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623" y="4112929"/>
            <a:ext cx="381000" cy="317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19AC76-C8C9-3E4D-9693-4BD6F7655B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6314" y="2803940"/>
            <a:ext cx="546100" cy="3556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4AB001-2D6E-88D4-F677-E45F4F65C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B6A1F-B789-3B4B-589C-423CFE2C0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420001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99E8C0D-06B5-674C-9831-A0364C25E516}"/>
              </a:ext>
            </a:extLst>
          </p:cNvPr>
          <p:cNvSpPr/>
          <p:nvPr/>
        </p:nvSpPr>
        <p:spPr>
          <a:xfrm>
            <a:off x="2498033" y="2802837"/>
            <a:ext cx="118275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SFS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8A2BEA-3E86-7E4D-A358-474FC127FED1}"/>
              </a:ext>
            </a:extLst>
          </p:cNvPr>
          <p:cNvCxnSpPr>
            <a:cxnSpLocks/>
          </p:cNvCxnSpPr>
          <p:nvPr/>
        </p:nvCxnSpPr>
        <p:spPr>
          <a:xfrm>
            <a:off x="1722781" y="3269975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970640B-A9FD-C84B-B072-9D47A3BF3C37}"/>
              </a:ext>
            </a:extLst>
          </p:cNvPr>
          <p:cNvSpPr/>
          <p:nvPr/>
        </p:nvSpPr>
        <p:spPr>
          <a:xfrm>
            <a:off x="7743863" y="2797866"/>
            <a:ext cx="1637022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Diseño</a:t>
            </a:r>
          </a:p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Clasificador</a:t>
            </a: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537607F1-A474-3846-A13D-35C9B8143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539" y="4314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s-ES_tradnl" dirty="0">
                <a:solidFill>
                  <a:schemeClr val="accent6"/>
                </a:solidFill>
              </a:rPr>
              <a:t>Estrategia con PCA y SFS (3/4):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DAA043B-3150-AC46-ABAD-873D6325289A}"/>
              </a:ext>
            </a:extLst>
          </p:cNvPr>
          <p:cNvCxnSpPr>
            <a:cxnSpLocks/>
          </p:cNvCxnSpPr>
          <p:nvPr/>
        </p:nvCxnSpPr>
        <p:spPr>
          <a:xfrm>
            <a:off x="9384103" y="3269281"/>
            <a:ext cx="379437" cy="6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EDC5605F-9064-864E-99BD-15B621F0D113}"/>
              </a:ext>
            </a:extLst>
          </p:cNvPr>
          <p:cNvSpPr/>
          <p:nvPr/>
        </p:nvSpPr>
        <p:spPr>
          <a:xfrm>
            <a:off x="9751186" y="3089485"/>
            <a:ext cx="8114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output</a:t>
            </a:r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D600A33-AF31-014A-B259-26005ECB1876}"/>
              </a:ext>
            </a:extLst>
          </p:cNvPr>
          <p:cNvSpPr/>
          <p:nvPr/>
        </p:nvSpPr>
        <p:spPr>
          <a:xfrm>
            <a:off x="2498033" y="4037906"/>
            <a:ext cx="118275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PCA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D700CE-6BC8-8541-9EE4-B5FE03A55A57}"/>
              </a:ext>
            </a:extLst>
          </p:cNvPr>
          <p:cNvCxnSpPr>
            <a:cxnSpLocks/>
          </p:cNvCxnSpPr>
          <p:nvPr/>
        </p:nvCxnSpPr>
        <p:spPr>
          <a:xfrm>
            <a:off x="7110212" y="3256782"/>
            <a:ext cx="64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09FF33F-3E77-B44C-9795-878F33C07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005" y="2804828"/>
            <a:ext cx="546100" cy="393700"/>
          </a:xfrm>
          <a:prstGeom prst="rect">
            <a:avLst/>
          </a:prstGeom>
        </p:spPr>
      </p:pic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CB2FDAC0-05F0-4B4D-9CB0-C78E769F6FE2}"/>
              </a:ext>
            </a:extLst>
          </p:cNvPr>
          <p:cNvCxnSpPr>
            <a:cxnSpLocks/>
            <a:endCxn id="16" idx="1"/>
          </p:cNvCxnSpPr>
          <p:nvPr/>
        </p:nvCxnSpPr>
        <p:spPr>
          <a:xfrm rot="16200000" flipH="1">
            <a:off x="1670200" y="3682182"/>
            <a:ext cx="1253786" cy="40188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0B86F98B-104E-D547-8CA8-2351657E5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004" y="2799583"/>
            <a:ext cx="368300" cy="31750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C5D24E3-9EFB-FF41-89EB-756A3AD1A243}"/>
              </a:ext>
            </a:extLst>
          </p:cNvPr>
          <p:cNvCxnSpPr>
            <a:cxnSpLocks/>
          </p:cNvCxnSpPr>
          <p:nvPr/>
        </p:nvCxnSpPr>
        <p:spPr>
          <a:xfrm>
            <a:off x="3693634" y="3269975"/>
            <a:ext cx="64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AD5EADE-F782-8943-97C1-3F62AFBFE855}"/>
              </a:ext>
            </a:extLst>
          </p:cNvPr>
          <p:cNvSpPr/>
          <p:nvPr/>
        </p:nvSpPr>
        <p:spPr>
          <a:xfrm>
            <a:off x="4324349" y="2789644"/>
            <a:ext cx="113658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Conca-</a:t>
            </a:r>
          </a:p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tenate</a:t>
            </a: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93669766-AD5D-7C4C-B8E6-B58EA0E06CB9}"/>
              </a:ext>
            </a:extLst>
          </p:cNvPr>
          <p:cNvCxnSpPr>
            <a:cxnSpLocks/>
            <a:stCxn id="16" idx="3"/>
            <a:endCxn id="20" idx="2"/>
          </p:cNvCxnSpPr>
          <p:nvPr/>
        </p:nvCxnSpPr>
        <p:spPr>
          <a:xfrm flipV="1">
            <a:off x="3680791" y="3733863"/>
            <a:ext cx="1211852" cy="7761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75DDFDA0-8AA6-C346-8B12-20E169ECC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623" y="4112929"/>
            <a:ext cx="381000" cy="317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19AC76-C8C9-3E4D-9693-4BD6F7655B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5079" y="2764184"/>
            <a:ext cx="546100" cy="355600"/>
          </a:xfrm>
          <a:prstGeom prst="rect">
            <a:avLst/>
          </a:prstGeom>
        </p:spPr>
      </p:pic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212E59B-354C-2441-AEFD-3ABB384BA333}"/>
              </a:ext>
            </a:extLst>
          </p:cNvPr>
          <p:cNvSpPr/>
          <p:nvPr/>
        </p:nvSpPr>
        <p:spPr>
          <a:xfrm>
            <a:off x="6005170" y="2822237"/>
            <a:ext cx="118275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SFS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579D95A-68FD-464A-874A-77BE10AA9623}"/>
              </a:ext>
            </a:extLst>
          </p:cNvPr>
          <p:cNvCxnSpPr>
            <a:cxnSpLocks/>
          </p:cNvCxnSpPr>
          <p:nvPr/>
        </p:nvCxnSpPr>
        <p:spPr>
          <a:xfrm>
            <a:off x="5438632" y="3289375"/>
            <a:ext cx="57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62A3E30-DB26-B94C-991C-7423E2DB8D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4553" y="2773019"/>
            <a:ext cx="546100" cy="4572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F825FB-0B09-2C2E-88E5-3D89A8A04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F090B-4B1E-B2AC-3AE7-4318CA48C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8659300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99E8C0D-06B5-674C-9831-A0364C25E516}"/>
              </a:ext>
            </a:extLst>
          </p:cNvPr>
          <p:cNvSpPr/>
          <p:nvPr/>
        </p:nvSpPr>
        <p:spPr>
          <a:xfrm>
            <a:off x="2542493" y="2618823"/>
            <a:ext cx="118275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SFS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8A2BEA-3E86-7E4D-A358-474FC127FED1}"/>
              </a:ext>
            </a:extLst>
          </p:cNvPr>
          <p:cNvCxnSpPr>
            <a:cxnSpLocks/>
          </p:cNvCxnSpPr>
          <p:nvPr/>
        </p:nvCxnSpPr>
        <p:spPr>
          <a:xfrm>
            <a:off x="1767241" y="3085961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970640B-A9FD-C84B-B072-9D47A3BF3C37}"/>
              </a:ext>
            </a:extLst>
          </p:cNvPr>
          <p:cNvSpPr/>
          <p:nvPr/>
        </p:nvSpPr>
        <p:spPr>
          <a:xfrm>
            <a:off x="7788323" y="2613852"/>
            <a:ext cx="1637022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Diseño</a:t>
            </a:r>
          </a:p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Clasificador</a:t>
            </a: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537607F1-A474-3846-A13D-35C9B8143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539" y="4314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s-ES_tradnl" dirty="0">
                <a:solidFill>
                  <a:schemeClr val="accent6"/>
                </a:solidFill>
              </a:rPr>
              <a:t>Estrategia con PCA y SFS (4/4):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DAA043B-3150-AC46-ABAD-873D6325289A}"/>
              </a:ext>
            </a:extLst>
          </p:cNvPr>
          <p:cNvCxnSpPr>
            <a:cxnSpLocks/>
          </p:cNvCxnSpPr>
          <p:nvPr/>
        </p:nvCxnSpPr>
        <p:spPr>
          <a:xfrm>
            <a:off x="9428563" y="3085267"/>
            <a:ext cx="379437" cy="6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EDC5605F-9064-864E-99BD-15B621F0D113}"/>
              </a:ext>
            </a:extLst>
          </p:cNvPr>
          <p:cNvSpPr/>
          <p:nvPr/>
        </p:nvSpPr>
        <p:spPr>
          <a:xfrm>
            <a:off x="9795646" y="2905471"/>
            <a:ext cx="8114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output</a:t>
            </a:r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D600A33-AF31-014A-B259-26005ECB1876}"/>
              </a:ext>
            </a:extLst>
          </p:cNvPr>
          <p:cNvSpPr/>
          <p:nvPr/>
        </p:nvSpPr>
        <p:spPr>
          <a:xfrm>
            <a:off x="3533093" y="3853892"/>
            <a:ext cx="118275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PCA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D700CE-6BC8-8541-9EE4-B5FE03A55A57}"/>
              </a:ext>
            </a:extLst>
          </p:cNvPr>
          <p:cNvCxnSpPr>
            <a:cxnSpLocks/>
          </p:cNvCxnSpPr>
          <p:nvPr/>
        </p:nvCxnSpPr>
        <p:spPr>
          <a:xfrm>
            <a:off x="7154672" y="3072768"/>
            <a:ext cx="64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09FF33F-3E77-B44C-9795-878F33C07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465" y="2620814"/>
            <a:ext cx="546100" cy="3937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B86F98B-104E-D547-8CA8-2351657E5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464" y="2615569"/>
            <a:ext cx="368300" cy="31750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C5D24E3-9EFB-FF41-89EB-756A3AD1A243}"/>
              </a:ext>
            </a:extLst>
          </p:cNvPr>
          <p:cNvCxnSpPr>
            <a:cxnSpLocks/>
          </p:cNvCxnSpPr>
          <p:nvPr/>
        </p:nvCxnSpPr>
        <p:spPr>
          <a:xfrm>
            <a:off x="3738094" y="3085961"/>
            <a:ext cx="64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AD5EADE-F782-8943-97C1-3F62AFBFE855}"/>
              </a:ext>
            </a:extLst>
          </p:cNvPr>
          <p:cNvSpPr/>
          <p:nvPr/>
        </p:nvSpPr>
        <p:spPr>
          <a:xfrm>
            <a:off x="4368809" y="2605630"/>
            <a:ext cx="113658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Conca-</a:t>
            </a:r>
          </a:p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tenate</a:t>
            </a: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93669766-AD5D-7C4C-B8E6-B58EA0E06CB9}"/>
              </a:ext>
            </a:extLst>
          </p:cNvPr>
          <p:cNvCxnSpPr>
            <a:cxnSpLocks/>
            <a:stCxn id="16" idx="3"/>
            <a:endCxn id="20" idx="2"/>
          </p:cNvCxnSpPr>
          <p:nvPr/>
        </p:nvCxnSpPr>
        <p:spPr>
          <a:xfrm flipV="1">
            <a:off x="4715851" y="3549849"/>
            <a:ext cx="221252" cy="7761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75DDFDA0-8AA6-C346-8B12-20E169ECC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9576" y="4006735"/>
            <a:ext cx="381000" cy="317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19AC76-C8C9-3E4D-9693-4BD6F7655B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9539" y="2580170"/>
            <a:ext cx="546100" cy="355600"/>
          </a:xfrm>
          <a:prstGeom prst="rect">
            <a:avLst/>
          </a:prstGeom>
        </p:spPr>
      </p:pic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212E59B-354C-2441-AEFD-3ABB384BA333}"/>
              </a:ext>
            </a:extLst>
          </p:cNvPr>
          <p:cNvSpPr/>
          <p:nvPr/>
        </p:nvSpPr>
        <p:spPr>
          <a:xfrm>
            <a:off x="6049630" y="2638223"/>
            <a:ext cx="118275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SFS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579D95A-68FD-464A-874A-77BE10AA9623}"/>
              </a:ext>
            </a:extLst>
          </p:cNvPr>
          <p:cNvCxnSpPr>
            <a:cxnSpLocks/>
          </p:cNvCxnSpPr>
          <p:nvPr/>
        </p:nvCxnSpPr>
        <p:spPr>
          <a:xfrm>
            <a:off x="5483092" y="3105361"/>
            <a:ext cx="57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62A3E30-DB26-B94C-991C-7423E2DB8D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13" y="2589005"/>
            <a:ext cx="546100" cy="457200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1EE1B0A-C95C-B993-C2AA-8B4274F86A92}"/>
              </a:ext>
            </a:extLst>
          </p:cNvPr>
          <p:cNvCxnSpPr>
            <a:cxnSpLocks/>
          </p:cNvCxnSpPr>
          <p:nvPr/>
        </p:nvCxnSpPr>
        <p:spPr>
          <a:xfrm rot="5400000">
            <a:off x="3703215" y="3460395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21FB8E-A314-8B01-AE7E-9F86FCAC9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C4E100-6C68-E2F5-A479-02B02AA7E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653115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F09A-B37B-8048-A66C-28F4386B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687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OTRAS TRASNFORMACIONES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089135-1180-7159-1994-46E700269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CA86B-A946-7EBB-5FE8-4342C6550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798907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F09A-B37B-8048-A66C-28F4386B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687638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ICA</a:t>
            </a:r>
            <a:br>
              <a:rPr lang="en-US" dirty="0"/>
            </a:br>
            <a:r>
              <a:rPr lang="en-US" dirty="0"/>
              <a:t>(Independent Component Analysis)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72B776-E5B1-FD8B-E170-846A5423F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F04CA-463C-340B-E1EC-E83A329D6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0391936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1E04693-E42F-AD45-BADA-05C270E21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539" y="4314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s-ES_tradnl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Diferencia de ICA con PCA: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EDAE17-C883-CA4E-9C62-FB65FBF6CA30}"/>
              </a:ext>
            </a:extLst>
          </p:cNvPr>
          <p:cNvSpPr txBox="1"/>
          <p:nvPr/>
        </p:nvSpPr>
        <p:spPr>
          <a:xfrm>
            <a:off x="2676938" y="1510751"/>
            <a:ext cx="810766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PCA elimina correlaciones pero no otro tipo de dependencia.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ICA elimina correlaciones y dependencias de mayor orden.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 PCA se persigue que la covarianza entre las variables transformadas sea 0</a:t>
            </a:r>
          </a:p>
          <a:p>
            <a:pPr lvl="1"/>
            <a:r>
              <a:rPr lang="es-ES_tradnl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</a:p>
          <a:p>
            <a:pPr lvl="1"/>
            <a:r>
              <a:rPr lang="es-ES_tradnl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</a:p>
          <a:p>
            <a:endParaRPr lang="es-ES_trad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 ICA se persigue que la variables sean independientes: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2DAFB6-D6F8-F64C-A52E-22DFC1092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7128" y="3857929"/>
            <a:ext cx="5357743" cy="3314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DAB3E0-9990-6248-8E22-2B022F8FB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319" y="2812855"/>
            <a:ext cx="2181363" cy="36193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DBD5E5-39BF-0830-CBF0-6790EDEEA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2BD5D3-C3CE-ABFE-702B-27BB2724F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775947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1E04693-E42F-AD45-BADA-05C270E21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539" y="4314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s-ES_tradnl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Diferencia de ICA con PCA: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EDAE17-C883-CA4E-9C62-FB65FBF6CA30}"/>
              </a:ext>
            </a:extLst>
          </p:cNvPr>
          <p:cNvSpPr txBox="1"/>
          <p:nvPr/>
        </p:nvSpPr>
        <p:spPr>
          <a:xfrm>
            <a:off x="2676937" y="1510752"/>
            <a:ext cx="43803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 PCA los vectores son ortogonales.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 ICA los vectores no son ortogonales.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F925D2-9D0D-C046-A083-54D4A0196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643" y="2519828"/>
            <a:ext cx="7394715" cy="32592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F84F43-2773-C64E-8824-E5F66FDC0596}"/>
              </a:ext>
            </a:extLst>
          </p:cNvPr>
          <p:cNvSpPr txBox="1"/>
          <p:nvPr/>
        </p:nvSpPr>
        <p:spPr>
          <a:xfrm>
            <a:off x="1683027" y="6569766"/>
            <a:ext cx="59125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© 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http://compneurosci.com/wiki/images/4/42/Intro_to_PCA_and_ICA.pdf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9DEF4A-4129-BDB9-29DF-EDE4AB77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82545A-FE02-B51B-1240-726860C8F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348072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F09A-B37B-8048-A66C-28F4386B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687638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PLSR</a:t>
            </a:r>
            <a:br>
              <a:rPr lang="en-US" dirty="0"/>
            </a:br>
            <a:r>
              <a:rPr lang="en-US" dirty="0"/>
              <a:t>(Partial Least Squares Regression)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79947F-5306-CAD8-237C-34D1495FF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1E4FE9-D70E-5AFF-3C90-BD989CBD2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0408369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1E04693-E42F-AD45-BADA-05C270E21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539" y="4314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s-ES_tradnl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Descomposición PLSR: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10643B-2ED8-354F-B425-C461AEEED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441" y="1958007"/>
            <a:ext cx="2870200" cy="457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7A9F4D-536A-4B42-B9D0-073AA448B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1691" y="2767494"/>
            <a:ext cx="2933700" cy="50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AB1DAA-4F7C-3E45-9C34-37A887075240}"/>
              </a:ext>
            </a:extLst>
          </p:cNvPr>
          <p:cNvSpPr txBox="1"/>
          <p:nvPr/>
        </p:nvSpPr>
        <p:spPr>
          <a:xfrm>
            <a:off x="6215268" y="1958008"/>
            <a:ext cx="440909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s-ES_tradnl" sz="2800" dirty="0"/>
              <a:t>: Matriz de características</a:t>
            </a:r>
          </a:p>
          <a:p>
            <a:endParaRPr lang="es-ES_tradnl" sz="2800" dirty="0"/>
          </a:p>
          <a:p>
            <a:r>
              <a:rPr lang="es-ES_tradn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_tradnl" sz="2800" dirty="0"/>
              <a:t>: Matriz de </a:t>
            </a:r>
            <a:r>
              <a:rPr lang="es-ES_tradnl" sz="2800" dirty="0" err="1"/>
              <a:t>labels</a:t>
            </a:r>
            <a:r>
              <a:rPr lang="es-ES_tradnl" sz="2800" baseline="30000" dirty="0"/>
              <a:t>(*)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5A471F-15A6-ED49-9ECE-2BBA3F2445C4}"/>
              </a:ext>
            </a:extLst>
          </p:cNvPr>
          <p:cNvSpPr/>
          <p:nvPr/>
        </p:nvSpPr>
        <p:spPr>
          <a:xfrm>
            <a:off x="1762539" y="6166439"/>
            <a:ext cx="71661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baseline="30000" dirty="0"/>
              <a:t>(*)</a:t>
            </a:r>
            <a:r>
              <a:rPr lang="es-ES_tradnl" dirty="0"/>
              <a:t> Matriz binaria de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dirty="0"/>
              <a:t> x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_tradnl" dirty="0"/>
              <a:t>,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_tradnl" dirty="0"/>
              <a:t>(</a:t>
            </a:r>
            <a:r>
              <a:rPr lang="es-ES_tradnl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s-ES_tradnl" dirty="0" err="1"/>
              <a:t>,</a:t>
            </a:r>
            <a:r>
              <a:rPr lang="es-ES_tradnl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_tradnl" dirty="0"/>
              <a:t>) = 1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_tradnl" dirty="0"/>
              <a:t>(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s-ES_tradnl" dirty="0"/>
              <a:t>) =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_tradnl" dirty="0"/>
              <a:t>, con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_tradnl" dirty="0"/>
              <a:t> número de clases </a:t>
            </a:r>
            <a:endParaRPr lang="es-ES_tradnl" i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25820C-DE8A-B841-8405-9367E56E22C5}"/>
              </a:ext>
            </a:extLst>
          </p:cNvPr>
          <p:cNvSpPr txBox="1"/>
          <p:nvPr/>
        </p:nvSpPr>
        <p:spPr>
          <a:xfrm>
            <a:off x="2299251" y="3726555"/>
            <a:ext cx="78320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Las descomposiciones de </a:t>
            </a:r>
            <a:r>
              <a:rPr lang="es-ES_tradn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s-ES_tradnl" dirty="0">
                <a:latin typeface="Gill Sans MT" panose="020B0502020104020203" pitchFamily="34" charset="77"/>
              </a:rPr>
              <a:t> e </a:t>
            </a:r>
            <a:r>
              <a:rPr lang="es-ES_tradn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_tradnl" dirty="0">
                <a:latin typeface="Gill Sans MT" panose="020B0502020104020203" pitchFamily="34" charset="77"/>
              </a:rPr>
              <a:t> se hacen con el fin de maximizar la covarianza entre </a:t>
            </a:r>
            <a:r>
              <a:rPr lang="es-ES_tradn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s-ES_tradnl" dirty="0">
                <a:latin typeface="Gill Sans MT" panose="020B0502020104020203" pitchFamily="34" charset="77"/>
              </a:rPr>
              <a:t> y </a:t>
            </a:r>
            <a:r>
              <a:rPr lang="es-ES_tradn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s-ES_tradnl" dirty="0">
                <a:latin typeface="Gill Sans MT" panose="020B0502020104020203" pitchFamily="34" charset="77"/>
              </a:rPr>
              <a:t>.</a:t>
            </a:r>
          </a:p>
          <a:p>
            <a:endParaRPr lang="es-ES_tradnl" dirty="0">
              <a:latin typeface="Gill Sans MT" panose="020B0502020104020203" pitchFamily="34" charset="77"/>
            </a:endParaRPr>
          </a:p>
          <a:p>
            <a:r>
              <a:rPr lang="es-ES_tradnl" dirty="0">
                <a:latin typeface="Gill Sans MT" panose="020B0502020104020203" pitchFamily="34" charset="77"/>
              </a:rPr>
              <a:t>Las matrices </a:t>
            </a:r>
            <a:r>
              <a:rPr lang="es-ES_tradn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s-ES_tradnl" dirty="0">
                <a:latin typeface="Gill Sans MT" panose="020B0502020104020203" pitchFamily="34" charset="77"/>
              </a:rPr>
              <a:t> y </a:t>
            </a:r>
            <a:r>
              <a:rPr lang="es-ES_tradn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s-ES_tradnl" dirty="0">
                <a:latin typeface="Gill Sans MT" panose="020B0502020104020203" pitchFamily="34" charset="77"/>
              </a:rPr>
              <a:t> son ortogonales. Las matrices </a:t>
            </a:r>
            <a:r>
              <a:rPr lang="es-ES_tradn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s-ES_tradnl" dirty="0">
                <a:latin typeface="Gill Sans MT" panose="020B0502020104020203" pitchFamily="34" charset="77"/>
              </a:rPr>
              <a:t> y </a:t>
            </a:r>
            <a:r>
              <a:rPr lang="es-ES_tradn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s-ES_tradnl" dirty="0">
                <a:latin typeface="Gill Sans MT" panose="020B0502020104020203" pitchFamily="34" charset="77"/>
              </a:rPr>
              <a:t> corresponden al error.</a:t>
            </a:r>
          </a:p>
          <a:p>
            <a:endParaRPr lang="es-ES_tradnl" dirty="0">
              <a:latin typeface="Gill Sans MT" panose="020B0502020104020203" pitchFamily="34" charset="77"/>
            </a:endParaRPr>
          </a:p>
          <a:p>
            <a:r>
              <a:rPr lang="es-ES_tradnl" dirty="0">
                <a:latin typeface="Gill Sans MT" panose="020B0502020104020203" pitchFamily="34" charset="77"/>
              </a:rPr>
              <a:t>La idea es buscar </a:t>
            </a:r>
            <a:r>
              <a:rPr lang="es-ES_tradn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s-ES_tradnl" dirty="0">
                <a:latin typeface="Gill Sans MT" panose="020B0502020104020203" pitchFamily="34" charset="77"/>
              </a:rPr>
              <a:t>, que es la transformada de </a:t>
            </a:r>
            <a:r>
              <a:rPr lang="es-ES_tradn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s-ES_tradnl" dirty="0"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6D6BE-F68A-683B-332A-8F00AA1D1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PR03B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3BBF5-FDB8-CB41-703F-7B096CCB1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05345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1335</TotalTime>
  <Words>1481</Words>
  <Application>Microsoft Macintosh PowerPoint</Application>
  <PresentationFormat>Widescreen</PresentationFormat>
  <Paragraphs>383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Arial</vt:lpstr>
      <vt:lpstr>Courier</vt:lpstr>
      <vt:lpstr>Gill Sans MT</vt:lpstr>
      <vt:lpstr>Times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TRANSFORMACIÓN KARHUNEN-LOEVE (PCA) (1947)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SIGNIFICADO</vt:lpstr>
      <vt:lpstr>PowerPoint Presentation</vt:lpstr>
      <vt:lpstr>PowerPoint Presentation</vt:lpstr>
      <vt:lpstr>PowerPoint Presentation</vt:lpstr>
      <vt:lpstr>SIGNIFICADO EN LA TRANSFORMACIÓN DE CARACTERÍSTICAS</vt:lpstr>
      <vt:lpstr>PowerPoint Presentation</vt:lpstr>
      <vt:lpstr>PowerPoint Presentation</vt:lpstr>
      <vt:lpstr>Significado de PCA:</vt:lpstr>
      <vt:lpstr>APLICACIÓN A  RECONOCIMIENTO DE PATRONES</vt:lpstr>
      <vt:lpstr>Estrategia con PCA:</vt:lpstr>
      <vt:lpstr>Training</vt:lpstr>
      <vt:lpstr>Training / Testing</vt:lpstr>
      <vt:lpstr>Training / Testing</vt:lpstr>
      <vt:lpstr>Ventajas de PCA:</vt:lpstr>
      <vt:lpstr>Reconstrucción con PCA:</vt:lpstr>
      <vt:lpstr>Reconstrucción con PCA:</vt:lpstr>
      <vt:lpstr>Desventajas de PCA:</vt:lpstr>
      <vt:lpstr>ALTERNATIVAS</vt:lpstr>
      <vt:lpstr>Estrategia con PCA (original):</vt:lpstr>
      <vt:lpstr>Estrategia con PCA y SFS (1/4):</vt:lpstr>
      <vt:lpstr>Estrategia con PCA y SFS (2/4):</vt:lpstr>
      <vt:lpstr>Estrategia con PCA y SFS (3/4):</vt:lpstr>
      <vt:lpstr>Estrategia con PCA y SFS (4/4):</vt:lpstr>
      <vt:lpstr>OTRAS TRASNFORMACIONES</vt:lpstr>
      <vt:lpstr>ICA (Independent Component Analysis)</vt:lpstr>
      <vt:lpstr>Diferencia de ICA con PCA:</vt:lpstr>
      <vt:lpstr>Diferencia de ICA con PCA:</vt:lpstr>
      <vt:lpstr>PLSR (Partial Least Squares Regression)</vt:lpstr>
      <vt:lpstr>Descomposición PLSR: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Domingo Mery</dc:creator>
  <cp:lastModifiedBy>Domingo Mery</cp:lastModifiedBy>
  <cp:revision>40</cp:revision>
  <dcterms:created xsi:type="dcterms:W3CDTF">2026-03-08T16:41:49Z</dcterms:created>
  <dcterms:modified xsi:type="dcterms:W3CDTF">2026-10-08T10:41:24Z</dcterms:modified>
</cp:coreProperties>
</file>