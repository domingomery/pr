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7" r:id="rId2"/>
    <p:sldId id="357" r:id="rId3"/>
    <p:sldId id="358" r:id="rId4"/>
    <p:sldId id="353" r:id="rId5"/>
    <p:sldId id="356" r:id="rId6"/>
    <p:sldId id="351" r:id="rId7"/>
    <p:sldId id="355" r:id="rId8"/>
    <p:sldId id="324" r:id="rId9"/>
    <p:sldId id="323" r:id="rId10"/>
    <p:sldId id="325" r:id="rId11"/>
    <p:sldId id="326" r:id="rId12"/>
    <p:sldId id="327" r:id="rId13"/>
    <p:sldId id="1556" r:id="rId14"/>
    <p:sldId id="350" r:id="rId15"/>
    <p:sldId id="349" r:id="rId16"/>
    <p:sldId id="359" r:id="rId17"/>
    <p:sldId id="303" r:id="rId18"/>
    <p:sldId id="282" r:id="rId19"/>
    <p:sldId id="307" r:id="rId20"/>
    <p:sldId id="316" r:id="rId21"/>
    <p:sldId id="317" r:id="rId22"/>
    <p:sldId id="1555" r:id="rId23"/>
    <p:sldId id="309" r:id="rId24"/>
    <p:sldId id="310" r:id="rId25"/>
    <p:sldId id="328" r:id="rId26"/>
    <p:sldId id="311" r:id="rId27"/>
    <p:sldId id="313" r:id="rId28"/>
    <p:sldId id="314" r:id="rId29"/>
    <p:sldId id="329" r:id="rId30"/>
    <p:sldId id="330" r:id="rId31"/>
    <p:sldId id="305" r:id="rId32"/>
    <p:sldId id="319" r:id="rId33"/>
    <p:sldId id="318" r:id="rId34"/>
    <p:sldId id="320" r:id="rId35"/>
    <p:sldId id="308" r:id="rId36"/>
    <p:sldId id="360" r:id="rId37"/>
    <p:sldId id="331" r:id="rId38"/>
    <p:sldId id="306" r:id="rId39"/>
    <p:sldId id="334" r:id="rId40"/>
    <p:sldId id="332" r:id="rId41"/>
    <p:sldId id="361" r:id="rId42"/>
    <p:sldId id="302" r:id="rId43"/>
    <p:sldId id="346" r:id="rId44"/>
    <p:sldId id="347" r:id="rId45"/>
    <p:sldId id="348" r:id="rId46"/>
    <p:sldId id="335" r:id="rId47"/>
    <p:sldId id="336" r:id="rId48"/>
    <p:sldId id="337" r:id="rId49"/>
    <p:sldId id="339" r:id="rId50"/>
    <p:sldId id="338" r:id="rId51"/>
    <p:sldId id="340" r:id="rId52"/>
    <p:sldId id="343" r:id="rId53"/>
    <p:sldId id="344" r:id="rId54"/>
    <p:sldId id="341" r:id="rId55"/>
    <p:sldId id="362" r:id="rId56"/>
    <p:sldId id="1554" r:id="rId57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4675"/>
  </p:normalViewPr>
  <p:slideViewPr>
    <p:cSldViewPr snapToGrid="0">
      <p:cViewPr varScale="1">
        <p:scale>
          <a:sx n="119" d="100"/>
          <a:sy n="119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18-10-26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k=2, </a:t>
            </a:r>
            <a:r>
              <a:rPr lang="en-US" dirty="0" err="1"/>
              <a:t>ak</a:t>
            </a:r>
            <a:r>
              <a:rPr lang="en-US" dirty="0"/>
              <a:t>, </a:t>
            </a:r>
            <a:r>
              <a:rPr lang="en-US" dirty="0" err="1"/>
              <a:t>zk</a:t>
            </a:r>
            <a:r>
              <a:rPr lang="en-US" dirty="0"/>
              <a:t> y bk  </a:t>
            </a:r>
            <a:r>
              <a:rPr lang="en-US" dirty="0" err="1"/>
              <a:t>tienen</a:t>
            </a:r>
            <a:r>
              <a:rPr lang="en-US" dirty="0"/>
              <a:t> 4 </a:t>
            </a:r>
            <a:r>
              <a:rPr lang="en-US" dirty="0" err="1"/>
              <a:t>elementos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ak-1, o sea a1 </a:t>
            </a:r>
            <a:r>
              <a:rPr lang="en-US" dirty="0" err="1"/>
              <a:t>tiene</a:t>
            </a:r>
            <a:r>
              <a:rPr lang="en-US" dirty="0"/>
              <a:t> 9 </a:t>
            </a:r>
            <a:r>
              <a:rPr lang="en-US" dirty="0" err="1"/>
              <a:t>elementos</a:t>
            </a:r>
            <a:r>
              <a:rPr lang="en-US" dirty="0"/>
              <a:t>, </a:t>
            </a:r>
            <a:r>
              <a:rPr lang="en-US" dirty="0" err="1"/>
              <a:t>Wk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4 x 9 </a:t>
            </a:r>
            <a:r>
              <a:rPr lang="en-US" dirty="0" err="1"/>
              <a:t>elementos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4EAAF-F758-EE40-B73F-3230427CD9A9}" type="slidenum">
              <a:rPr lang="es-ES" smtClean="0"/>
              <a:pPr/>
              <a:t>39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50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50-50 Left Photo Layou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 flipH="1">
            <a:off x="-1" y="0"/>
            <a:ext cx="6094444" cy="6856100"/>
          </a:xfrm>
          <a:blipFill>
            <a:blip r:embed="rId2"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176" b="0" i="0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6094444" y="3425621"/>
            <a:ext cx="6097555" cy="2754087"/>
          </a:xfrm>
        </p:spPr>
        <p:txBody>
          <a:bodyPr anchor="t" anchorCtr="0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2250"/>
              </a:spcAft>
              <a:buNone/>
              <a:defRPr lang="en-US" sz="2700" b="0" i="0" kern="1200" spc="0" baseline="0" dirty="0">
                <a:gradFill>
                  <a:gsLst>
                    <a:gs pos="0">
                      <a:schemeClr val="tx2"/>
                    </a:gs>
                    <a:gs pos="100000">
                      <a:schemeClr val="tx2"/>
                    </a:gs>
                  </a:gsLst>
                  <a:lin ang="54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algn="ctr">
              <a:defRPr sz="2100"/>
            </a:lvl2pPr>
            <a:lvl3pPr algn="ctr">
              <a:defRPr lang="en-US" sz="18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  <a:ea typeface="+mn-ea"/>
                <a:cs typeface="+mn-cs"/>
              </a:defRPr>
            </a:lvl3pPr>
            <a:lvl4pPr algn="ctr">
              <a:defRPr sz="1500" b="1"/>
            </a:lvl4pPr>
            <a:lvl5pPr algn="ctr"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094443" y="1554163"/>
            <a:ext cx="6097556" cy="535531"/>
          </a:xfrm>
        </p:spPr>
        <p:txBody>
          <a:bodyPr/>
          <a:lstStyle>
            <a:lvl1pPr algn="ctr">
              <a:defRPr sz="2700" b="0">
                <a:latin typeface="+mj-lt"/>
              </a:defRPr>
            </a:lvl1pPr>
            <a:lvl2pPr algn="ctr">
              <a:defRPr lang="en-US" sz="24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+mn-cs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8" hasCustomPrompt="1"/>
          </p:nvPr>
        </p:nvSpPr>
        <p:spPr>
          <a:xfrm>
            <a:off x="7743349" y="419100"/>
            <a:ext cx="2377440" cy="840230"/>
          </a:xfrm>
        </p:spPr>
        <p:txBody>
          <a:bodyPr lIns="146304" rIns="146304"/>
          <a:lstStyle>
            <a:lvl1pPr marL="0" algn="ctr" defTabSz="685800" rtl="0" eaLnBrk="1" latinLnBrk="0" hangingPunct="1">
              <a:defRPr lang="en-US" sz="4050" kern="1200" dirty="0">
                <a:solidFill>
                  <a:schemeClr val="accent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  <a:lvl2pPr algn="ctr">
              <a:defRPr sz="1650">
                <a:solidFill>
                  <a:schemeClr val="tx1">
                    <a:lumMod val="75000"/>
                    <a:lumOff val="25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algn="ctr">
              <a:defRPr sz="1350"/>
            </a:lvl3pPr>
            <a:lvl4pPr algn="ctr">
              <a:defRPr sz="1350">
                <a:latin typeface="+mn-lt"/>
              </a:defRPr>
            </a:lvl4pPr>
            <a:lvl5pPr algn="ctr"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668594" y="6484939"/>
            <a:ext cx="523407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4997E989-D798-4C62-8E93-3D2D613C24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76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PR04B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domingomery.ing.uc.cl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png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9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0.emf"/><Relationship Id="rId4" Type="http://schemas.openxmlformats.org/officeDocument/2006/relationships/image" Target="../media/image9.emf"/><Relationship Id="rId9" Type="http://schemas.openxmlformats.org/officeDocument/2006/relationships/image" Target="../media/image15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25.emf"/><Relationship Id="rId3" Type="http://schemas.openxmlformats.org/officeDocument/2006/relationships/image" Target="../media/image8.emf"/><Relationship Id="rId7" Type="http://schemas.openxmlformats.org/officeDocument/2006/relationships/image" Target="../media/image14.emf"/><Relationship Id="rId12" Type="http://schemas.openxmlformats.org/officeDocument/2006/relationships/image" Target="../media/image24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11" Type="http://schemas.openxmlformats.org/officeDocument/2006/relationships/image" Target="../media/image23.emf"/><Relationship Id="rId5" Type="http://schemas.openxmlformats.org/officeDocument/2006/relationships/image" Target="../media/image10.emf"/><Relationship Id="rId10" Type="http://schemas.openxmlformats.org/officeDocument/2006/relationships/image" Target="../media/image22.emf"/><Relationship Id="rId4" Type="http://schemas.openxmlformats.org/officeDocument/2006/relationships/image" Target="../media/image9.emf"/><Relationship Id="rId9" Type="http://schemas.openxmlformats.org/officeDocument/2006/relationships/image" Target="../media/image15.emf"/><Relationship Id="rId14" Type="http://schemas.openxmlformats.org/officeDocument/2006/relationships/image" Target="../media/image26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15.emf"/><Relationship Id="rId7" Type="http://schemas.openxmlformats.org/officeDocument/2006/relationships/image" Target="../media/image46.e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11" Type="http://schemas.openxmlformats.org/officeDocument/2006/relationships/image" Target="../media/image47.emf"/><Relationship Id="rId5" Type="http://schemas.openxmlformats.org/officeDocument/2006/relationships/image" Target="../media/image45.emf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image" Target="../media/image9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emf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11" Type="http://schemas.openxmlformats.org/officeDocument/2006/relationships/image" Target="../media/image56.emf"/><Relationship Id="rId5" Type="http://schemas.openxmlformats.org/officeDocument/2006/relationships/image" Target="../media/image50.emf"/><Relationship Id="rId10" Type="http://schemas.openxmlformats.org/officeDocument/2006/relationships/image" Target="../media/image55.png"/><Relationship Id="rId4" Type="http://schemas.openxmlformats.org/officeDocument/2006/relationships/image" Target="../media/image49.emf"/><Relationship Id="rId9" Type="http://schemas.openxmlformats.org/officeDocument/2006/relationships/image" Target="../media/image54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13" Type="http://schemas.openxmlformats.org/officeDocument/2006/relationships/image" Target="../media/image48.emf"/><Relationship Id="rId3" Type="http://schemas.openxmlformats.org/officeDocument/2006/relationships/image" Target="../media/image58.emf"/><Relationship Id="rId7" Type="http://schemas.openxmlformats.org/officeDocument/2006/relationships/image" Target="../media/image62.emf"/><Relationship Id="rId12" Type="http://schemas.openxmlformats.org/officeDocument/2006/relationships/image" Target="../media/image67.emf"/><Relationship Id="rId2" Type="http://schemas.openxmlformats.org/officeDocument/2006/relationships/image" Target="../media/image2.png"/><Relationship Id="rId16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11" Type="http://schemas.openxmlformats.org/officeDocument/2006/relationships/image" Target="../media/image66.emf"/><Relationship Id="rId5" Type="http://schemas.openxmlformats.org/officeDocument/2006/relationships/image" Target="../media/image60.emf"/><Relationship Id="rId15" Type="http://schemas.openxmlformats.org/officeDocument/2006/relationships/image" Target="../media/image50.emf"/><Relationship Id="rId10" Type="http://schemas.openxmlformats.org/officeDocument/2006/relationships/image" Target="../media/image65.emf"/><Relationship Id="rId4" Type="http://schemas.openxmlformats.org/officeDocument/2006/relationships/image" Target="../media/image59.emf"/><Relationship Id="rId9" Type="http://schemas.openxmlformats.org/officeDocument/2006/relationships/image" Target="../media/image64.emf"/><Relationship Id="rId14" Type="http://schemas.openxmlformats.org/officeDocument/2006/relationships/image" Target="../media/image49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13" Type="http://schemas.openxmlformats.org/officeDocument/2006/relationships/image" Target="../media/image60.emf"/><Relationship Id="rId3" Type="http://schemas.openxmlformats.org/officeDocument/2006/relationships/image" Target="../media/image2.png"/><Relationship Id="rId7" Type="http://schemas.openxmlformats.org/officeDocument/2006/relationships/image" Target="../media/image48.emf"/><Relationship Id="rId12" Type="http://schemas.openxmlformats.org/officeDocument/2006/relationships/image" Target="../media/image5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emf"/><Relationship Id="rId11" Type="http://schemas.openxmlformats.org/officeDocument/2006/relationships/image" Target="../media/image58.emf"/><Relationship Id="rId5" Type="http://schemas.openxmlformats.org/officeDocument/2006/relationships/image" Target="../media/image69.png"/><Relationship Id="rId10" Type="http://schemas.openxmlformats.org/officeDocument/2006/relationships/image" Target="../media/image51.emf"/><Relationship Id="rId4" Type="http://schemas.openxmlformats.org/officeDocument/2006/relationships/image" Target="../media/image68.png"/><Relationship Id="rId9" Type="http://schemas.openxmlformats.org/officeDocument/2006/relationships/image" Target="../media/image50.emf"/><Relationship Id="rId14" Type="http://schemas.openxmlformats.org/officeDocument/2006/relationships/image" Target="../media/image61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72.emf"/><Relationship Id="rId7" Type="http://schemas.openxmlformats.org/officeDocument/2006/relationships/image" Target="../media/image68.png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emf"/><Relationship Id="rId11" Type="http://schemas.openxmlformats.org/officeDocument/2006/relationships/image" Target="../media/image78.emf"/><Relationship Id="rId5" Type="http://schemas.openxmlformats.org/officeDocument/2006/relationships/image" Target="../media/image74.emf"/><Relationship Id="rId10" Type="http://schemas.openxmlformats.org/officeDocument/2006/relationships/image" Target="../media/image77.png"/><Relationship Id="rId4" Type="http://schemas.openxmlformats.org/officeDocument/2006/relationships/image" Target="../media/image73.emf"/><Relationship Id="rId9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png"/><Relationship Id="rId7" Type="http://schemas.openxmlformats.org/officeDocument/2006/relationships/image" Target="../media/image88.emf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90.emf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emf"/><Relationship Id="rId3" Type="http://schemas.openxmlformats.org/officeDocument/2006/relationships/image" Target="../media/image84.png"/><Relationship Id="rId7" Type="http://schemas.openxmlformats.org/officeDocument/2006/relationships/image" Target="../media/image90.emf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emf"/><Relationship Id="rId4" Type="http://schemas.openxmlformats.org/officeDocument/2006/relationships/image" Target="../media/image85.emf"/><Relationship Id="rId9" Type="http://schemas.openxmlformats.org/officeDocument/2006/relationships/image" Target="../media/image89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emf"/><Relationship Id="rId5" Type="http://schemas.openxmlformats.org/officeDocument/2006/relationships/image" Target="../media/image96.emf"/><Relationship Id="rId4" Type="http://schemas.openxmlformats.org/officeDocument/2006/relationships/image" Target="../media/image9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image" Target="../media/image72.emf"/><Relationship Id="rId7" Type="http://schemas.openxmlformats.org/officeDocument/2006/relationships/image" Target="../media/image111.emf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emf"/><Relationship Id="rId5" Type="http://schemas.openxmlformats.org/officeDocument/2006/relationships/image" Target="../media/image74.emf"/><Relationship Id="rId10" Type="http://schemas.openxmlformats.org/officeDocument/2006/relationships/image" Target="../media/image113.emf"/><Relationship Id="rId4" Type="http://schemas.openxmlformats.org/officeDocument/2006/relationships/image" Target="../media/image73.emf"/><Relationship Id="rId9" Type="http://schemas.openxmlformats.org/officeDocument/2006/relationships/image" Target="../media/image112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590E4-A7FB-782D-BEFE-4C1091D54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540" y="2699133"/>
            <a:ext cx="6942642" cy="42255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3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437530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Redes Neuronales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 CAPÍTULO 4 – PR.04.B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8B663-0E62-F2E5-A5DB-E3D0FC77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D7B3B-A3FA-7FDE-2FEE-35DE14183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L" dirty="0">
                <a:latin typeface="Gill Sans MT" panose="020B0502020104020203" pitchFamily="34" charset="77"/>
              </a:rPr>
              <a:t>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79BEA-38A0-9481-5C26-82E6E8C35570}"/>
              </a:ext>
            </a:extLst>
          </p:cNvPr>
          <p:cNvSpPr txBox="1"/>
          <p:nvPr/>
        </p:nvSpPr>
        <p:spPr>
          <a:xfrm>
            <a:off x="705079" y="3105834"/>
            <a:ext cx="80847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600" dirty="0">
                <a:latin typeface="Gill Sans MT" panose="020B0502020104020203" pitchFamily="34" charset="77"/>
              </a:rPr>
              <a:t>Dos entradas, una salida, una función lineal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B61EF-F0F4-73BC-C026-C265AE16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67109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L" dirty="0">
                <a:latin typeface="Gill Sans MT" panose="020B0502020104020203" pitchFamily="34" charset="77"/>
              </a:rPr>
              <a:t>INTRODUCCIÓN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1FC7D-98BB-709B-B057-50026CE2EEF6}"/>
              </a:ext>
            </a:extLst>
          </p:cNvPr>
          <p:cNvSpPr txBox="1"/>
          <p:nvPr/>
        </p:nvSpPr>
        <p:spPr>
          <a:xfrm>
            <a:off x="705079" y="3105834"/>
            <a:ext cx="11119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600" dirty="0">
                <a:latin typeface="Gill Sans MT" panose="020B0502020104020203" pitchFamily="34" charset="77"/>
              </a:rPr>
              <a:t>Dos entradas, una salida, una función lineal y una no-lineal..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4797D-BD80-75A9-074C-E910F9DF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3095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468D85-0723-BF4D-5CD7-4DEF49D6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A2798D-F730-12E0-9548-37CDA794D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116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4D2A433-C0BC-9DC7-170D-F1BD8A159B4D}"/>
              </a:ext>
            </a:extLst>
          </p:cNvPr>
          <p:cNvGrpSpPr/>
          <p:nvPr/>
        </p:nvGrpSpPr>
        <p:grpSpPr>
          <a:xfrm>
            <a:off x="1859907" y="2726249"/>
            <a:ext cx="1381285" cy="1536845"/>
            <a:chOff x="335906" y="2726248"/>
            <a:chExt cx="1381285" cy="153684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47ED1AC-7170-A665-1AAA-46A25FAB8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906" y="3471085"/>
              <a:ext cx="557137" cy="163299"/>
            </a:xfrm>
            <a:prstGeom prst="rect">
              <a:avLst/>
            </a:prstGeom>
          </p:spPr>
        </p:pic>
        <p:sp>
          <p:nvSpPr>
            <p:cNvPr id="3" name="Left Bracket 2">
              <a:extLst>
                <a:ext uri="{FF2B5EF4-FFF2-40B4-BE49-F238E27FC236}">
                  <a16:creationId xmlns:a16="http://schemas.microsoft.com/office/drawing/2014/main" id="{78559631-B6EE-7C83-E5D7-133FA6BA95A2}"/>
                </a:ext>
              </a:extLst>
            </p:cNvPr>
            <p:cNvSpPr/>
            <p:nvPr/>
          </p:nvSpPr>
          <p:spPr>
            <a:xfrm>
              <a:off x="1177156" y="2726248"/>
              <a:ext cx="147144" cy="1530442"/>
            </a:xfrm>
            <a:prstGeom prst="leftBracket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  <p:sp>
          <p:nvSpPr>
            <p:cNvPr id="4" name="Left Bracket 3">
              <a:extLst>
                <a:ext uri="{FF2B5EF4-FFF2-40B4-BE49-F238E27FC236}">
                  <a16:creationId xmlns:a16="http://schemas.microsoft.com/office/drawing/2014/main" id="{3F7F5363-71DE-21EF-228E-5B4CB8EB9EB3}"/>
                </a:ext>
              </a:extLst>
            </p:cNvPr>
            <p:cNvSpPr/>
            <p:nvPr/>
          </p:nvSpPr>
          <p:spPr>
            <a:xfrm rot="10800000">
              <a:off x="1570047" y="2732651"/>
              <a:ext cx="147144" cy="1530442"/>
            </a:xfrm>
            <a:prstGeom prst="leftBracket">
              <a:avLst/>
            </a:prstGeom>
            <a:ln w="952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06C4720-E15F-7E45-D81A-015EA0D2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2141E-80A9-6CD4-BBA7-A7448AABF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49623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2448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40783" y="3775083"/>
            <a:ext cx="762000" cy="625164"/>
            <a:chOff x="4016783" y="3775083"/>
            <a:chExt cx="762000" cy="62516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16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1E135B9-F5ED-AF45-91A8-17FC2C4222E8}"/>
              </a:ext>
            </a:extLst>
          </p:cNvPr>
          <p:cNvSpPr txBox="1"/>
          <p:nvPr/>
        </p:nvSpPr>
        <p:spPr>
          <a:xfrm>
            <a:off x="5042494" y="5867266"/>
            <a:ext cx="1053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NO-LINEAL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CD818-2C9B-F529-307E-90EDA536D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84793-94C5-D0CC-E8A4-C2856064DC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569443" y="2347195"/>
            <a:ext cx="1085882" cy="271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2A41C7-0251-B8A1-7F9F-E2537B249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E83D48-4993-7601-0867-6492722470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C046F2-8CF4-B0BD-8AFD-EA0A303F0DCC}"/>
              </a:ext>
            </a:extLst>
          </p:cNvPr>
          <p:cNvSpPr txBox="1"/>
          <p:nvPr/>
        </p:nvSpPr>
        <p:spPr>
          <a:xfrm>
            <a:off x="9179235" y="4959043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LINEAL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2CA03F0-0D24-B3DA-4096-515890256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9CCB0B6-F097-7BA9-12A2-64001349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9357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2448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40783" y="3775083"/>
            <a:ext cx="762000" cy="625164"/>
            <a:chOff x="4016783" y="3775083"/>
            <a:chExt cx="762000" cy="62516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16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747004" y="218913"/>
            <a:ext cx="3813651" cy="2754789"/>
            <a:chOff x="5223003" y="218912"/>
            <a:chExt cx="3813651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5223003" y="218912"/>
              <a:ext cx="3813651" cy="2754789"/>
              <a:chOff x="5223003" y="218912"/>
              <a:chExt cx="3813651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stCxn id="55" idx="0"/>
                <a:endCxn id="45" idx="0"/>
              </p:cNvCxnSpPr>
              <p:nvPr/>
            </p:nvCxnSpPr>
            <p:spPr>
              <a:xfrm rot="5400000" flipH="1" flipV="1">
                <a:off x="5548187" y="236517"/>
                <a:ext cx="1957283" cy="2607652"/>
              </a:xfrm>
              <a:prstGeom prst="bentConnector3">
                <a:avLst>
                  <a:gd name="adj1" fmla="val 111679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2052" y="2518984"/>
            <a:ext cx="469900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CD818-2C9B-F529-307E-90EDA536D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84793-94C5-D0CC-E8A4-C2856064DC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569443" y="2347195"/>
            <a:ext cx="1085882" cy="271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2A41C7-0251-B8A1-7F9F-E2537B249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AE2BE45-DE13-9045-BFD1-F0102FDD2F3C}"/>
              </a:ext>
            </a:extLst>
          </p:cNvPr>
          <p:cNvSpPr txBox="1"/>
          <p:nvPr/>
        </p:nvSpPr>
        <p:spPr>
          <a:xfrm>
            <a:off x="6040951" y="3189513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600" dirty="0">
                <a:latin typeface="Gill Sans MT" panose="020B0502020104020203" pitchFamily="34" charset="77"/>
              </a:rPr>
              <a:t>+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DA7F4-2BD3-6251-F2BE-3CDE6950AAAB}"/>
              </a:ext>
            </a:extLst>
          </p:cNvPr>
          <p:cNvSpPr/>
          <p:nvPr/>
        </p:nvSpPr>
        <p:spPr>
          <a:xfrm>
            <a:off x="6950440" y="3299567"/>
            <a:ext cx="634063" cy="45694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pic>
        <p:nvPicPr>
          <p:cNvPr id="22" name="Picture 21" descr="A black letter z on a white background&#10;&#10;Description automatically generated">
            <a:extLst>
              <a:ext uri="{FF2B5EF4-FFF2-40B4-BE49-F238E27FC236}">
                <a16:creationId xmlns:a16="http://schemas.microsoft.com/office/drawing/2014/main" id="{F5F4E8E6-3B49-B1BB-2A10-F20E8C575F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0340" y="3246313"/>
            <a:ext cx="180697" cy="224064"/>
          </a:xfrm>
          <a:prstGeom prst="rect">
            <a:avLst/>
          </a:prstGeom>
        </p:spPr>
      </p:pic>
      <p:pic>
        <p:nvPicPr>
          <p:cNvPr id="24" name="Picture 23" descr="A black text with a white background&#10;&#10;Description automatically generated">
            <a:extLst>
              <a:ext uri="{FF2B5EF4-FFF2-40B4-BE49-F238E27FC236}">
                <a16:creationId xmlns:a16="http://schemas.microsoft.com/office/drawing/2014/main" id="{F3105D4F-DC15-E2F5-17A8-D81E10F2DFE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2372" y="3309238"/>
            <a:ext cx="543333" cy="433092"/>
          </a:xfrm>
          <a:prstGeom prst="rect">
            <a:avLst/>
          </a:prstGeom>
        </p:spPr>
      </p:pic>
      <p:sp>
        <p:nvSpPr>
          <p:cNvPr id="34" name="Triangle 33">
            <a:extLst>
              <a:ext uri="{FF2B5EF4-FFF2-40B4-BE49-F238E27FC236}">
                <a16:creationId xmlns:a16="http://schemas.microsoft.com/office/drawing/2014/main" id="{96506236-6921-8288-5248-FD91ED6767AF}"/>
              </a:ext>
            </a:extLst>
          </p:cNvPr>
          <p:cNvSpPr/>
          <p:nvPr/>
        </p:nvSpPr>
        <p:spPr>
          <a:xfrm rot="5400000">
            <a:off x="6869829" y="3470188"/>
            <a:ext cx="69136" cy="78351"/>
          </a:xfrm>
          <a:prstGeom prst="triangle">
            <a:avLst/>
          </a:prstGeom>
          <a:solidFill>
            <a:srgbClr val="0000FF"/>
          </a:solidFill>
          <a:ln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903039C2-D225-AE73-4A11-9B69638C68FC}"/>
              </a:ext>
            </a:extLst>
          </p:cNvPr>
          <p:cNvSpPr/>
          <p:nvPr/>
        </p:nvSpPr>
        <p:spPr>
          <a:xfrm rot="5400000">
            <a:off x="6595502" y="2036314"/>
            <a:ext cx="361543" cy="1916495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AB63369-9A34-6709-9BA5-03DA08B4A186}"/>
              </a:ext>
            </a:extLst>
          </p:cNvPr>
          <p:cNvSpPr/>
          <p:nvPr/>
        </p:nvSpPr>
        <p:spPr>
          <a:xfrm>
            <a:off x="5562732" y="2292595"/>
            <a:ext cx="2412000" cy="241200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5-point Star 37">
            <a:extLst>
              <a:ext uri="{FF2B5EF4-FFF2-40B4-BE49-F238E27FC236}">
                <a16:creationId xmlns:a16="http://schemas.microsoft.com/office/drawing/2014/main" id="{AFEF9188-8730-AE41-683E-DADCAB15E8CD}"/>
              </a:ext>
            </a:extLst>
          </p:cNvPr>
          <p:cNvSpPr/>
          <p:nvPr/>
        </p:nvSpPr>
        <p:spPr>
          <a:xfrm>
            <a:off x="5759694" y="2250114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89ED92-EAC9-972F-8D6E-6637010FAAD7}"/>
              </a:ext>
            </a:extLst>
          </p:cNvPr>
          <p:cNvSpPr txBox="1"/>
          <p:nvPr/>
        </p:nvSpPr>
        <p:spPr>
          <a:xfrm>
            <a:off x="5042494" y="5867266"/>
            <a:ext cx="1053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NO-LINEAL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1F638-67CE-6C26-BE81-563E9D553BAF}"/>
              </a:ext>
            </a:extLst>
          </p:cNvPr>
          <p:cNvSpPr txBox="1"/>
          <p:nvPr/>
        </p:nvSpPr>
        <p:spPr>
          <a:xfrm>
            <a:off x="9179235" y="4959043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LINEAL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BFA18A9-9990-83E3-4D11-C774939A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A2C677F-CF04-DAFA-1E40-6D3966E46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18315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AE48619-459B-3B4C-A7F6-28A75B731A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27885" y="1019331"/>
            <a:ext cx="8571452" cy="49680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9093B11-A519-924F-906A-AAFCE0155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05" y="358929"/>
            <a:ext cx="2019300" cy="6604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FA673-2776-FB48-9FFD-BA0F48011940}"/>
              </a:ext>
            </a:extLst>
          </p:cNvPr>
          <p:cNvGrpSpPr/>
          <p:nvPr/>
        </p:nvGrpSpPr>
        <p:grpSpPr>
          <a:xfrm>
            <a:off x="1688875" y="2315920"/>
            <a:ext cx="5468772" cy="3624469"/>
            <a:chOff x="164875" y="2315919"/>
            <a:chExt cx="5468772" cy="3624469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73819B-F2C3-B44B-B768-F51EF90790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4527" y="2495338"/>
              <a:ext cx="0" cy="30287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0CC40B-2E36-F147-9521-9EA1D8514F41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 flipV="1">
              <a:off x="900974" y="2482297"/>
              <a:ext cx="4461268" cy="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09021F-FBFA-2D44-8536-07791BC1E3AD}"/>
                </a:ext>
              </a:extLst>
            </p:cNvPr>
            <p:cNvSpPr txBox="1"/>
            <p:nvPr/>
          </p:nvSpPr>
          <p:spPr>
            <a:xfrm>
              <a:off x="5035406" y="5571056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0.9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6BF7FC3-55E3-5C47-8757-DE494890C43F}"/>
                </a:ext>
              </a:extLst>
            </p:cNvPr>
            <p:cNvSpPr txBox="1"/>
            <p:nvPr/>
          </p:nvSpPr>
          <p:spPr>
            <a:xfrm>
              <a:off x="164875" y="2315919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0.71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220CBDC-4C28-964D-9703-6E5B3C6AC861}"/>
              </a:ext>
            </a:extLst>
          </p:cNvPr>
          <p:cNvSpPr txBox="1"/>
          <p:nvPr/>
        </p:nvSpPr>
        <p:spPr>
          <a:xfrm>
            <a:off x="1827885" y="408999"/>
            <a:ext cx="159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SIGMOIDE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F4D94-54A1-C7EB-C8C4-237D7772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655391-E788-3600-8898-5AF13284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7841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B93B40C-643E-4843-9401-BE8C07C300C6}"/>
              </a:ext>
            </a:extLst>
          </p:cNvPr>
          <p:cNvGrpSpPr/>
          <p:nvPr/>
        </p:nvGrpSpPr>
        <p:grpSpPr>
          <a:xfrm>
            <a:off x="3051049" y="2849782"/>
            <a:ext cx="732441" cy="1309266"/>
            <a:chOff x="1527048" y="2849782"/>
            <a:chExt cx="732441" cy="130926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622E9BB-AD17-0740-9F4B-757C4BE96DA8}"/>
                </a:ext>
              </a:extLst>
            </p:cNvPr>
            <p:cNvSpPr txBox="1"/>
            <p:nvPr/>
          </p:nvSpPr>
          <p:spPr>
            <a:xfrm>
              <a:off x="1527048" y="2849782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9300"/>
                  </a:solidFill>
                  <a:latin typeface="Courier" pitchFamily="2" charset="0"/>
                </a:rPr>
                <a:t>= 1.6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8142C0-0FC0-314B-B9FE-795DAA4CDF37}"/>
                </a:ext>
              </a:extLst>
            </p:cNvPr>
            <p:cNvSpPr txBox="1"/>
            <p:nvPr/>
          </p:nvSpPr>
          <p:spPr>
            <a:xfrm>
              <a:off x="1537817" y="3851271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urier" pitchFamily="2" charset="0"/>
                </a:rPr>
                <a:t>= 2.0</a:t>
              </a: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24B729F-9627-1846-AE27-751A5A44036A}"/>
              </a:ext>
            </a:extLst>
          </p:cNvPr>
          <p:cNvSpPr txBox="1"/>
          <p:nvPr/>
        </p:nvSpPr>
        <p:spPr>
          <a:xfrm>
            <a:off x="5260908" y="4811894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9300"/>
                </a:solidFill>
                <a:latin typeface="Courier" pitchFamily="2" charset="0"/>
              </a:rPr>
              <a:t>0.8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2A7454-9FF7-F04E-AD27-F541F3460695}"/>
              </a:ext>
            </a:extLst>
          </p:cNvPr>
          <p:cNvSpPr txBox="1"/>
          <p:nvPr/>
        </p:nvSpPr>
        <p:spPr>
          <a:xfrm>
            <a:off x="6327488" y="4785722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urier" pitchFamily="2" charset="0"/>
              </a:rPr>
              <a:t>0.4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5997DF-DF53-B343-A213-E5464A0E2615}"/>
              </a:ext>
            </a:extLst>
          </p:cNvPr>
          <p:cNvSpPr txBox="1"/>
          <p:nvPr/>
        </p:nvSpPr>
        <p:spPr>
          <a:xfrm>
            <a:off x="7083265" y="4787144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  <a:latin typeface="Courier" pitchFamily="2" charset="0"/>
              </a:rPr>
              <a:t>-0.3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A02447-BC35-1740-950C-6312821D1506}"/>
              </a:ext>
            </a:extLst>
          </p:cNvPr>
          <p:cNvSpPr txBox="1"/>
          <p:nvPr/>
        </p:nvSpPr>
        <p:spPr>
          <a:xfrm>
            <a:off x="9093550" y="5090852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8F00"/>
                </a:solidFill>
                <a:latin typeface="Courier" pitchFamily="2" charset="0"/>
              </a:rPr>
              <a:t>= 0.9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78E418-F397-DC4B-BE5C-C9055D55CAE9}"/>
              </a:ext>
            </a:extLst>
          </p:cNvPr>
          <p:cNvGrpSpPr/>
          <p:nvPr/>
        </p:nvGrpSpPr>
        <p:grpSpPr>
          <a:xfrm>
            <a:off x="4938288" y="2606297"/>
            <a:ext cx="2239705" cy="1723229"/>
            <a:chOff x="3414287" y="2606296"/>
            <a:chExt cx="2239705" cy="172322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99F989A-A214-CF46-9AF8-040998C3ACF8}"/>
                </a:ext>
              </a:extLst>
            </p:cNvPr>
            <p:cNvSpPr txBox="1"/>
            <p:nvPr/>
          </p:nvSpPr>
          <p:spPr>
            <a:xfrm>
              <a:off x="3573930" y="2606296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9300"/>
                  </a:solidFill>
                  <a:latin typeface="Courier" pitchFamily="2" charset="0"/>
                </a:rPr>
                <a:t>0.5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9664C2-732C-7345-BFD1-AD3A4C9EB5A0}"/>
                </a:ext>
              </a:extLst>
            </p:cNvPr>
            <p:cNvSpPr txBox="1"/>
            <p:nvPr/>
          </p:nvSpPr>
          <p:spPr>
            <a:xfrm>
              <a:off x="3594193" y="4021748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urier" pitchFamily="2" charset="0"/>
                </a:rPr>
                <a:t>0.2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BDEBCBD-CEC7-0A4E-92B8-1E3B1D554662}"/>
                </a:ext>
              </a:extLst>
            </p:cNvPr>
            <p:cNvSpPr txBox="1"/>
            <p:nvPr/>
          </p:nvSpPr>
          <p:spPr>
            <a:xfrm>
              <a:off x="5039721" y="3896126"/>
              <a:ext cx="6142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B0F0"/>
                  </a:solidFill>
                  <a:latin typeface="Courier" pitchFamily="2" charset="0"/>
                </a:rPr>
                <a:t>-0.3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261E45-2EFA-9941-800F-075B3C842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4287" y="2824770"/>
              <a:ext cx="230633" cy="10780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C859DAC-39CA-6B47-A68D-A99AB86BA76D}"/>
                </a:ext>
              </a:extLst>
            </p:cNvPr>
            <p:cNvCxnSpPr>
              <a:cxnSpLocks/>
            </p:cNvCxnSpPr>
            <p:nvPr/>
          </p:nvCxnSpPr>
          <p:spPr>
            <a:xfrm>
              <a:off x="3439734" y="4012101"/>
              <a:ext cx="230633" cy="10780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62809EF-8B70-F845-8E99-85A83E3CA0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3389" y="4119842"/>
              <a:ext cx="230633" cy="107801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E0F266C-3A72-F94E-A7E6-4646526D2412}"/>
              </a:ext>
            </a:extLst>
          </p:cNvPr>
          <p:cNvGrpSpPr/>
          <p:nvPr/>
        </p:nvGrpSpPr>
        <p:grpSpPr>
          <a:xfrm>
            <a:off x="5790483" y="3350498"/>
            <a:ext cx="4570533" cy="2537797"/>
            <a:chOff x="4266482" y="3350497"/>
            <a:chExt cx="4570533" cy="253779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2223BFD-DED8-464C-8EFB-A2857C386604}"/>
                </a:ext>
              </a:extLst>
            </p:cNvPr>
            <p:cNvSpPr txBox="1"/>
            <p:nvPr/>
          </p:nvSpPr>
          <p:spPr>
            <a:xfrm>
              <a:off x="4266482" y="5549740"/>
              <a:ext cx="117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= 0.7109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052CDDE-668E-C049-93BA-061911DEFF3E}"/>
                </a:ext>
              </a:extLst>
            </p:cNvPr>
            <p:cNvSpPr txBox="1"/>
            <p:nvPr/>
          </p:nvSpPr>
          <p:spPr>
            <a:xfrm>
              <a:off x="7664899" y="3350497"/>
              <a:ext cx="11721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ourier" pitchFamily="2" charset="0"/>
                </a:rPr>
                <a:t>= 0.7109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5480C15-E5F6-9CA0-E1F0-D69817A0EB73}"/>
              </a:ext>
            </a:extLst>
          </p:cNvPr>
          <p:cNvSpPr txBox="1"/>
          <p:nvPr/>
        </p:nvSpPr>
        <p:spPr>
          <a:xfrm>
            <a:off x="5042494" y="5867266"/>
            <a:ext cx="1053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NO-LINEAL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C81491-2C8F-E95D-7EB9-EA26D5B9B820}"/>
              </a:ext>
            </a:extLst>
          </p:cNvPr>
          <p:cNvSpPr txBox="1"/>
          <p:nvPr/>
        </p:nvSpPr>
        <p:spPr>
          <a:xfrm>
            <a:off x="7967840" y="5398628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LINEAL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5DB3A7F-B41D-BF11-A838-CDB4C27D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F968EEF-D61A-1534-87FD-37B7CACD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8303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1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A104909-3B0F-F445-9987-FC8DCD61B2AC}"/>
              </a:ext>
            </a:extLst>
          </p:cNvPr>
          <p:cNvSpPr txBox="1"/>
          <p:nvPr/>
        </p:nvSpPr>
        <p:spPr>
          <a:xfrm>
            <a:off x="9188899" y="3350497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Courier" pitchFamily="2" charset="0"/>
              </a:rPr>
              <a:t>= 0.7109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1FCFBC0-D732-2A4B-8F04-C22F5B958734}"/>
              </a:ext>
            </a:extLst>
          </p:cNvPr>
          <p:cNvGrpSpPr/>
          <p:nvPr/>
        </p:nvGrpSpPr>
        <p:grpSpPr>
          <a:xfrm>
            <a:off x="3051049" y="2849782"/>
            <a:ext cx="732441" cy="1309266"/>
            <a:chOff x="1527048" y="2849782"/>
            <a:chExt cx="732441" cy="130926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6BB0F0E-7EEA-CA40-ADE7-E37006F3793E}"/>
                </a:ext>
              </a:extLst>
            </p:cNvPr>
            <p:cNvSpPr txBox="1"/>
            <p:nvPr/>
          </p:nvSpPr>
          <p:spPr>
            <a:xfrm>
              <a:off x="1527048" y="2849782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9300"/>
                  </a:solidFill>
                  <a:latin typeface="Courier" pitchFamily="2" charset="0"/>
                </a:rPr>
                <a:t>= 1.6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DEBEA0-4990-E041-BCD9-225C4AB8D921}"/>
                </a:ext>
              </a:extLst>
            </p:cNvPr>
            <p:cNvSpPr txBox="1"/>
            <p:nvPr/>
          </p:nvSpPr>
          <p:spPr>
            <a:xfrm>
              <a:off x="1537817" y="3851271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urier" pitchFamily="2" charset="0"/>
                </a:rPr>
                <a:t>= 2.0</a:t>
              </a:r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84946-83B8-18EA-B831-FB08F634D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DF81C87-0242-F951-3B06-96B9BE3E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93737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8DBD97D-239B-694B-81BE-18153EB3D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60031" y="659420"/>
            <a:ext cx="8815377" cy="57277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C01F731-8799-E34F-AD1E-53D780D1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42" y="1581736"/>
            <a:ext cx="2019300" cy="6604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58ADFA8-3BCD-CE4D-A3B8-56F84B712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024" y="1574558"/>
            <a:ext cx="2540000" cy="6477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48742CA8-AF3F-3347-9CCB-4E325034025D}"/>
              </a:ext>
            </a:extLst>
          </p:cNvPr>
          <p:cNvSpPr txBox="1"/>
          <p:nvPr/>
        </p:nvSpPr>
        <p:spPr>
          <a:xfrm>
            <a:off x="1827885" y="408999"/>
            <a:ext cx="15905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SIGMOIDE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90611-065C-4C42-9D5D-F820E717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45E304-ABA6-EB00-608B-7E974285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6801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430BFE-CC45-C4AA-3720-F5C1C7EA3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9F2AE-27FE-703A-1457-F00FE067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02749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LOGISTIC REGRESSION</a:t>
            </a:r>
            <a:br>
              <a:rPr lang="en-CL" dirty="0">
                <a:latin typeface="Gill Sans MT" panose="020B0502020104020203" pitchFamily="34" charset="77"/>
              </a:rPr>
            </a:br>
            <a:r>
              <a:rPr lang="en-CL" dirty="0">
                <a:latin typeface="Gill Sans MT" panose="020B0502020104020203" pitchFamily="34" charset="77"/>
              </a:rPr>
              <a:t>(creando funciones)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59B28-F18F-2D7F-893A-70767316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05635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6735-B303-5841-9A5A-DFFDEF25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586CA0-F51E-58B9-E67E-1E4A7AB8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84024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7876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80408" y="3775083"/>
            <a:ext cx="752647" cy="652596"/>
            <a:chOff x="4056407" y="3775083"/>
            <a:chExt cx="752647" cy="65259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56407" y="4119902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6735-B303-5841-9A5A-DFFDEF25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0750B-2743-CF4F-9CDB-E05BD46F9845}"/>
              </a:ext>
            </a:extLst>
          </p:cNvPr>
          <p:cNvSpPr/>
          <p:nvPr/>
        </p:nvSpPr>
        <p:spPr>
          <a:xfrm>
            <a:off x="2657856" y="2726249"/>
            <a:ext cx="603504" cy="1449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EC0DBC-F152-C34C-8223-9DE03B0E9D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6132" y="3935320"/>
            <a:ext cx="469900" cy="279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A30E9B-55FC-6244-8C4A-96F10D9004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1856" y="2834001"/>
            <a:ext cx="419100" cy="279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261792-7AC2-584C-A2D0-17361C9008CF}"/>
              </a:ext>
            </a:extLst>
          </p:cNvPr>
          <p:cNvSpPr txBox="1"/>
          <p:nvPr/>
        </p:nvSpPr>
        <p:spPr>
          <a:xfrm>
            <a:off x="2953696" y="3172594"/>
            <a:ext cx="235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7E43D7-BBC8-4F48-B972-F4BAF051529C}"/>
              </a:ext>
            </a:extLst>
          </p:cNvPr>
          <p:cNvSpPr/>
          <p:nvPr/>
        </p:nvSpPr>
        <p:spPr>
          <a:xfrm>
            <a:off x="4675291" y="3877710"/>
            <a:ext cx="603504" cy="1449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AE65CE-FAA0-4C42-9CC8-2B22630E63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2243" y="4071181"/>
            <a:ext cx="304800" cy="1651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FA3E744-1C4B-AD47-AD08-486FB6AEB5D9}"/>
              </a:ext>
            </a:extLst>
          </p:cNvPr>
          <p:cNvSpPr/>
          <p:nvPr/>
        </p:nvSpPr>
        <p:spPr>
          <a:xfrm>
            <a:off x="9004116" y="3303139"/>
            <a:ext cx="603504" cy="1449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A44A81-3A2D-5A4D-8B59-944C8E636DB5}"/>
              </a:ext>
            </a:extLst>
          </p:cNvPr>
          <p:cNvSpPr txBox="1"/>
          <p:nvPr/>
        </p:nvSpPr>
        <p:spPr>
          <a:xfrm>
            <a:off x="9181475" y="3693288"/>
            <a:ext cx="235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0BBF39-5F3A-CE48-937F-6D0362DAA9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3684" y="3381398"/>
            <a:ext cx="673100" cy="2413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AE7406-BAB9-004B-BD9E-B565E8FAA555}"/>
              </a:ext>
            </a:extLst>
          </p:cNvPr>
          <p:cNvSpPr txBox="1"/>
          <p:nvPr/>
        </p:nvSpPr>
        <p:spPr>
          <a:xfrm>
            <a:off x="2090151" y="646279"/>
            <a:ext cx="2966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Logistic Regression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F8F064-70C5-754B-87E8-D3CC8B3F2A9B}"/>
              </a:ext>
            </a:extLst>
          </p:cNvPr>
          <p:cNvSpPr txBox="1"/>
          <p:nvPr/>
        </p:nvSpPr>
        <p:spPr>
          <a:xfrm>
            <a:off x="4661465" y="3140910"/>
            <a:ext cx="235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  <a:p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0DC294-E446-5A45-90CB-93C6CE845DDD}"/>
              </a:ext>
            </a:extLst>
          </p:cNvPr>
          <p:cNvSpPr txBox="1"/>
          <p:nvPr/>
        </p:nvSpPr>
        <p:spPr>
          <a:xfrm>
            <a:off x="1744834" y="5336174"/>
            <a:ext cx="788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Los </a:t>
            </a:r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se </a:t>
            </a:r>
            <a:r>
              <a:rPr lang="en-US" dirty="0" err="1">
                <a:latin typeface="Gill Sans MT" panose="020B0502020104020203" pitchFamily="34" charset="77"/>
              </a:rPr>
              <a:t>encuentran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minimizando</a:t>
            </a:r>
            <a:r>
              <a:rPr lang="en-US" dirty="0">
                <a:latin typeface="Gill Sans MT" panose="020B0502020104020203" pitchFamily="34" charset="77"/>
              </a:rPr>
              <a:t> una </a:t>
            </a:r>
            <a:r>
              <a:rPr lang="en-US" dirty="0" err="1">
                <a:latin typeface="Gill Sans MT" panose="020B0502020104020203" pitchFamily="34" charset="77"/>
              </a:rPr>
              <a:t>función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pérdida</a:t>
            </a:r>
            <a:r>
              <a:rPr lang="en-US" dirty="0">
                <a:latin typeface="Gill Sans MT" panose="020B0502020104020203" pitchFamily="34" charset="77"/>
              </a:rPr>
              <a:t>, por </a:t>
            </a:r>
            <a:r>
              <a:rPr lang="en-US" dirty="0" err="1">
                <a:latin typeface="Gill Sans MT" panose="020B0502020104020203" pitchFamily="34" charset="77"/>
              </a:rPr>
              <a:t>ejemplo</a:t>
            </a:r>
            <a:r>
              <a:rPr lang="en-US" dirty="0">
                <a:latin typeface="Gill Sans MT" panose="020B0502020104020203" pitchFamily="34" charset="77"/>
              </a:rPr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831C89-4291-6142-A16F-9564EC7F60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78300" y="5759666"/>
            <a:ext cx="3835400" cy="749300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07EA047-0159-C8C3-6B1E-9D45E64C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58634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ESTRUCTURA DE </a:t>
            </a:r>
            <a:br>
              <a:rPr lang="en-CL" dirty="0">
                <a:latin typeface="Gill Sans MT" panose="020B0502020104020203" pitchFamily="34" charset="77"/>
              </a:rPr>
            </a:br>
            <a:r>
              <a:rPr lang="en-CL" dirty="0">
                <a:latin typeface="Gill Sans MT" panose="020B0502020104020203" pitchFamily="34" charset="77"/>
              </a:rPr>
              <a:t>UNA RED NEURONAL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19677E-792B-44E4-429D-D6D870B2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68664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E25413-BB5B-424A-A6C1-5D3E769C2BC6}"/>
              </a:ext>
            </a:extLst>
          </p:cNvPr>
          <p:cNvSpPr txBox="1"/>
          <p:nvPr/>
        </p:nvSpPr>
        <p:spPr>
          <a:xfrm>
            <a:off x="2691962" y="155029"/>
            <a:ext cx="6808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Ejemplo: ¿cómo sería una red neuronal de 2 características y 3 clases?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7C25D8-DA86-3344-AFDE-ECCEB2C5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931" y="2406869"/>
            <a:ext cx="5728138" cy="4296103"/>
          </a:xfrm>
          <a:prstGeom prst="rect">
            <a:avLst/>
          </a:prstGeom>
        </p:spPr>
      </p:pic>
      <p:sp>
        <p:nvSpPr>
          <p:cNvPr id="5" name="Arc 4">
            <a:extLst>
              <a:ext uri="{FF2B5EF4-FFF2-40B4-BE49-F238E27FC236}">
                <a16:creationId xmlns:a16="http://schemas.microsoft.com/office/drawing/2014/main" id="{60BAD788-8365-034F-B095-B4DBA6FB79BB}"/>
              </a:ext>
            </a:extLst>
          </p:cNvPr>
          <p:cNvSpPr/>
          <p:nvPr/>
        </p:nvSpPr>
        <p:spPr>
          <a:xfrm rot="19828402">
            <a:off x="3889248" y="4376928"/>
            <a:ext cx="2353056" cy="2483595"/>
          </a:xfrm>
          <a:prstGeom prst="arc">
            <a:avLst>
              <a:gd name="adj1" fmla="val 16200000"/>
              <a:gd name="adj2" fmla="val 3228408"/>
            </a:avLst>
          </a:prstGeom>
          <a:ln>
            <a:solidFill>
              <a:schemeClr val="bg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A7710B2-E30C-7347-BCD6-8F5B7F9441B2}"/>
              </a:ext>
            </a:extLst>
          </p:cNvPr>
          <p:cNvSpPr/>
          <p:nvPr/>
        </p:nvSpPr>
        <p:spPr>
          <a:xfrm rot="19828402">
            <a:off x="3403550" y="3703112"/>
            <a:ext cx="3748103" cy="2537250"/>
          </a:xfrm>
          <a:prstGeom prst="arc">
            <a:avLst>
              <a:gd name="adj1" fmla="val 16200000"/>
              <a:gd name="adj2" fmla="val 4121330"/>
            </a:avLst>
          </a:prstGeom>
          <a:ln>
            <a:solidFill>
              <a:schemeClr val="bg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6F1B47-A9D7-7F43-9775-05D0F6F0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12F1C-80FA-6A60-A021-EAD493703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41317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788E13B-44FF-3743-A029-D7B02344C1D7}"/>
              </a:ext>
            </a:extLst>
          </p:cNvPr>
          <p:cNvSpPr/>
          <p:nvPr/>
        </p:nvSpPr>
        <p:spPr>
          <a:xfrm>
            <a:off x="4265168" y="1566672"/>
            <a:ext cx="4133088" cy="4542028"/>
          </a:xfrm>
          <a:prstGeom prst="roundRect">
            <a:avLst/>
          </a:prstGeom>
          <a:solidFill>
            <a:schemeClr val="accent4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71455AE-E293-0049-965E-0E248219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428" y="1663700"/>
            <a:ext cx="1135672" cy="5715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2BA010FA-420D-5843-B13A-403FF687AE13}"/>
              </a:ext>
            </a:extLst>
          </p:cNvPr>
          <p:cNvGrpSpPr/>
          <p:nvPr/>
        </p:nvGrpSpPr>
        <p:grpSpPr>
          <a:xfrm>
            <a:off x="8736721" y="2529587"/>
            <a:ext cx="1741222" cy="2987879"/>
            <a:chOff x="7212721" y="2529586"/>
            <a:chExt cx="1741222" cy="298787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A9A6237-4B5F-C641-8FC7-8EA391B29F54}"/>
                </a:ext>
              </a:extLst>
            </p:cNvPr>
            <p:cNvSpPr/>
            <p:nvPr/>
          </p:nvSpPr>
          <p:spPr>
            <a:xfrm>
              <a:off x="7874202" y="2529586"/>
              <a:ext cx="927100" cy="2616200"/>
            </a:xfrm>
            <a:prstGeom prst="ellipse">
              <a:avLst/>
            </a:prstGeom>
            <a:noFill/>
            <a:ln>
              <a:solidFill>
                <a:srgbClr val="0096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CD3B9B-88D4-F643-8850-2F75870A25C1}"/>
                </a:ext>
              </a:extLst>
            </p:cNvPr>
            <p:cNvSpPr txBox="1"/>
            <p:nvPr/>
          </p:nvSpPr>
          <p:spPr>
            <a:xfrm>
              <a:off x="7212721" y="4871134"/>
              <a:ext cx="1741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Salida: </a:t>
              </a:r>
            </a:p>
            <a:p>
              <a:r>
                <a:rPr lang="es-ES_tradnl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3 clases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A4B09A9-057F-C94B-AF44-CCF84CECD53A}"/>
              </a:ext>
            </a:extLst>
          </p:cNvPr>
          <p:cNvGrpSpPr/>
          <p:nvPr/>
        </p:nvGrpSpPr>
        <p:grpSpPr>
          <a:xfrm>
            <a:off x="3682027" y="6226556"/>
            <a:ext cx="5054694" cy="523220"/>
            <a:chOff x="2158027" y="6226556"/>
            <a:chExt cx="5054694" cy="52322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FBB300-B7A8-5D4F-A421-B89D2C044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23471" y="6235935"/>
              <a:ext cx="2889250" cy="49083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6C9EA76-BDEC-A045-A5E2-AC336F60FB3F}"/>
                </a:ext>
              </a:extLst>
            </p:cNvPr>
            <p:cNvSpPr txBox="1"/>
            <p:nvPr/>
          </p:nvSpPr>
          <p:spPr>
            <a:xfrm>
              <a:off x="2158027" y="6226556"/>
              <a:ext cx="23432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800" dirty="0">
                  <a:latin typeface="Gill Sans MT" panose="020B0502020104020203" pitchFamily="34" charset="77"/>
                  <a:cs typeface="Calibri" panose="020F0502020204030204" pitchFamily="34" charset="0"/>
                </a:rPr>
                <a:t>Clasificación: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0B5770B-9D83-C44B-991F-2A0614005D34}"/>
              </a:ext>
            </a:extLst>
          </p:cNvPr>
          <p:cNvGrpSpPr/>
          <p:nvPr/>
        </p:nvGrpSpPr>
        <p:grpSpPr>
          <a:xfrm>
            <a:off x="1625028" y="3124200"/>
            <a:ext cx="1848969" cy="2021587"/>
            <a:chOff x="101027" y="3124199"/>
            <a:chExt cx="1848969" cy="202158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577BA04-4C77-094E-BA5B-6B3015B8C160}"/>
                </a:ext>
              </a:extLst>
            </p:cNvPr>
            <p:cNvSpPr txBox="1"/>
            <p:nvPr/>
          </p:nvSpPr>
          <p:spPr>
            <a:xfrm>
              <a:off x="208774" y="4499455"/>
              <a:ext cx="1741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dirty="0">
                  <a:solidFill>
                    <a:srgbClr val="FF930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Entrada: </a:t>
              </a:r>
            </a:p>
            <a:p>
              <a:r>
                <a:rPr lang="es-ES_tradnl" dirty="0">
                  <a:solidFill>
                    <a:srgbClr val="FF930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2 características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AB38F67-A9CD-D04E-BC10-603E36942D50}"/>
                </a:ext>
              </a:extLst>
            </p:cNvPr>
            <p:cNvSpPr/>
            <p:nvPr/>
          </p:nvSpPr>
          <p:spPr>
            <a:xfrm>
              <a:off x="101027" y="3124199"/>
              <a:ext cx="927100" cy="1377949"/>
            </a:xfrm>
            <a:prstGeom prst="ellipse">
              <a:avLst/>
            </a:prstGeom>
            <a:noFill/>
            <a:ln>
              <a:solidFill>
                <a:srgbClr val="FF93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5BE42E7-2B17-3544-B1DF-A2E00FDAE661}"/>
              </a:ext>
            </a:extLst>
          </p:cNvPr>
          <p:cNvSpPr txBox="1"/>
          <p:nvPr/>
        </p:nvSpPr>
        <p:spPr>
          <a:xfrm>
            <a:off x="5673999" y="1874181"/>
            <a:ext cx="1234633" cy="387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600" dirty="0">
                <a:solidFill>
                  <a:schemeClr val="bg1"/>
                </a:solidFill>
                <a:latin typeface="Gill Sans MT" panose="020B0502020104020203" pitchFamily="34" charset="77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1984C9-079D-7D4D-B22C-798591BD5280}"/>
              </a:ext>
            </a:extLst>
          </p:cNvPr>
          <p:cNvSpPr txBox="1"/>
          <p:nvPr/>
        </p:nvSpPr>
        <p:spPr>
          <a:xfrm>
            <a:off x="2691962" y="155029"/>
            <a:ext cx="6808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Ejemplo: ¿cómo sería una red neuronal de </a:t>
            </a:r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2 características</a:t>
            </a:r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 y </a:t>
            </a:r>
            <a:r>
              <a:rPr lang="es-ES_tradnl" sz="32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3 clases</a:t>
            </a:r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?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CCE0EEC-9820-654B-A22B-4167E2DCD4BC}"/>
              </a:ext>
            </a:extLst>
          </p:cNvPr>
          <p:cNvGrpSpPr/>
          <p:nvPr/>
        </p:nvGrpSpPr>
        <p:grpSpPr>
          <a:xfrm>
            <a:off x="8839201" y="2794000"/>
            <a:ext cx="484004" cy="1738280"/>
            <a:chOff x="7315200" y="2794000"/>
            <a:chExt cx="484004" cy="173828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FBBFBE1-4ACF-E04C-9B3C-BD1543BBB229}"/>
                </a:ext>
              </a:extLst>
            </p:cNvPr>
            <p:cNvSpPr txBox="1"/>
            <p:nvPr/>
          </p:nvSpPr>
          <p:spPr>
            <a:xfrm>
              <a:off x="7315200" y="2794000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  <a:latin typeface="Gill Sans MT" panose="020B0502020104020203" pitchFamily="34" charset="77"/>
                </a:rPr>
                <a:t>0.2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84F2DC-F585-7441-B286-4823CB918E44}"/>
                </a:ext>
              </a:extLst>
            </p:cNvPr>
            <p:cNvSpPr txBox="1"/>
            <p:nvPr/>
          </p:nvSpPr>
          <p:spPr>
            <a:xfrm>
              <a:off x="7332410" y="3484824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Gill Sans MT" panose="020B0502020104020203" pitchFamily="34" charset="77"/>
                </a:rPr>
                <a:t>0.7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1CD76DB-E922-474F-B1FA-B02E50B9D37D}"/>
                </a:ext>
              </a:extLst>
            </p:cNvPr>
            <p:cNvSpPr txBox="1"/>
            <p:nvPr/>
          </p:nvSpPr>
          <p:spPr>
            <a:xfrm>
              <a:off x="7332410" y="4162948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2">
                      <a:lumMod val="75000"/>
                    </a:schemeClr>
                  </a:solidFill>
                  <a:latin typeface="Gill Sans MT" panose="020B0502020104020203" pitchFamily="34" charset="77"/>
                </a:rPr>
                <a:t>0.1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BC4994AA-DAFB-B543-90F5-E31B7B314B95}"/>
              </a:ext>
            </a:extLst>
          </p:cNvPr>
          <p:cNvSpPr txBox="1"/>
          <p:nvPr/>
        </p:nvSpPr>
        <p:spPr>
          <a:xfrm>
            <a:off x="8817464" y="6226556"/>
            <a:ext cx="1741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FF00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=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0AFBD2-E03B-9F4C-B9ED-E271D6BBD5A9}"/>
              </a:ext>
            </a:extLst>
          </p:cNvPr>
          <p:cNvSpPr txBox="1"/>
          <p:nvPr/>
        </p:nvSpPr>
        <p:spPr>
          <a:xfrm>
            <a:off x="8716539" y="2523698"/>
            <a:ext cx="7526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EJEMPLO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08D88-0421-DB49-981B-42A39B4D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00647-CDA3-4635-EAA4-56D75AC16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5278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3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/>
      <p:bldP spid="25" grpId="1"/>
      <p:bldP spid="31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11984C9-079D-7D4D-B22C-798591BD5280}"/>
              </a:ext>
            </a:extLst>
          </p:cNvPr>
          <p:cNvSpPr txBox="1"/>
          <p:nvPr/>
        </p:nvSpPr>
        <p:spPr>
          <a:xfrm>
            <a:off x="2691962" y="155029"/>
            <a:ext cx="68080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Ejemplo: ¿cómo sería una red neuronal de </a:t>
            </a:r>
            <a:r>
              <a:rPr lang="es-ES_tradnl" sz="3200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2 características</a:t>
            </a:r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 y </a:t>
            </a:r>
            <a:r>
              <a:rPr lang="es-ES_tradnl" sz="32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3 clases</a:t>
            </a:r>
            <a:r>
              <a:rPr lang="es-ES_tradnl" sz="3200" dirty="0">
                <a:latin typeface="Gill Sans MT" panose="020B0502020104020203" pitchFamily="34" charset="77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7CC32-D53F-834E-B3F9-DB36BCEC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44E831-2AE1-49E6-C8A5-C335E1B27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747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5C97EFB-A88E-A145-BC19-6AE232DA4772}"/>
              </a:ext>
            </a:extLst>
          </p:cNvPr>
          <p:cNvGrpSpPr/>
          <p:nvPr/>
        </p:nvGrpSpPr>
        <p:grpSpPr>
          <a:xfrm>
            <a:off x="5605601" y="886978"/>
            <a:ext cx="1287685" cy="5084044"/>
            <a:chOff x="4081600" y="886978"/>
            <a:chExt cx="1287685" cy="50840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C9848B-C640-404A-95CC-CF2FB7D8F748}"/>
                </a:ext>
              </a:extLst>
            </p:cNvPr>
            <p:cNvSpPr txBox="1"/>
            <p:nvPr/>
          </p:nvSpPr>
          <p:spPr>
            <a:xfrm>
              <a:off x="4081600" y="886978"/>
              <a:ext cx="128768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Capa</a:t>
              </a:r>
            </a:p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oculta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778D5F6-D957-944D-B850-165FC6644BDC}"/>
                </a:ext>
              </a:extLst>
            </p:cNvPr>
            <p:cNvSpPr/>
            <p:nvPr/>
          </p:nvSpPr>
          <p:spPr>
            <a:xfrm>
              <a:off x="4412927" y="1685239"/>
              <a:ext cx="625033" cy="4285783"/>
            </a:xfrm>
            <a:prstGeom prst="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16E5351-04A5-6941-B39A-1B46239B3824}"/>
              </a:ext>
            </a:extLst>
          </p:cNvPr>
          <p:cNvGrpSpPr/>
          <p:nvPr/>
        </p:nvGrpSpPr>
        <p:grpSpPr>
          <a:xfrm>
            <a:off x="7453521" y="1940233"/>
            <a:ext cx="1006194" cy="3094850"/>
            <a:chOff x="5929521" y="1940233"/>
            <a:chExt cx="1006194" cy="30948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9FA3B10-04F7-6445-A4FE-09B3360CB079}"/>
                </a:ext>
              </a:extLst>
            </p:cNvPr>
            <p:cNvSpPr txBox="1"/>
            <p:nvPr/>
          </p:nvSpPr>
          <p:spPr>
            <a:xfrm>
              <a:off x="5929521" y="1940233"/>
              <a:ext cx="10061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rgbClr val="FF930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Capa de </a:t>
              </a:r>
            </a:p>
            <a:p>
              <a:pPr algn="ctr"/>
              <a:r>
                <a:rPr lang="es-ES_tradnl" dirty="0">
                  <a:solidFill>
                    <a:srgbClr val="FF930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salida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EED1D3E-6CE1-ED4D-A939-28B601BA8BF4}"/>
                </a:ext>
              </a:extLst>
            </p:cNvPr>
            <p:cNvSpPr/>
            <p:nvPr/>
          </p:nvSpPr>
          <p:spPr>
            <a:xfrm>
              <a:off x="6120102" y="2651760"/>
              <a:ext cx="625033" cy="2383323"/>
            </a:xfrm>
            <a:prstGeom prst="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C5B5B54-9775-0D4C-BA4E-ECCE563611AD}"/>
              </a:ext>
            </a:extLst>
          </p:cNvPr>
          <p:cNvGrpSpPr/>
          <p:nvPr/>
        </p:nvGrpSpPr>
        <p:grpSpPr>
          <a:xfrm>
            <a:off x="4106269" y="2349765"/>
            <a:ext cx="1060741" cy="2270896"/>
            <a:chOff x="2582268" y="2349765"/>
            <a:chExt cx="1060741" cy="22708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A5E356-B330-B445-8AB0-A4ECA22780B1}"/>
                </a:ext>
              </a:extLst>
            </p:cNvPr>
            <p:cNvSpPr txBox="1"/>
            <p:nvPr/>
          </p:nvSpPr>
          <p:spPr>
            <a:xfrm>
              <a:off x="2582268" y="2349765"/>
              <a:ext cx="10607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Capa de </a:t>
              </a:r>
            </a:p>
            <a:p>
              <a:pPr algn="ctr"/>
              <a:r>
                <a:rPr lang="es-ES_tradnl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entrada</a:t>
              </a: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6A3E0BF-1304-714D-B15E-B95D73D8FC2E}"/>
                </a:ext>
              </a:extLst>
            </p:cNvPr>
            <p:cNvSpPr/>
            <p:nvPr/>
          </p:nvSpPr>
          <p:spPr>
            <a:xfrm>
              <a:off x="2831198" y="3127259"/>
              <a:ext cx="625033" cy="1493402"/>
            </a:xfrm>
            <a:prstGeom prst="round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970099-DDA0-C143-AA82-E807B55D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DC8E8A-A58C-3142-2A54-F7683F61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45243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5-point Star 3">
            <a:extLst>
              <a:ext uri="{FF2B5EF4-FFF2-40B4-BE49-F238E27FC236}">
                <a16:creationId xmlns:a16="http://schemas.microsoft.com/office/drawing/2014/main" id="{55232443-3688-1147-99A0-D802308156F7}"/>
              </a:ext>
            </a:extLst>
          </p:cNvPr>
          <p:cNvSpPr/>
          <p:nvPr/>
        </p:nvSpPr>
        <p:spPr>
          <a:xfrm>
            <a:off x="6144739" y="3387075"/>
            <a:ext cx="230114" cy="209541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E2BABA-57CA-1545-8992-BB0CE11C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F412D-CFD9-2CB8-4EA4-ADE58BD9B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1915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735C2E-594E-FD4B-B8B3-3EA5E36978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17043" y="2194795"/>
            <a:ext cx="7302500" cy="27178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408F2EC-391D-C546-A058-6DA6A2EA87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34" t="-6631"/>
          <a:stretch/>
        </p:blipFill>
        <p:spPr>
          <a:xfrm>
            <a:off x="7584502" y="5024063"/>
            <a:ext cx="1476798" cy="3385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9CAF7AC5-2131-8F48-B34E-5C6B003C3178}"/>
              </a:ext>
            </a:extLst>
          </p:cNvPr>
          <p:cNvGrpSpPr/>
          <p:nvPr/>
        </p:nvGrpSpPr>
        <p:grpSpPr>
          <a:xfrm>
            <a:off x="4419618" y="2418471"/>
            <a:ext cx="752647" cy="1634236"/>
            <a:chOff x="2895617" y="2418471"/>
            <a:chExt cx="752647" cy="163423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D5262E-042D-B941-B5CC-18EA69349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910B0A-ADBA-8442-923A-D2F508BA8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24484" y="3900307"/>
              <a:ext cx="241300" cy="1524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3920F4-8FB6-2945-AAB2-0109F6005F8A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0AA869-ADE1-884C-94D1-7CF6A784F00F}"/>
              </a:ext>
            </a:extLst>
          </p:cNvPr>
          <p:cNvGrpSpPr/>
          <p:nvPr/>
        </p:nvGrpSpPr>
        <p:grpSpPr>
          <a:xfrm>
            <a:off x="5540783" y="3775083"/>
            <a:ext cx="762000" cy="625164"/>
            <a:chOff x="4016783" y="3775083"/>
            <a:chExt cx="762000" cy="625164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3BDDBC6-9FC5-F843-A450-9CF12C59BB49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0E8E876-02B2-F847-993D-D964507DA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840725-4D38-484C-8A79-AD271242DD33}"/>
                </a:ext>
              </a:extLst>
            </p:cNvPr>
            <p:cNvSpPr txBox="1"/>
            <p:nvPr/>
          </p:nvSpPr>
          <p:spPr>
            <a:xfrm>
              <a:off x="4016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3A294D8-A79D-114A-A193-29CCA1C262C2}"/>
              </a:ext>
            </a:extLst>
          </p:cNvPr>
          <p:cNvGrpSpPr/>
          <p:nvPr/>
        </p:nvGrpSpPr>
        <p:grpSpPr>
          <a:xfrm>
            <a:off x="4235914" y="5085164"/>
            <a:ext cx="3230655" cy="338554"/>
            <a:chOff x="2711913" y="5085164"/>
            <a:chExt cx="3230655" cy="3385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53943E3-2563-D74B-A5AA-5248708E3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80318" y="5105061"/>
              <a:ext cx="2762250" cy="2667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491A8C-8A16-2844-897C-AB75127D4EE8}"/>
                </a:ext>
              </a:extLst>
            </p:cNvPr>
            <p:cNvSpPr txBox="1"/>
            <p:nvPr/>
          </p:nvSpPr>
          <p:spPr>
            <a:xfrm>
              <a:off x="2711913" y="5085164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1)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13695BF-93B0-7B44-8CCC-426024E003B4}"/>
              </a:ext>
            </a:extLst>
          </p:cNvPr>
          <p:cNvGrpSpPr/>
          <p:nvPr/>
        </p:nvGrpSpPr>
        <p:grpSpPr>
          <a:xfrm>
            <a:off x="4235913" y="5528712"/>
            <a:ext cx="1524760" cy="338554"/>
            <a:chOff x="2711913" y="5528712"/>
            <a:chExt cx="1524760" cy="33855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17802C9-BB88-214F-AC6E-493B4524B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37143" y="5564623"/>
              <a:ext cx="999530" cy="288000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474C5A1-226A-D045-96E7-35328C008B1A}"/>
                </a:ext>
              </a:extLst>
            </p:cNvPr>
            <p:cNvSpPr txBox="1"/>
            <p:nvPr/>
          </p:nvSpPr>
          <p:spPr>
            <a:xfrm>
              <a:off x="2711913" y="5528712"/>
              <a:ext cx="3529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MT" panose="020B0502020104020203" pitchFamily="34" charset="77"/>
                </a:rPr>
                <a:t>2)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90DF02-A8E6-E042-A0C3-847C1AA247D2}"/>
              </a:ext>
            </a:extLst>
          </p:cNvPr>
          <p:cNvGrpSpPr/>
          <p:nvPr/>
        </p:nvGrpSpPr>
        <p:grpSpPr>
          <a:xfrm>
            <a:off x="3617130" y="4643690"/>
            <a:ext cx="1661410" cy="273546"/>
            <a:chOff x="2093130" y="4643690"/>
            <a:chExt cx="1661410" cy="273546"/>
          </a:xfrm>
        </p:grpSpPr>
        <p:sp>
          <p:nvSpPr>
            <p:cNvPr id="38" name="5-point Star 37">
              <a:extLst>
                <a:ext uri="{FF2B5EF4-FFF2-40B4-BE49-F238E27FC236}">
                  <a16:creationId xmlns:a16="http://schemas.microsoft.com/office/drawing/2014/main" id="{9F9E23CE-E7FB-634A-802D-4E0D84B9D249}"/>
                </a:ext>
              </a:extLst>
            </p:cNvPr>
            <p:cNvSpPr/>
            <p:nvPr/>
          </p:nvSpPr>
          <p:spPr>
            <a:xfrm>
              <a:off x="2093130" y="4643690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502471F-378A-4A4F-97CE-4DCC8CD8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789340" y="4650536"/>
              <a:ext cx="965200" cy="266700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31E135B9-F5ED-AF45-91A8-17FC2C4222E8}"/>
              </a:ext>
            </a:extLst>
          </p:cNvPr>
          <p:cNvSpPr txBox="1"/>
          <p:nvPr/>
        </p:nvSpPr>
        <p:spPr>
          <a:xfrm>
            <a:off x="5042494" y="5867266"/>
            <a:ext cx="1053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NO-LINEAL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9944E0-3FF8-394C-82CB-8003E07C85DC}"/>
              </a:ext>
            </a:extLst>
          </p:cNvPr>
          <p:cNvGrpSpPr/>
          <p:nvPr/>
        </p:nvGrpSpPr>
        <p:grpSpPr>
          <a:xfrm>
            <a:off x="6244980" y="218913"/>
            <a:ext cx="4315674" cy="2754789"/>
            <a:chOff x="4720980" y="218912"/>
            <a:chExt cx="4315674" cy="2754789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044225C-44D5-2844-9270-EAEB252DC7E0}"/>
                </a:ext>
              </a:extLst>
            </p:cNvPr>
            <p:cNvGrpSpPr/>
            <p:nvPr/>
          </p:nvGrpSpPr>
          <p:grpSpPr>
            <a:xfrm>
              <a:off x="4720980" y="218912"/>
              <a:ext cx="4315674" cy="2754789"/>
              <a:chOff x="4720980" y="218912"/>
              <a:chExt cx="4315674" cy="275478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E9D11C19-8B2A-C84E-BB28-1BE02FF24BBA}"/>
                  </a:ext>
                </a:extLst>
              </p:cNvPr>
              <p:cNvSpPr/>
              <p:nvPr/>
            </p:nvSpPr>
            <p:spPr>
              <a:xfrm>
                <a:off x="6624654" y="561701"/>
                <a:ext cx="2412000" cy="2412000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7" name="Elbow Connector 46">
                <a:extLst>
                  <a:ext uri="{FF2B5EF4-FFF2-40B4-BE49-F238E27FC236}">
                    <a16:creationId xmlns:a16="http://schemas.microsoft.com/office/drawing/2014/main" id="{B637B477-DA73-F549-A4C2-CC3412CC7EF2}"/>
                  </a:ext>
                </a:extLst>
              </p:cNvPr>
              <p:cNvCxnSpPr>
                <a:cxnSpLocks/>
                <a:endCxn id="45" idx="0"/>
              </p:cNvCxnSpPr>
              <p:nvPr/>
            </p:nvCxnSpPr>
            <p:spPr>
              <a:xfrm rot="5400000" flipH="1" flipV="1">
                <a:off x="5154637" y="128045"/>
                <a:ext cx="2242360" cy="3109673"/>
              </a:xfrm>
              <a:prstGeom prst="bentConnector3">
                <a:avLst>
                  <a:gd name="adj1" fmla="val 110195"/>
                </a:avLst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54258079-0CCC-FC40-B22B-9704A486A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3373" y="1581218"/>
                <a:ext cx="1663700" cy="317500"/>
              </a:xfrm>
              <a:prstGeom prst="rect">
                <a:avLst/>
              </a:prstGeom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0E410A47-704A-CF40-BFEC-571AABC95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97346" y="1010749"/>
                <a:ext cx="571500" cy="317500"/>
              </a:xfrm>
              <a:prstGeom prst="rect">
                <a:avLst/>
              </a:prstGeom>
            </p:spPr>
          </p:pic>
          <p:sp>
            <p:nvSpPr>
              <p:cNvPr id="51" name="5-point Star 50">
                <a:extLst>
                  <a:ext uri="{FF2B5EF4-FFF2-40B4-BE49-F238E27FC236}">
                    <a16:creationId xmlns:a16="http://schemas.microsoft.com/office/drawing/2014/main" id="{6FDC1BC4-2B90-3141-AEE6-9675954776D4}"/>
                  </a:ext>
                </a:extLst>
              </p:cNvPr>
              <p:cNvSpPr/>
              <p:nvPr/>
            </p:nvSpPr>
            <p:spPr>
              <a:xfrm>
                <a:off x="7904557" y="218912"/>
                <a:ext cx="290986" cy="270526"/>
              </a:xfrm>
              <a:prstGeom prst="star5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05028ED-F573-3743-BF06-3721CFF2D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2454684D-177D-C942-8290-AE0C4435F9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031" y="2895501"/>
            <a:ext cx="469900" cy="26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4CD818-2C9B-F529-307E-90EDA536D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84793-94C5-D0CC-E8A4-C2856064DC8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569443" y="2347195"/>
            <a:ext cx="1085882" cy="2717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2A41C7-0251-B8A1-7F9F-E2537B249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E83D48-4993-7601-0867-6492722470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r="85130"/>
          <a:stretch/>
        </p:blipFill>
        <p:spPr>
          <a:xfrm>
            <a:off x="2417043" y="2194795"/>
            <a:ext cx="1085882" cy="271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C046F2-8CF4-B0BD-8AFD-EA0A303F0DCC}"/>
              </a:ext>
            </a:extLst>
          </p:cNvPr>
          <p:cNvSpPr txBox="1"/>
          <p:nvPr/>
        </p:nvSpPr>
        <p:spPr>
          <a:xfrm>
            <a:off x="9179235" y="4959043"/>
            <a:ext cx="1053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FUNCIÓN</a:t>
            </a:r>
          </a:p>
          <a:p>
            <a:pPr algn="ctr"/>
            <a:r>
              <a:rPr lang="es-ES_tradnl" sz="1400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LINEAL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628A819-5021-D7F1-E863-C9A36549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8BF4776-0ED7-17A9-2D04-B8B679B96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0927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84224DE-E847-5B44-832B-6FC40CC8D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749300"/>
            <a:ext cx="5854700" cy="4699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/>
          <p:nvPr/>
        </p:nvCxnSpPr>
        <p:spPr>
          <a:xfrm flipV="1">
            <a:off x="7115908" y="1389186"/>
            <a:ext cx="685800" cy="1230923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AE334D-8534-F863-A3DF-1895906F7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A3A78-4A95-5698-AA26-4B47A718A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23569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>
            <a:cxnSpLocks/>
          </p:cNvCxnSpPr>
          <p:nvPr/>
        </p:nvCxnSpPr>
        <p:spPr>
          <a:xfrm flipV="1">
            <a:off x="7291754" y="1389187"/>
            <a:ext cx="509954" cy="1617783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E9A595C-50AF-E840-A1AB-68CEA95E6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734846"/>
            <a:ext cx="5854700" cy="4699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D85BC-C7D6-31D3-9100-83C371D0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98D4BF-E94B-A1F9-30D3-AFED0E5A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92114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>
            <a:cxnSpLocks/>
          </p:cNvCxnSpPr>
          <p:nvPr/>
        </p:nvCxnSpPr>
        <p:spPr>
          <a:xfrm flipV="1">
            <a:off x="7547728" y="1389187"/>
            <a:ext cx="253980" cy="1863060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3FA4E70-61CA-5940-B208-37872D1E3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749300"/>
            <a:ext cx="5854700" cy="4699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51E2F0-8F44-4DCF-17F2-F1CF587B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684566-73FA-BB9C-3FB0-D15C9599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22550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843591-7566-9240-82A2-F4350DF20E6D}"/>
              </a:ext>
            </a:extLst>
          </p:cNvPr>
          <p:cNvCxnSpPr>
            <a:cxnSpLocks/>
          </p:cNvCxnSpPr>
          <p:nvPr/>
        </p:nvCxnSpPr>
        <p:spPr>
          <a:xfrm flipV="1">
            <a:off x="7415336" y="1389188"/>
            <a:ext cx="386373" cy="3481751"/>
          </a:xfrm>
          <a:prstGeom prst="line">
            <a:avLst/>
          </a:prstGeom>
          <a:ln>
            <a:solidFill>
              <a:srgbClr val="FF9300"/>
            </a:solidFill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DE788EB-02C8-CE42-B059-1A25E2DF7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985" y="749300"/>
            <a:ext cx="5854700" cy="4699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719138-F6DA-94BE-8BF3-46D68B92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50D028-A126-71A3-1120-F7DCCDA9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06748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5E356-B330-B445-8AB0-A4ECA22780B1}"/>
              </a:ext>
            </a:extLst>
          </p:cNvPr>
          <p:cNvSpPr txBox="1"/>
          <p:nvPr/>
        </p:nvSpPr>
        <p:spPr>
          <a:xfrm>
            <a:off x="4810321" y="884350"/>
            <a:ext cx="2882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Cada nodo (círculo rojo) tiene asociado una función no-lineal y un valor de ‘</a:t>
            </a:r>
            <a:r>
              <a:rPr lang="es-ES_tradnl" dirty="0" err="1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848B-C640-404A-95CC-CF2FB7D8F748}"/>
              </a:ext>
            </a:extLst>
          </p:cNvPr>
          <p:cNvSpPr txBox="1"/>
          <p:nvPr/>
        </p:nvSpPr>
        <p:spPr>
          <a:xfrm>
            <a:off x="2665142" y="4732635"/>
            <a:ext cx="2882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Cada flecha azul que entra a un nodo tiene asociado un ‘peso’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A3B10-04F7-6445-A4FE-09B3360CB079}"/>
              </a:ext>
            </a:extLst>
          </p:cNvPr>
          <p:cNvSpPr txBox="1"/>
          <p:nvPr/>
        </p:nvSpPr>
        <p:spPr>
          <a:xfrm>
            <a:off x="7133473" y="5185370"/>
            <a:ext cx="2882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Se conectan todos los nodos de una capa con todos los nodos de la siguiente capa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3F6B52-E980-B3A0-25B2-C07A449A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371A4-1378-9A44-5789-36D592B1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7656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5E356-B330-B445-8AB0-A4ECA22780B1}"/>
              </a:ext>
            </a:extLst>
          </p:cNvPr>
          <p:cNvSpPr txBox="1"/>
          <p:nvPr/>
        </p:nvSpPr>
        <p:spPr>
          <a:xfrm>
            <a:off x="2665141" y="1110150"/>
            <a:ext cx="2882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Cuando se diseña una red neuronal se debe decidir la función no lineal, el número de capas ocultas, y el número de nodos de las capas ocultas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848B-C640-404A-95CC-CF2FB7D8F748}"/>
              </a:ext>
            </a:extLst>
          </p:cNvPr>
          <p:cNvSpPr txBox="1"/>
          <p:nvPr/>
        </p:nvSpPr>
        <p:spPr>
          <a:xfrm>
            <a:off x="6807335" y="1026299"/>
            <a:ext cx="3534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Cuando se entrena una red neuronal se debe estimar todos los pesos y los ‘</a:t>
            </a:r>
            <a:r>
              <a:rPr lang="es-ES_tradn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 de tal forma que la salida real sea lo más parecida a la salida ideal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7B669-53AF-FD4E-A99F-98AAC23D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28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46DF3-1FC6-0786-CF12-0117BA5CB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8891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7C25D8-DA86-3344-AFDE-ECCEB2C5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96" y="1256798"/>
            <a:ext cx="5728138" cy="429610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7B70CB7C-9FF6-8543-AA62-1739FAC6B7B3}"/>
              </a:ext>
            </a:extLst>
          </p:cNvPr>
          <p:cNvGrpSpPr/>
          <p:nvPr/>
        </p:nvGrpSpPr>
        <p:grpSpPr>
          <a:xfrm>
            <a:off x="5605807" y="506867"/>
            <a:ext cx="2005029" cy="1548177"/>
            <a:chOff x="4081806" y="1656937"/>
            <a:chExt cx="2005029" cy="154817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B52E9CB-4CF8-0F45-AD70-223108905FC5}"/>
                </a:ext>
              </a:extLst>
            </p:cNvPr>
            <p:cNvCxnSpPr>
              <a:cxnSpLocks/>
              <a:stCxn id="8" idx="7"/>
            </p:cNvCxnSpPr>
            <p:nvPr/>
          </p:nvCxnSpPr>
          <p:spPr>
            <a:xfrm flipV="1">
              <a:off x="4339287" y="2052636"/>
              <a:ext cx="892589" cy="886950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80A70BD-7027-434E-949B-46DD474BE358}"/>
                </a:ext>
              </a:extLst>
            </p:cNvPr>
            <p:cNvSpPr/>
            <p:nvPr/>
          </p:nvSpPr>
          <p:spPr>
            <a:xfrm>
              <a:off x="4081806" y="2894029"/>
              <a:ext cx="301658" cy="31108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EDC324B-EBB7-1647-9C2B-C975B9662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2635" y="1656937"/>
              <a:ext cx="1854200" cy="3429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C894DD-839A-BE4A-BC61-484D5D075842}"/>
              </a:ext>
            </a:extLst>
          </p:cNvPr>
          <p:cNvGrpSpPr/>
          <p:nvPr/>
        </p:nvGrpSpPr>
        <p:grpSpPr>
          <a:xfrm>
            <a:off x="7794625" y="166610"/>
            <a:ext cx="2354901" cy="1350880"/>
            <a:chOff x="6270624" y="1316681"/>
            <a:chExt cx="2354901" cy="135088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D3B58C2-0406-3546-BB87-F6A34DF55A0E}"/>
                </a:ext>
              </a:extLst>
            </p:cNvPr>
            <p:cNvSpPr txBox="1"/>
            <p:nvPr/>
          </p:nvSpPr>
          <p:spPr>
            <a:xfrm>
              <a:off x="6270624" y="1316681"/>
              <a:ext cx="235490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como pertenece a clase ‘3’, entonces su salida ideal es: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5A9612F-4F0E-1944-AAEF-43A06D137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16224" y="2324661"/>
              <a:ext cx="1663700" cy="3429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14D5CA-6D86-2E4D-BBA4-84E846A2FA9F}"/>
              </a:ext>
            </a:extLst>
          </p:cNvPr>
          <p:cNvGrpSpPr/>
          <p:nvPr/>
        </p:nvGrpSpPr>
        <p:grpSpPr>
          <a:xfrm>
            <a:off x="7794623" y="1955763"/>
            <a:ext cx="2425700" cy="1263884"/>
            <a:chOff x="6270623" y="3105834"/>
            <a:chExt cx="2425700" cy="126388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273E18-28A6-CF4B-B02C-B91512068A6C}"/>
                </a:ext>
              </a:extLst>
            </p:cNvPr>
            <p:cNvSpPr txBox="1"/>
            <p:nvPr/>
          </p:nvSpPr>
          <p:spPr>
            <a:xfrm>
              <a:off x="6270623" y="3105834"/>
              <a:ext cx="23549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es posible que la salida real de la red sea: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E5113B5-BA73-3141-80D2-571CD3875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70623" y="4026818"/>
              <a:ext cx="2425700" cy="3429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C665CED-F1DE-184B-ABB1-9EE77A770007}"/>
              </a:ext>
            </a:extLst>
          </p:cNvPr>
          <p:cNvSpPr txBox="1"/>
          <p:nvPr/>
        </p:nvSpPr>
        <p:spPr>
          <a:xfrm>
            <a:off x="7555477" y="3404849"/>
            <a:ext cx="2978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como el máximo de la salida es el tercer elemento, entonces la clasificación será </a:t>
            </a:r>
            <a:r>
              <a:rPr lang="es-ES_tradnl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Clase ‘3’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37CE7A-422C-6D43-BF61-3E71C17B51C0}"/>
              </a:ext>
            </a:extLst>
          </p:cNvPr>
          <p:cNvGrpSpPr/>
          <p:nvPr/>
        </p:nvGrpSpPr>
        <p:grpSpPr>
          <a:xfrm>
            <a:off x="7610835" y="4804827"/>
            <a:ext cx="2978870" cy="1829999"/>
            <a:chOff x="6086835" y="4804826"/>
            <a:chExt cx="2978870" cy="1829999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77B098-6893-3042-B367-2E5A929F6E84}"/>
                </a:ext>
              </a:extLst>
            </p:cNvPr>
            <p:cNvSpPr txBox="1"/>
            <p:nvPr/>
          </p:nvSpPr>
          <p:spPr>
            <a:xfrm>
              <a:off x="6086835" y="4804826"/>
              <a:ext cx="29788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En el entrenamiento se debe minimizar una función objetivo del tipo:</a:t>
              </a: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47F0F80B-E1CB-6A44-BEC2-2307C0AA14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20835"/>
            <a:stretch/>
          </p:blipFill>
          <p:spPr>
            <a:xfrm>
              <a:off x="6099535" y="5787429"/>
              <a:ext cx="2688865" cy="847396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D8E77D0-A35D-9C4D-A4A8-879EA91FF438}"/>
              </a:ext>
            </a:extLst>
          </p:cNvPr>
          <p:cNvGrpSpPr/>
          <p:nvPr/>
        </p:nvGrpSpPr>
        <p:grpSpPr>
          <a:xfrm>
            <a:off x="2266951" y="5662310"/>
            <a:ext cx="4856571" cy="923330"/>
            <a:chOff x="742950" y="5662310"/>
            <a:chExt cx="4856571" cy="92333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05DA8E4-2845-5544-B2A4-E3F3C441EE69}"/>
                </a:ext>
              </a:extLst>
            </p:cNvPr>
            <p:cNvGrpSpPr/>
            <p:nvPr/>
          </p:nvGrpSpPr>
          <p:grpSpPr>
            <a:xfrm>
              <a:off x="812799" y="5662310"/>
              <a:ext cx="4786722" cy="923330"/>
              <a:chOff x="812799" y="5662310"/>
              <a:chExt cx="4786722" cy="923330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C39DC5-5DD1-5549-A6D3-5285041D7A1A}"/>
                  </a:ext>
                </a:extLst>
              </p:cNvPr>
              <p:cNvSpPr txBox="1"/>
              <p:nvPr/>
            </p:nvSpPr>
            <p:spPr>
              <a:xfrm>
                <a:off x="1017832" y="5662310"/>
                <a:ext cx="458168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Parámetros (pesos y ‘</a:t>
                </a:r>
                <a:r>
                  <a:rPr lang="es-ES_tradnl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bias</a:t>
                </a:r>
                <a:r>
                  <a:rPr lang="es-ES_tradn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’ de todas las capas)</a:t>
                </a:r>
              </a:p>
              <a:p>
                <a:endParaRPr lang="es-ES_tradnl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endParaRPr>
              </a:p>
              <a:p>
                <a:r>
                  <a:rPr lang="es-ES_tradn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Número de muestras del set de entrenamiento</a:t>
                </a:r>
              </a:p>
            </p:txBody>
          </p: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972A868-8C20-3B4C-B988-5B2B5AA7C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2799" y="5772150"/>
                <a:ext cx="180000" cy="198000"/>
              </a:xfrm>
              <a:prstGeom prst="rect">
                <a:avLst/>
              </a:prstGeom>
            </p:spPr>
          </p:pic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446B447-4D88-8742-8020-CFA897DD4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2950" y="6254750"/>
              <a:ext cx="266700" cy="2159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538B17-23E4-0BEB-92EF-87BD69D24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6E83BF-1111-98FB-32B4-6EC95700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586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111B03-293A-8C42-B5B4-A9EBE966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663700"/>
            <a:ext cx="8559800" cy="4445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72DC8C-D5FF-DA4C-9310-4C02DA317F2F}"/>
              </a:ext>
            </a:extLst>
          </p:cNvPr>
          <p:cNvCxnSpPr/>
          <p:nvPr/>
        </p:nvCxnSpPr>
        <p:spPr>
          <a:xfrm>
            <a:off x="4106269" y="3511256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7875E-E19E-B449-BD4B-82BF26A279C9}"/>
              </a:ext>
            </a:extLst>
          </p:cNvPr>
          <p:cNvCxnSpPr/>
          <p:nvPr/>
        </p:nvCxnSpPr>
        <p:spPr>
          <a:xfrm>
            <a:off x="4112325" y="4193671"/>
            <a:ext cx="158496" cy="0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FA5E356-B330-B445-8AB0-A4ECA22780B1}"/>
              </a:ext>
            </a:extLst>
          </p:cNvPr>
          <p:cNvSpPr txBox="1"/>
          <p:nvPr/>
        </p:nvSpPr>
        <p:spPr>
          <a:xfrm>
            <a:off x="2665141" y="1110150"/>
            <a:ext cx="2882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rgbClr val="0096FF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Cuando se diseña una red neuronal se debe decidir la función no lineal, el número de capas ocultas, y el número de nodos de las capas ocultas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C9848B-C640-404A-95CC-CF2FB7D8F748}"/>
              </a:ext>
            </a:extLst>
          </p:cNvPr>
          <p:cNvSpPr txBox="1"/>
          <p:nvPr/>
        </p:nvSpPr>
        <p:spPr>
          <a:xfrm>
            <a:off x="6807335" y="1026299"/>
            <a:ext cx="3534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Cuando se entrena una red neuronal se debe estimar todos los pesos y los ‘</a:t>
            </a:r>
            <a:r>
              <a:rPr lang="es-ES_tradnl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 de tal forma que la salida real sea lo más parecida a la salida ideal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A3B10-04F7-6445-A4FE-09B3360CB079}"/>
              </a:ext>
            </a:extLst>
          </p:cNvPr>
          <p:cNvSpPr txBox="1"/>
          <p:nvPr/>
        </p:nvSpPr>
        <p:spPr>
          <a:xfrm>
            <a:off x="1765300" y="5219052"/>
            <a:ext cx="32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Eso es “todo” 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98E2A-D6A3-8C42-969C-96F02F9FF61E}"/>
              </a:ext>
            </a:extLst>
          </p:cNvPr>
          <p:cNvSpPr txBox="1"/>
          <p:nvPr/>
        </p:nvSpPr>
        <p:spPr>
          <a:xfrm>
            <a:off x="6912320" y="4964315"/>
            <a:ext cx="3534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En este ejemplo hay </a:t>
            </a:r>
          </a:p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2x6 + 6x3 = 30 pesos</a:t>
            </a:r>
          </a:p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6+3 = 9 ‘</a:t>
            </a:r>
            <a:r>
              <a:rPr lang="es-ES_tradnl" dirty="0" err="1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bias</a:t>
            </a:r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</a:t>
            </a:r>
          </a:p>
          <a:p>
            <a:pPr algn="ctr"/>
            <a:r>
              <a:rPr lang="es-ES_tradnl" dirty="0">
                <a:solidFill>
                  <a:schemeClr val="tx2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Es decir, 39 parámetros a estimar en el entrenamiento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03352-CD11-A04C-BD32-212DEAF8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30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C84CA6-0E8F-3062-3ABA-D1397FA3B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6610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0EC7A9-6075-504A-B096-3B91CA6F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46312"/>
            <a:ext cx="9144000" cy="55653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554F5-B631-174C-8F53-5451DD0D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31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C6B32-B307-C9E4-2222-6B71433A5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0289868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90AA9-2014-524C-82A1-9A540E0C0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90368"/>
            <a:ext cx="9144000" cy="567726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2DCDF-59FC-484D-BEBA-2ACA431A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32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8A595-BC74-17D2-96D1-E510E175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40176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F8130C-EDDF-A34F-9F9A-D0D532793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3916"/>
            <a:ext cx="9144000" cy="67701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B5284-F353-B241-89CF-1608BFA2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33</a:t>
            </a:fld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FE38C2-94CC-2E92-4263-1FC35D595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427377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3A814B-496F-6E48-84E4-15DFBD8EE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539" y="0"/>
            <a:ext cx="8940922" cy="6858000"/>
          </a:xfrm>
          <a:prstGeom prst="rect">
            <a:avLst/>
          </a:prstGeom>
        </p:spPr>
      </p:pic>
      <p:sp>
        <p:nvSpPr>
          <p:cNvPr id="3" name="5-point Star 2">
            <a:extLst>
              <a:ext uri="{FF2B5EF4-FFF2-40B4-BE49-F238E27FC236}">
                <a16:creationId xmlns:a16="http://schemas.microsoft.com/office/drawing/2014/main" id="{F959FE1D-1CBD-CE47-A069-B541BD9D087C}"/>
              </a:ext>
            </a:extLst>
          </p:cNvPr>
          <p:cNvSpPr/>
          <p:nvPr/>
        </p:nvSpPr>
        <p:spPr>
          <a:xfrm>
            <a:off x="5814158" y="3086973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7D30C4-1819-4541-BF7E-0BBAC639CFC1}"/>
              </a:ext>
            </a:extLst>
          </p:cNvPr>
          <p:cNvGrpSpPr/>
          <p:nvPr/>
        </p:nvGrpSpPr>
        <p:grpSpPr>
          <a:xfrm>
            <a:off x="6096000" y="561702"/>
            <a:ext cx="4464654" cy="2638699"/>
            <a:chOff x="4572000" y="561701"/>
            <a:chExt cx="4464654" cy="263869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C2C38E4-53D2-F941-9835-D861CD1839A2}"/>
                </a:ext>
              </a:extLst>
            </p:cNvPr>
            <p:cNvSpPr/>
            <p:nvPr/>
          </p:nvSpPr>
          <p:spPr>
            <a:xfrm>
              <a:off x="6624654" y="561701"/>
              <a:ext cx="2412000" cy="241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7DC8F5D-1604-764E-B204-287C8B81B9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3373" y="1581218"/>
              <a:ext cx="1663700" cy="317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F179A1-8F1F-B34A-A4B9-C33A78967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97346" y="1010749"/>
              <a:ext cx="571500" cy="3175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7FC7C4-9A17-8E4A-A747-7CF01F370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04792" y="2176321"/>
              <a:ext cx="999530" cy="288000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7E29F68-606C-CA48-8D13-341F69CCF8FF}"/>
                </a:ext>
              </a:extLst>
            </p:cNvPr>
            <p:cNvCxnSpPr/>
            <p:nvPr/>
          </p:nvCxnSpPr>
          <p:spPr>
            <a:xfrm flipV="1">
              <a:off x="4572000" y="2324100"/>
              <a:ext cx="2052654" cy="876300"/>
            </a:xfrm>
            <a:prstGeom prst="straightConnector1">
              <a:avLst/>
            </a:prstGeom>
            <a:ln w="38100">
              <a:solidFill>
                <a:srgbClr val="FF93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5-point Star 10">
              <a:extLst>
                <a:ext uri="{FF2B5EF4-FFF2-40B4-BE49-F238E27FC236}">
                  <a16:creationId xmlns:a16="http://schemas.microsoft.com/office/drawing/2014/main" id="{E0FFF906-19B0-814A-AAB8-4308C25FBDDF}"/>
                </a:ext>
              </a:extLst>
            </p:cNvPr>
            <p:cNvSpPr/>
            <p:nvPr/>
          </p:nvSpPr>
          <p:spPr>
            <a:xfrm>
              <a:off x="6722387" y="580751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C4CA7AD-9E94-324D-8824-96644F1F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34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6B2B3-E1B1-6E21-06EB-69ECB56C7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3552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81E96255-B616-5942-BAE5-2112637F5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300" y="185528"/>
            <a:ext cx="5534881" cy="6858000"/>
          </a:xfrm>
          <a:prstGeom prst="rect">
            <a:avLst/>
          </a:prstGeom>
        </p:spPr>
      </p:pic>
      <p:sp>
        <p:nvSpPr>
          <p:cNvPr id="6" name="5-point Star 5">
            <a:extLst>
              <a:ext uri="{FF2B5EF4-FFF2-40B4-BE49-F238E27FC236}">
                <a16:creationId xmlns:a16="http://schemas.microsoft.com/office/drawing/2014/main" id="{DFDFC1FC-7FDD-3C40-A5E5-A8BC9759F8B5}"/>
              </a:ext>
            </a:extLst>
          </p:cNvPr>
          <p:cNvSpPr/>
          <p:nvPr/>
        </p:nvSpPr>
        <p:spPr>
          <a:xfrm>
            <a:off x="6119339" y="3352149"/>
            <a:ext cx="290986" cy="270526"/>
          </a:xfrm>
          <a:prstGeom prst="star5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B06D0A-38A1-B941-AE58-69A5FED0A667}"/>
              </a:ext>
            </a:extLst>
          </p:cNvPr>
          <p:cNvGrpSpPr/>
          <p:nvPr/>
        </p:nvGrpSpPr>
        <p:grpSpPr>
          <a:xfrm>
            <a:off x="6010032" y="218913"/>
            <a:ext cx="4550623" cy="2851849"/>
            <a:chOff x="4486031" y="218912"/>
            <a:chExt cx="4550623" cy="285184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4C435D9-4C37-4842-AE48-76DA01F62814}"/>
                </a:ext>
              </a:extLst>
            </p:cNvPr>
            <p:cNvSpPr/>
            <p:nvPr/>
          </p:nvSpPr>
          <p:spPr>
            <a:xfrm>
              <a:off x="6624654" y="561701"/>
              <a:ext cx="2412000" cy="241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0051AD8-F224-2C4E-8507-75E6896DE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6031" y="2804061"/>
              <a:ext cx="469900" cy="266700"/>
            </a:xfrm>
            <a:prstGeom prst="rect">
              <a:avLst/>
            </a:prstGeom>
          </p:spPr>
        </p:pic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D39086E6-ED34-DB4E-B085-84D43B8F1AF5}"/>
                </a:ext>
              </a:extLst>
            </p:cNvPr>
            <p:cNvCxnSpPr>
              <a:cxnSpLocks/>
              <a:stCxn id="14" idx="0"/>
              <a:endCxn id="8" idx="0"/>
            </p:cNvCxnSpPr>
            <p:nvPr/>
          </p:nvCxnSpPr>
          <p:spPr>
            <a:xfrm rot="5400000" flipH="1" flipV="1">
              <a:off x="5154637" y="128045"/>
              <a:ext cx="2242360" cy="3109673"/>
            </a:xfrm>
            <a:prstGeom prst="bentConnector3">
              <a:avLst>
                <a:gd name="adj1" fmla="val 110195"/>
              </a:avLst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408F2EC-391D-C546-A058-6DA6A2EA8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3373" y="1581218"/>
              <a:ext cx="1663700" cy="3175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BA686EF-93BD-FA48-B865-705690536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9637" y="2151687"/>
              <a:ext cx="1117600" cy="31750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D85208C-6B96-F649-BA08-248E577CD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97346" y="1010749"/>
              <a:ext cx="571500" cy="317500"/>
            </a:xfrm>
            <a:prstGeom prst="rect">
              <a:avLst/>
            </a:prstGeom>
          </p:spPr>
        </p:pic>
        <p:sp>
          <p:nvSpPr>
            <p:cNvPr id="22" name="5-point Star 21">
              <a:extLst>
                <a:ext uri="{FF2B5EF4-FFF2-40B4-BE49-F238E27FC236}">
                  <a16:creationId xmlns:a16="http://schemas.microsoft.com/office/drawing/2014/main" id="{B94A1E8A-8341-694B-A448-EDD1A1DD464B}"/>
                </a:ext>
              </a:extLst>
            </p:cNvPr>
            <p:cNvSpPr/>
            <p:nvPr/>
          </p:nvSpPr>
          <p:spPr>
            <a:xfrm>
              <a:off x="7904557" y="218912"/>
              <a:ext cx="290986" cy="270526"/>
            </a:xfrm>
            <a:prstGeom prst="star5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DE0D96D-228F-214A-9692-6F1ABEE3C0BE}"/>
              </a:ext>
            </a:extLst>
          </p:cNvPr>
          <p:cNvGrpSpPr/>
          <p:nvPr/>
        </p:nvGrpSpPr>
        <p:grpSpPr>
          <a:xfrm>
            <a:off x="6371929" y="2582673"/>
            <a:ext cx="1130255" cy="1781419"/>
            <a:chOff x="4847928" y="2582672"/>
            <a:chExt cx="1130255" cy="1781419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6136562-288B-2E46-8C60-1CD357682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7928" y="2695138"/>
              <a:ext cx="949295" cy="683516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BCC9FAE-9D04-9B44-A66F-3E7A957103AB}"/>
                </a:ext>
              </a:extLst>
            </p:cNvPr>
            <p:cNvCxnSpPr>
              <a:cxnSpLocks/>
            </p:cNvCxnSpPr>
            <p:nvPr/>
          </p:nvCxnSpPr>
          <p:spPr>
            <a:xfrm>
              <a:off x="4886325" y="3622675"/>
              <a:ext cx="949295" cy="683516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548892E-411B-5C40-8965-3E998FAE0B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2611" y="2582672"/>
              <a:ext cx="115801" cy="115801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B99B3642-1382-B24D-8D4A-D88890113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62382" y="4248290"/>
              <a:ext cx="115801" cy="115801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09219C-94A5-1E4E-BAE6-D92AEE51583B}"/>
              </a:ext>
            </a:extLst>
          </p:cNvPr>
          <p:cNvGrpSpPr/>
          <p:nvPr/>
        </p:nvGrpSpPr>
        <p:grpSpPr>
          <a:xfrm>
            <a:off x="4860957" y="664715"/>
            <a:ext cx="752647" cy="1314196"/>
            <a:chOff x="2895617" y="2418471"/>
            <a:chExt cx="752647" cy="131419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419AC41-0938-104F-AD76-C65609FC0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51291" y="2918361"/>
              <a:ext cx="241300" cy="1524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E5BBCC4-1E0C-D947-BF26-CE42D614A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42188" y="3580267"/>
              <a:ext cx="241300" cy="1524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E064FAE-F5BF-DB4C-9E61-953E97BBF606}"/>
                </a:ext>
              </a:extLst>
            </p:cNvPr>
            <p:cNvSpPr txBox="1"/>
            <p:nvPr/>
          </p:nvSpPr>
          <p:spPr>
            <a:xfrm>
              <a:off x="2895617" y="2418471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PESOS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95F14B4-72C5-BA4D-9D85-D0239E98A87D}"/>
              </a:ext>
            </a:extLst>
          </p:cNvPr>
          <p:cNvGrpSpPr/>
          <p:nvPr/>
        </p:nvGrpSpPr>
        <p:grpSpPr>
          <a:xfrm>
            <a:off x="6225814" y="3656631"/>
            <a:ext cx="854247" cy="625164"/>
            <a:chOff x="4677183" y="3775083"/>
            <a:chExt cx="854247" cy="625164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D27FAE0-232D-DC4D-B982-E05236F2BF4B}"/>
                </a:ext>
              </a:extLst>
            </p:cNvPr>
            <p:cNvCxnSpPr/>
            <p:nvPr/>
          </p:nvCxnSpPr>
          <p:spPr>
            <a:xfrm flipV="1">
              <a:off x="4715626" y="3775083"/>
              <a:ext cx="0" cy="323337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2D677ED-58F3-EF4E-AB9A-053EF39DC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77183" y="4175907"/>
              <a:ext cx="101600" cy="1651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3CA633A-8495-3542-B543-85629DD0A6F1}"/>
                </a:ext>
              </a:extLst>
            </p:cNvPr>
            <p:cNvSpPr txBox="1"/>
            <p:nvPr/>
          </p:nvSpPr>
          <p:spPr>
            <a:xfrm>
              <a:off x="4778783" y="4092470"/>
              <a:ext cx="752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1400" dirty="0">
                  <a:solidFill>
                    <a:srgbClr val="0096FF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F2E06743-DBEF-CC43-85B0-DE64329BE4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02352" y="5742940"/>
            <a:ext cx="304800" cy="127000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0A4F973-4F4E-9C45-BBB2-38927E8CBE5A}"/>
              </a:ext>
            </a:extLst>
          </p:cNvPr>
          <p:cNvGrpSpPr/>
          <p:nvPr/>
        </p:nvGrpSpPr>
        <p:grpSpPr>
          <a:xfrm>
            <a:off x="6417909" y="3047257"/>
            <a:ext cx="1347372" cy="976747"/>
            <a:chOff x="4847928" y="2985008"/>
            <a:chExt cx="1347372" cy="97674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AB4777B-C315-AF4A-B27E-B391534F6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47928" y="3053386"/>
              <a:ext cx="1144818" cy="325268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4CDBC83-F61D-E94F-AD32-C95FABED8147}"/>
                </a:ext>
              </a:extLst>
            </p:cNvPr>
            <p:cNvCxnSpPr>
              <a:cxnSpLocks/>
            </p:cNvCxnSpPr>
            <p:nvPr/>
          </p:nvCxnSpPr>
          <p:spPr>
            <a:xfrm>
              <a:off x="4847928" y="3498179"/>
              <a:ext cx="1144818" cy="369099"/>
            </a:xfrm>
            <a:prstGeom prst="straightConnector1">
              <a:avLst/>
            </a:prstGeom>
            <a:ln w="15875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1CA44A3-D15C-9944-B9E8-305B2808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79499" y="2985008"/>
              <a:ext cx="115801" cy="11580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67E6D54-87F3-CD45-A68A-A42118958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36118" y="3845954"/>
              <a:ext cx="115801" cy="115801"/>
            </a:xfrm>
            <a:prstGeom prst="rect">
              <a:avLst/>
            </a:prstGeom>
          </p:spPr>
        </p:pic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13812-BC0B-7E4E-87CB-41354F77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35</a:t>
            </a:fld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341F2B-19CE-1198-7E11-2CBC10198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21252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FORWARD</a:t>
            </a:r>
            <a:br>
              <a:rPr lang="en-CL" dirty="0">
                <a:latin typeface="Gill Sans MT" panose="020B0502020104020203" pitchFamily="34" charset="77"/>
              </a:rPr>
            </a:br>
            <a:r>
              <a:rPr lang="en-CL" dirty="0">
                <a:latin typeface="Gill Sans MT" panose="020B0502020104020203" pitchFamily="34" charset="77"/>
              </a:rPr>
              <a:t>PROPAGATION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36</a:t>
            </a:fld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846A9A-69A4-195E-A2C1-8F2066BC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09594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0EC7A9-6075-504A-B096-3B91CA6F2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46312"/>
            <a:ext cx="9144000" cy="5565377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10A3795A-213E-734A-9D0B-30A3DC7249ED}"/>
              </a:ext>
            </a:extLst>
          </p:cNvPr>
          <p:cNvGrpSpPr/>
          <p:nvPr/>
        </p:nvGrpSpPr>
        <p:grpSpPr>
          <a:xfrm>
            <a:off x="3837170" y="2595373"/>
            <a:ext cx="632520" cy="2105674"/>
            <a:chOff x="2313170" y="2595373"/>
            <a:chExt cx="632520" cy="210567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B561E3-CF6C-E44A-8ECC-DF810BB96079}"/>
                </a:ext>
              </a:extLst>
            </p:cNvPr>
            <p:cNvSpPr txBox="1"/>
            <p:nvPr/>
          </p:nvSpPr>
          <p:spPr>
            <a:xfrm>
              <a:off x="2321800" y="4177827"/>
              <a:ext cx="6238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Input </a:t>
              </a:r>
            </a:p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Layer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3EEBEBB4-BAAE-784B-98B3-56DE469048D3}"/>
                </a:ext>
              </a:extLst>
            </p:cNvPr>
            <p:cNvSpPr/>
            <p:nvPr/>
          </p:nvSpPr>
          <p:spPr>
            <a:xfrm>
              <a:off x="2313170" y="2853515"/>
              <a:ext cx="625033" cy="1232706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81EAAD3-B1B5-8C4D-9368-96519C82E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8364" y="2595373"/>
              <a:ext cx="215900" cy="15240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C85ED0-D73C-0C4D-B872-65192A510EC0}"/>
              </a:ext>
            </a:extLst>
          </p:cNvPr>
          <p:cNvGrpSpPr/>
          <p:nvPr/>
        </p:nvGrpSpPr>
        <p:grpSpPr>
          <a:xfrm>
            <a:off x="5355377" y="406596"/>
            <a:ext cx="2125752" cy="6350079"/>
            <a:chOff x="3831377" y="406595"/>
            <a:chExt cx="2125752" cy="635007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0FCCAAF-D556-9240-94F3-647917C4B29D}"/>
                </a:ext>
              </a:extLst>
            </p:cNvPr>
            <p:cNvSpPr txBox="1"/>
            <p:nvPr/>
          </p:nvSpPr>
          <p:spPr>
            <a:xfrm>
              <a:off x="3864634" y="6233454"/>
              <a:ext cx="5746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Layer</a:t>
              </a:r>
            </a:p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0BDC017-615D-2B41-8592-053BB6CC0C87}"/>
                </a:ext>
              </a:extLst>
            </p:cNvPr>
            <p:cNvSpPr txBox="1"/>
            <p:nvPr/>
          </p:nvSpPr>
          <p:spPr>
            <a:xfrm>
              <a:off x="5362557" y="4701047"/>
              <a:ext cx="5746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Layer</a:t>
              </a:r>
            </a:p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2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D757422F-B269-F248-8325-1319B20C89AD}"/>
                </a:ext>
              </a:extLst>
            </p:cNvPr>
            <p:cNvSpPr/>
            <p:nvPr/>
          </p:nvSpPr>
          <p:spPr>
            <a:xfrm>
              <a:off x="3831377" y="670873"/>
              <a:ext cx="625033" cy="5442388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91888FF-93F2-9F48-8E0E-C68DEBC35929}"/>
                </a:ext>
              </a:extLst>
            </p:cNvPr>
            <p:cNvSpPr/>
            <p:nvPr/>
          </p:nvSpPr>
          <p:spPr>
            <a:xfrm>
              <a:off x="5332096" y="2300297"/>
              <a:ext cx="625033" cy="2281130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BBAA461-6D26-E445-8278-491D6E33E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48361" y="406595"/>
              <a:ext cx="203200" cy="1524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B1944E2-89ED-D748-89D0-563A94029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1952" y="2066254"/>
              <a:ext cx="215900" cy="1524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B4AB0E2-AAFC-F045-BDAA-0AB0B9254691}"/>
              </a:ext>
            </a:extLst>
          </p:cNvPr>
          <p:cNvGrpSpPr/>
          <p:nvPr/>
        </p:nvGrpSpPr>
        <p:grpSpPr>
          <a:xfrm>
            <a:off x="8363160" y="2253163"/>
            <a:ext cx="728084" cy="2567373"/>
            <a:chOff x="6839160" y="2253162"/>
            <a:chExt cx="728084" cy="256737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2DDEF1A-895E-DF46-9FF8-6EF1D0723DD6}"/>
                </a:ext>
              </a:extLst>
            </p:cNvPr>
            <p:cNvSpPr txBox="1"/>
            <p:nvPr/>
          </p:nvSpPr>
          <p:spPr>
            <a:xfrm>
              <a:off x="6839160" y="4297315"/>
              <a:ext cx="7280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Output</a:t>
              </a:r>
            </a:p>
            <a:p>
              <a:pPr algn="ctr"/>
              <a:r>
                <a:rPr lang="en-US" sz="1400" dirty="0">
                  <a:latin typeface="Gill Sans MT" panose="020B0502020104020203" pitchFamily="34" charset="77"/>
                </a:rPr>
                <a:t>Layer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17747D7-BBA4-D849-902B-7B69FA55FFA2}"/>
                </a:ext>
              </a:extLst>
            </p:cNvPr>
            <p:cNvSpPr/>
            <p:nvPr/>
          </p:nvSpPr>
          <p:spPr>
            <a:xfrm>
              <a:off x="6884896" y="2510429"/>
              <a:ext cx="625033" cy="1841613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E43608A-C58A-744E-87F6-1B8882573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97108" y="2253162"/>
              <a:ext cx="215900" cy="152400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42449025-A5D8-084A-BACC-1E2CBFDA9A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060" y="350319"/>
            <a:ext cx="2749550" cy="2101850"/>
          </a:xfrm>
          <a:prstGeom prst="rect">
            <a:avLst/>
          </a:prstGeom>
          <a:ln w="25400">
            <a:solidFill>
              <a:srgbClr val="FF9300"/>
            </a:solidFill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31FDEDD5-8281-AE45-B068-BDDEF2F16544}"/>
              </a:ext>
            </a:extLst>
          </p:cNvPr>
          <p:cNvGrpSpPr/>
          <p:nvPr/>
        </p:nvGrpSpPr>
        <p:grpSpPr>
          <a:xfrm>
            <a:off x="7978441" y="272960"/>
            <a:ext cx="2536106" cy="2132602"/>
            <a:chOff x="6454441" y="272960"/>
            <a:chExt cx="2536106" cy="213260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3725507-729A-F34D-B0F5-84396D591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4441" y="272960"/>
              <a:ext cx="2535499" cy="1875335"/>
            </a:xfrm>
            <a:prstGeom prst="rect">
              <a:avLst/>
            </a:prstGeom>
            <a:ln w="25400">
              <a:solidFill>
                <a:srgbClr val="FF9300"/>
              </a:solidFill>
            </a:ln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3639D2F-5C93-C94E-BF30-620835FAB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93647" y="2215062"/>
              <a:ext cx="596900" cy="1905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722C43-3B69-FD42-AE97-A522C982942A}"/>
              </a:ext>
            </a:extLst>
          </p:cNvPr>
          <p:cNvGrpSpPr/>
          <p:nvPr/>
        </p:nvGrpSpPr>
        <p:grpSpPr>
          <a:xfrm>
            <a:off x="1880825" y="4177827"/>
            <a:ext cx="2812609" cy="2435416"/>
            <a:chOff x="356824" y="4177827"/>
            <a:chExt cx="2812609" cy="2435416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8E1B865-FF4F-3546-BBC7-99E23A7A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6824" y="4177827"/>
              <a:ext cx="1704013" cy="2435416"/>
            </a:xfrm>
            <a:prstGeom prst="rect">
              <a:avLst/>
            </a:prstGeom>
            <a:ln w="25400">
              <a:solidFill>
                <a:srgbClr val="FF9300"/>
              </a:solidFill>
            </a:ln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2AFBC65-9E8D-6240-B925-235001903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66133" y="6438444"/>
              <a:ext cx="1003300" cy="165100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8038D6BE-5D1B-F643-AC96-82392AE725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73229" y="2579133"/>
            <a:ext cx="481423" cy="171818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D062A-B76C-D149-BDAB-0E58E8CA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37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1B140-65FB-73B0-587B-D02D62AA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0213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6F7BB7C9-A84F-324A-BDE2-E27E55F78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26" y="290055"/>
            <a:ext cx="8998916" cy="4331116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EDEF4C2-0542-5347-B209-76CA657F36E7}"/>
              </a:ext>
            </a:extLst>
          </p:cNvPr>
          <p:cNvGrpSpPr/>
          <p:nvPr/>
        </p:nvGrpSpPr>
        <p:grpSpPr>
          <a:xfrm>
            <a:off x="4295130" y="4754522"/>
            <a:ext cx="1392401" cy="241300"/>
            <a:chOff x="2694929" y="2808696"/>
            <a:chExt cx="1392401" cy="24130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4E3B00C-F7E6-154C-B2D9-7638BBD27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4929" y="2916109"/>
              <a:ext cx="900000" cy="0"/>
            </a:xfrm>
            <a:prstGeom prst="straightConnector1">
              <a:avLst/>
            </a:prstGeom>
            <a:ln w="120650">
              <a:solidFill>
                <a:srgbClr val="FF9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165B9D5-88E6-B14A-B000-5B3432356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4430" y="2808696"/>
              <a:ext cx="342900" cy="241300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969AE237-8A16-8648-8ECF-C2BBD62C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353" y="4754522"/>
            <a:ext cx="1092200" cy="241300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86DC969E-2655-304A-BE4B-986779E653D6}"/>
              </a:ext>
            </a:extLst>
          </p:cNvPr>
          <p:cNvGrpSpPr/>
          <p:nvPr/>
        </p:nvGrpSpPr>
        <p:grpSpPr>
          <a:xfrm>
            <a:off x="5742929" y="4754521"/>
            <a:ext cx="1458626" cy="241300"/>
            <a:chOff x="4218929" y="2808695"/>
            <a:chExt cx="1458626" cy="241300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8EFB0A0-4D3C-304F-8021-A454BA8E10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929" y="2905220"/>
              <a:ext cx="900000" cy="0"/>
            </a:xfrm>
            <a:prstGeom prst="straightConnector1">
              <a:avLst/>
            </a:prstGeom>
            <a:ln w="120650">
              <a:solidFill>
                <a:srgbClr val="FF9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C79AAC2-32EE-F849-A8C9-CBB0B3EB7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1955" y="2808695"/>
              <a:ext cx="355600" cy="2413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573CDCB-D69C-324A-9B8F-3814CD525ECF}"/>
              </a:ext>
            </a:extLst>
          </p:cNvPr>
          <p:cNvGrpSpPr/>
          <p:nvPr/>
        </p:nvGrpSpPr>
        <p:grpSpPr>
          <a:xfrm>
            <a:off x="7354021" y="4684135"/>
            <a:ext cx="2293817" cy="355600"/>
            <a:chOff x="5868120" y="2738309"/>
            <a:chExt cx="2293817" cy="355600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40BA57F-BCDA-674A-BAF5-FF10580A46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120" y="2905223"/>
              <a:ext cx="900000" cy="0"/>
            </a:xfrm>
            <a:prstGeom prst="straightConnector1">
              <a:avLst/>
            </a:prstGeom>
            <a:ln w="120650">
              <a:solidFill>
                <a:srgbClr val="FF9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FFB6AA3-9194-F642-B733-981CBAD6A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69737" y="2738309"/>
              <a:ext cx="1092200" cy="3556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8D676A4-630F-084B-8441-1D17C7E6B47C}"/>
              </a:ext>
            </a:extLst>
          </p:cNvPr>
          <p:cNvGrpSpPr/>
          <p:nvPr/>
        </p:nvGrpSpPr>
        <p:grpSpPr>
          <a:xfrm>
            <a:off x="3795230" y="5407480"/>
            <a:ext cx="1816100" cy="773608"/>
            <a:chOff x="2271230" y="5407480"/>
            <a:chExt cx="1816100" cy="77360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BE28151-1D8B-5D4B-B212-C7E0751DC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1230" y="5407480"/>
              <a:ext cx="1816100" cy="2286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4631B4E-AECD-A042-B00C-21C94E354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71230" y="5914388"/>
              <a:ext cx="1155700" cy="2667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5CB8C9-52F6-3F4D-810A-AC0DCBFD1478}"/>
              </a:ext>
            </a:extLst>
          </p:cNvPr>
          <p:cNvGrpSpPr/>
          <p:nvPr/>
        </p:nvGrpSpPr>
        <p:grpSpPr>
          <a:xfrm>
            <a:off x="6205577" y="5374824"/>
            <a:ext cx="1816100" cy="806265"/>
            <a:chOff x="4529177" y="5374823"/>
            <a:chExt cx="1816100" cy="806265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431F3B8-2D88-B64F-9C11-96D97CE7B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29177" y="5374823"/>
              <a:ext cx="1816100" cy="2286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A814F4C-DE32-7D46-8535-CF03C96E9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30953" y="5914388"/>
              <a:ext cx="1155700" cy="2667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E99D42E-AA71-9941-96CA-A57D0FAC0B3F}"/>
              </a:ext>
            </a:extLst>
          </p:cNvPr>
          <p:cNvGrpSpPr/>
          <p:nvPr/>
        </p:nvGrpSpPr>
        <p:grpSpPr>
          <a:xfrm>
            <a:off x="8628464" y="5407481"/>
            <a:ext cx="1816100" cy="863045"/>
            <a:chOff x="6952064" y="5407480"/>
            <a:chExt cx="1816100" cy="86304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4EFE7EE-5EF1-1D47-A876-F25E8CC3A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52064" y="5407480"/>
              <a:ext cx="1816100" cy="2286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7609B64-739A-9242-9763-1E2F080E6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06237" y="6003825"/>
              <a:ext cx="1155700" cy="266700"/>
            </a:xfrm>
            <a:prstGeom prst="rect">
              <a:avLst/>
            </a:prstGeom>
          </p:spPr>
        </p:pic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6110CCF9-FC0B-FC44-8A63-4F98421EAC1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7264" y="1592073"/>
            <a:ext cx="215900" cy="1524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A339BFA-F090-2540-85B8-7B99F40661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94561" y="241495"/>
            <a:ext cx="203200" cy="1524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ABB3976-7008-4F4B-9C21-5CEDDD1809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2752" y="1291554"/>
            <a:ext cx="215900" cy="15240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078C103-905C-B04D-ABFA-1701C1B444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67108" y="1580062"/>
            <a:ext cx="215900" cy="152400"/>
          </a:xfrm>
          <a:prstGeom prst="rect">
            <a:avLst/>
          </a:prstGeom>
        </p:spPr>
      </p:pic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4451946-4BD7-2740-BEA3-600DC0587A91}"/>
              </a:ext>
            </a:extLst>
          </p:cNvPr>
          <p:cNvSpPr/>
          <p:nvPr/>
        </p:nvSpPr>
        <p:spPr>
          <a:xfrm>
            <a:off x="3732874" y="1936053"/>
            <a:ext cx="486056" cy="95803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DE849C15-3D3A-2441-998D-45C31AAC63A1}"/>
              </a:ext>
            </a:extLst>
          </p:cNvPr>
          <p:cNvSpPr/>
          <p:nvPr/>
        </p:nvSpPr>
        <p:spPr>
          <a:xfrm>
            <a:off x="5268430" y="455887"/>
            <a:ext cx="486056" cy="409489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2B24C9A-063C-8346-8C5A-35407A03B764}"/>
              </a:ext>
            </a:extLst>
          </p:cNvPr>
          <p:cNvSpPr/>
          <p:nvPr/>
        </p:nvSpPr>
        <p:spPr>
          <a:xfrm>
            <a:off x="6742193" y="1527772"/>
            <a:ext cx="486056" cy="190122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0878CD3-1723-3D41-AD36-B1CC2125BA4A}"/>
              </a:ext>
            </a:extLst>
          </p:cNvPr>
          <p:cNvSpPr/>
          <p:nvPr/>
        </p:nvSpPr>
        <p:spPr>
          <a:xfrm>
            <a:off x="8270130" y="1828991"/>
            <a:ext cx="486056" cy="1341805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C1D23-5BDD-1349-BA47-AEC2D921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38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3F145-3985-C533-53CA-39BB2480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6295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6F7BB7C9-A84F-324A-BDE2-E27E55F78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026" y="290055"/>
            <a:ext cx="8998916" cy="43311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42328-0A2A-B143-AAF0-96DE5DA0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906" y="5079451"/>
            <a:ext cx="3632200" cy="800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F1FC3A-4329-404D-B61E-DBF66FC9F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1220" y="5843018"/>
            <a:ext cx="2120900" cy="7239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F93BB40-F71A-044A-984C-3AC35EBB9B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9833" y="6156034"/>
            <a:ext cx="1996679" cy="3555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8BE673-C05B-E14F-A279-14C6B6FAC5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7264" y="1592073"/>
            <a:ext cx="215900" cy="152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953E37-B503-2244-958B-11CFC30689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561" y="241495"/>
            <a:ext cx="203200" cy="152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43C527-1D25-2B44-9CC3-F86579C87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2752" y="1291554"/>
            <a:ext cx="215900" cy="1524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02F965-4619-E24B-A727-657288AF9E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7108" y="1580062"/>
            <a:ext cx="215900" cy="1524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28CF084-A749-A24A-9534-DD9A3C28E33C}"/>
              </a:ext>
            </a:extLst>
          </p:cNvPr>
          <p:cNvSpPr/>
          <p:nvPr/>
        </p:nvSpPr>
        <p:spPr>
          <a:xfrm>
            <a:off x="3732874" y="1936053"/>
            <a:ext cx="486056" cy="95803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DDE6A9E-F9F4-D64C-9488-CAB4874D01AC}"/>
              </a:ext>
            </a:extLst>
          </p:cNvPr>
          <p:cNvSpPr/>
          <p:nvPr/>
        </p:nvSpPr>
        <p:spPr>
          <a:xfrm>
            <a:off x="5268430" y="455887"/>
            <a:ext cx="486056" cy="409489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E2C5A33-1517-BF41-B5AA-6F7431BE78F0}"/>
              </a:ext>
            </a:extLst>
          </p:cNvPr>
          <p:cNvSpPr/>
          <p:nvPr/>
        </p:nvSpPr>
        <p:spPr>
          <a:xfrm>
            <a:off x="6742193" y="1527772"/>
            <a:ext cx="486056" cy="1901229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6927FEFC-420A-374C-8791-01333EF974BE}"/>
              </a:ext>
            </a:extLst>
          </p:cNvPr>
          <p:cNvSpPr/>
          <p:nvPr/>
        </p:nvSpPr>
        <p:spPr>
          <a:xfrm>
            <a:off x="8270130" y="1828991"/>
            <a:ext cx="486056" cy="1341805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21BF2E0-B627-8649-AFAD-F8DF04EAB2E0}"/>
              </a:ext>
            </a:extLst>
          </p:cNvPr>
          <p:cNvGrpSpPr/>
          <p:nvPr/>
        </p:nvGrpSpPr>
        <p:grpSpPr>
          <a:xfrm>
            <a:off x="3021353" y="4684135"/>
            <a:ext cx="6626484" cy="355600"/>
            <a:chOff x="1497353" y="4684135"/>
            <a:chExt cx="6626484" cy="355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86E0EEB-5202-7D44-9D81-E55C4694248B}"/>
                </a:ext>
              </a:extLst>
            </p:cNvPr>
            <p:cNvGrpSpPr/>
            <p:nvPr/>
          </p:nvGrpSpPr>
          <p:grpSpPr>
            <a:xfrm>
              <a:off x="2771129" y="4754522"/>
              <a:ext cx="1392401" cy="241300"/>
              <a:chOff x="2694929" y="2808696"/>
              <a:chExt cx="1392401" cy="241300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1C21BDE1-9FE0-B245-B192-2F287C90E0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4929" y="2916109"/>
                <a:ext cx="900000" cy="0"/>
              </a:xfrm>
              <a:prstGeom prst="straightConnector1">
                <a:avLst/>
              </a:prstGeom>
              <a:ln w="120650">
                <a:solidFill>
                  <a:srgbClr val="FF9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B81734A9-B948-3544-B4EA-64F27F498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44430" y="2808696"/>
                <a:ext cx="342900" cy="241300"/>
              </a:xfrm>
              <a:prstGeom prst="rect">
                <a:avLst/>
              </a:prstGeom>
            </p:spPr>
          </p:pic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D0B97481-7C4D-F249-97B0-857F53303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97353" y="4754522"/>
              <a:ext cx="1092200" cy="241300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CC8F67B-0224-BE4D-96D2-D34ADA47340B}"/>
                </a:ext>
              </a:extLst>
            </p:cNvPr>
            <p:cNvGrpSpPr/>
            <p:nvPr/>
          </p:nvGrpSpPr>
          <p:grpSpPr>
            <a:xfrm>
              <a:off x="4218929" y="4754521"/>
              <a:ext cx="1458626" cy="241300"/>
              <a:chOff x="4218929" y="2808695"/>
              <a:chExt cx="1458626" cy="241300"/>
            </a:xfrm>
          </p:grpSpPr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0DD655C9-CA51-F349-A6C0-873E59CDD55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18929" y="2905220"/>
                <a:ext cx="900000" cy="0"/>
              </a:xfrm>
              <a:prstGeom prst="straightConnector1">
                <a:avLst/>
              </a:prstGeom>
              <a:ln w="120650">
                <a:solidFill>
                  <a:srgbClr val="FF9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FB22FBB7-BFEF-B64D-A04A-14191C124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21955" y="2808695"/>
                <a:ext cx="355600" cy="241300"/>
              </a:xfrm>
              <a:prstGeom prst="rect">
                <a:avLst/>
              </a:prstGeom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1966F25-DCCE-E843-A511-EA580C3B4FF0}"/>
                </a:ext>
              </a:extLst>
            </p:cNvPr>
            <p:cNvGrpSpPr/>
            <p:nvPr/>
          </p:nvGrpSpPr>
          <p:grpSpPr>
            <a:xfrm>
              <a:off x="5830020" y="4684135"/>
              <a:ext cx="2293817" cy="355600"/>
              <a:chOff x="5868120" y="2738309"/>
              <a:chExt cx="2293817" cy="355600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8BE09815-0CDB-1245-B3D2-31A4D8BB0D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68120" y="2905223"/>
                <a:ext cx="900000" cy="0"/>
              </a:xfrm>
              <a:prstGeom prst="straightConnector1">
                <a:avLst/>
              </a:prstGeom>
              <a:ln w="120650">
                <a:solidFill>
                  <a:srgbClr val="FF93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38F2F0C7-D390-AD48-9EC3-9AC365208E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69737" y="2738309"/>
                <a:ext cx="1092200" cy="355600"/>
              </a:xfrm>
              <a:prstGeom prst="rect">
                <a:avLst/>
              </a:prstGeom>
            </p:spPr>
          </p:pic>
        </p:grp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2C6EA-BFA5-EF34-1730-8EFDF1180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62EB0E-1E57-6EED-D661-465CBDED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5454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CE088821-2A65-3D40-8B42-9E0551C0EE6F}"/>
              </a:ext>
            </a:extLst>
          </p:cNvPr>
          <p:cNvSpPr/>
          <p:nvPr/>
        </p:nvSpPr>
        <p:spPr>
          <a:xfrm>
            <a:off x="5348771" y="1737000"/>
            <a:ext cx="1692000" cy="1692000"/>
          </a:xfrm>
          <a:prstGeom prst="ellipse">
            <a:avLst/>
          </a:prstGeom>
          <a:solidFill>
            <a:schemeClr val="bg1"/>
          </a:solidFill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4E3B00C-F7E6-154C-B2D9-7638BBD27C97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4450505" y="2583000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7AB36C1-3C36-EF41-A979-21374FB54B67}"/>
              </a:ext>
            </a:extLst>
          </p:cNvPr>
          <p:cNvCxnSpPr>
            <a:cxnSpLocks/>
          </p:cNvCxnSpPr>
          <p:nvPr/>
        </p:nvCxnSpPr>
        <p:spPr>
          <a:xfrm flipV="1">
            <a:off x="7045168" y="2584927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82F5889-FB61-C44F-966B-F759FAA66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300" y="2516711"/>
            <a:ext cx="215900" cy="152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6E04D-4169-8747-808C-81DD18D61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406" y="2505136"/>
            <a:ext cx="444500" cy="152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45808F-2A30-E841-9214-EB980326B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1164" y="2501993"/>
            <a:ext cx="368300" cy="20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50AD51-C5B6-3543-93A9-5C6C77694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155" y="2501993"/>
            <a:ext cx="241300" cy="2032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D6F585-BF49-394E-A51D-C36F5A4215DC}"/>
              </a:ext>
            </a:extLst>
          </p:cNvPr>
          <p:cNvCxnSpPr>
            <a:cxnSpLocks/>
          </p:cNvCxnSpPr>
          <p:nvPr/>
        </p:nvCxnSpPr>
        <p:spPr>
          <a:xfrm flipV="1">
            <a:off x="8574952" y="2586852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A0C1C2-BDF1-E946-83D2-5C5885801DCF}"/>
              </a:ext>
            </a:extLst>
          </p:cNvPr>
          <p:cNvCxnSpPr>
            <a:cxnSpLocks/>
          </p:cNvCxnSpPr>
          <p:nvPr/>
        </p:nvCxnSpPr>
        <p:spPr>
          <a:xfrm flipV="1">
            <a:off x="2839304" y="2582997"/>
            <a:ext cx="900000" cy="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2D3414-75E4-7A4C-BB04-7C8AFAB02CBF}"/>
              </a:ext>
            </a:extLst>
          </p:cNvPr>
          <p:cNvSpPr txBox="1"/>
          <p:nvPr/>
        </p:nvSpPr>
        <p:spPr>
          <a:xfrm>
            <a:off x="5627105" y="1227464"/>
            <a:ext cx="749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Layer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B800DF-AC23-5249-9535-FC7E01117E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696" y="1309398"/>
            <a:ext cx="152400" cy="228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42328-0A2A-B143-AAF0-96DE5DA0A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7906" y="3952777"/>
            <a:ext cx="3632200" cy="800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F1FC3A-4329-404D-B61E-DBF66FC9F6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1220" y="4879633"/>
            <a:ext cx="2120900" cy="723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2E9F5A-2FF0-B342-84F3-EF2660A762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3904" y="2279744"/>
            <a:ext cx="1191950" cy="53324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D99FA4-58C4-5C4D-9C90-556A2AB9DD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3688" y="2307005"/>
            <a:ext cx="1031086" cy="6030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A302984-E99C-EF4D-AE9A-3CA9AABDEB74}"/>
              </a:ext>
            </a:extLst>
          </p:cNvPr>
          <p:cNvSpPr txBox="1"/>
          <p:nvPr/>
        </p:nvSpPr>
        <p:spPr>
          <a:xfrm>
            <a:off x="1827885" y="408999"/>
            <a:ext cx="2810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Forward Propagation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9F6524-0BD7-B24D-8052-E1E1B76598C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8150" y="5772150"/>
            <a:ext cx="1692000" cy="27843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5B8BC63-FD55-3541-A9CE-87FE4F06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40</a:t>
            </a:fld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6CC62-A1CF-D13D-0AD2-054109AB2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59203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TRAINING</a:t>
            </a:r>
            <a:br>
              <a:rPr lang="en-CL" dirty="0">
                <a:latin typeface="Gill Sans MT" panose="020B0502020104020203" pitchFamily="34" charset="77"/>
              </a:rPr>
            </a:br>
            <a:r>
              <a:rPr lang="en-CL" dirty="0">
                <a:latin typeface="Gill Sans MT" panose="020B0502020104020203" pitchFamily="34" charset="77"/>
              </a:rPr>
              <a:t>(BACK-PROPAGATION)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41</a:t>
            </a:fld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6725B-F872-ACB0-DB57-8344D083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65675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5" y="408999"/>
            <a:ext cx="1159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9BC91D-FF4F-044F-8635-B087828F91A7}"/>
              </a:ext>
            </a:extLst>
          </p:cNvPr>
          <p:cNvGrpSpPr/>
          <p:nvPr/>
        </p:nvGrpSpPr>
        <p:grpSpPr>
          <a:xfrm>
            <a:off x="2578100" y="1655642"/>
            <a:ext cx="5334000" cy="1262114"/>
            <a:chOff x="1054100" y="1655642"/>
            <a:chExt cx="5334000" cy="12621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826F276-A738-1745-9F55-BDF141128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02100" y="1655642"/>
              <a:ext cx="2286000" cy="57814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E67D0C4-12D8-E54C-8C11-ABA987F2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16400" y="2333068"/>
              <a:ext cx="2171700" cy="58468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6B0599-C469-2B49-9EE2-394D17E8F714}"/>
                </a:ext>
              </a:extLst>
            </p:cNvPr>
            <p:cNvSpPr txBox="1"/>
            <p:nvPr/>
          </p:nvSpPr>
          <p:spPr>
            <a:xfrm>
              <a:off x="1054100" y="1666944"/>
              <a:ext cx="3048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Es necesario estimar:</a:t>
              </a:r>
            </a:p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(los pesos y ‘</a:t>
              </a:r>
              <a:r>
                <a:rPr lang="es-ES_tradnl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bias</a:t>
              </a:r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’ de todas las capas)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4A0DFC5-5DE8-E94F-B849-460A5106A687}"/>
              </a:ext>
            </a:extLst>
          </p:cNvPr>
          <p:cNvGrpSpPr/>
          <p:nvPr/>
        </p:nvGrpSpPr>
        <p:grpSpPr>
          <a:xfrm>
            <a:off x="2578100" y="3879556"/>
            <a:ext cx="7493000" cy="1911644"/>
            <a:chOff x="1054100" y="3879556"/>
            <a:chExt cx="7493000" cy="191164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604C11D-5E1C-CD46-87C7-97C49D11B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4100" y="4165600"/>
              <a:ext cx="6121400" cy="16256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259EF7A-D71C-9643-8912-6E61F07F9623}"/>
                </a:ext>
              </a:extLst>
            </p:cNvPr>
            <p:cNvSpPr txBox="1"/>
            <p:nvPr/>
          </p:nvSpPr>
          <p:spPr>
            <a:xfrm>
              <a:off x="1168400" y="3879556"/>
              <a:ext cx="7378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Se minimiza entonces la Función Objetivo: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4A774E-518C-1640-B2AE-6532A6449D74}"/>
              </a:ext>
            </a:extLst>
          </p:cNvPr>
          <p:cNvGrpSpPr/>
          <p:nvPr/>
        </p:nvGrpSpPr>
        <p:grpSpPr>
          <a:xfrm>
            <a:off x="6781801" y="5315722"/>
            <a:ext cx="3551903" cy="1348795"/>
            <a:chOff x="5257800" y="5315721"/>
            <a:chExt cx="3551903" cy="134879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2D65CB6-1383-F84A-84BD-C7B6F557F94E}"/>
                </a:ext>
              </a:extLst>
            </p:cNvPr>
            <p:cNvGrpSpPr/>
            <p:nvPr/>
          </p:nvGrpSpPr>
          <p:grpSpPr>
            <a:xfrm>
              <a:off x="5257800" y="5315721"/>
              <a:ext cx="2216150" cy="1202115"/>
              <a:chOff x="5257800" y="5315721"/>
              <a:chExt cx="2216150" cy="1202115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0BC3B630-0F52-7C4F-93A9-44E2DCD2F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0600" y="5791200"/>
                <a:ext cx="1403350" cy="726636"/>
              </a:xfrm>
              <a:prstGeom prst="rect">
                <a:avLst/>
              </a:prstGeom>
            </p:spPr>
          </p:pic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7CBE9DE-7EA8-0247-BC61-C04D511ED7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57800" y="5315721"/>
                <a:ext cx="812800" cy="671269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564F9FC-793E-E34B-B1FD-78338C91F3E9}"/>
                </a:ext>
              </a:extLst>
            </p:cNvPr>
            <p:cNvSpPr/>
            <p:nvPr/>
          </p:nvSpPr>
          <p:spPr>
            <a:xfrm>
              <a:off x="7580355" y="5741186"/>
              <a:ext cx="1229348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_tradnl" dirty="0">
                  <a:solidFill>
                    <a:srgbClr val="00B0F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Ejemplo de </a:t>
              </a:r>
            </a:p>
            <a:p>
              <a:r>
                <a:rPr lang="es-ES_tradnl" dirty="0">
                  <a:solidFill>
                    <a:srgbClr val="00B0F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función de pérdida</a:t>
              </a:r>
              <a:endParaRPr lang="en-US" dirty="0">
                <a:solidFill>
                  <a:srgbClr val="00B0F0"/>
                </a:solidFill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F914AC-3D76-4D98-323A-1982AB8B8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EC961-B55D-7490-F04F-721446670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4522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BCBA81-514F-DA47-BFD9-78CE2CA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95" y="400050"/>
            <a:ext cx="4897855" cy="436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586334" y="271108"/>
            <a:ext cx="33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Minimización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usando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métodos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de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Gradiente</a:t>
            </a:r>
            <a:endParaRPr lang="en-US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36FD7-7054-9F4C-B9A9-362B5E1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56" y="149505"/>
            <a:ext cx="7620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68E9B-508D-B445-9231-4B365AF93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00" y="4679950"/>
            <a:ext cx="241300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2EA0F-11D2-404E-A17A-30FD8A4D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150" y="4476750"/>
            <a:ext cx="2413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93542-4C51-3D4C-946A-88E6444D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506" y="4009370"/>
            <a:ext cx="2955660" cy="284863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35ECC85-BDA8-4D4C-95A6-904186CF96F8}"/>
              </a:ext>
            </a:extLst>
          </p:cNvPr>
          <p:cNvGrpSpPr/>
          <p:nvPr/>
        </p:nvGrpSpPr>
        <p:grpSpPr>
          <a:xfrm>
            <a:off x="7320234" y="5236983"/>
            <a:ext cx="2463800" cy="1053844"/>
            <a:chOff x="5796234" y="5236983"/>
            <a:chExt cx="2463800" cy="1053844"/>
          </a:xfrm>
        </p:grpSpPr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BCD43876-A069-4B45-B687-A810F8B47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13992" y="5236983"/>
              <a:ext cx="1803400" cy="31750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F1CF342-0EF2-4043-8ABD-BF62D5EE9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96234" y="5643127"/>
              <a:ext cx="2463800" cy="6477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DC2C50D-8A93-6F40-9435-6EAFE178A3D9}"/>
              </a:ext>
            </a:extLst>
          </p:cNvPr>
          <p:cNvGrpSpPr/>
          <p:nvPr/>
        </p:nvGrpSpPr>
        <p:grpSpPr>
          <a:xfrm>
            <a:off x="3922895" y="4215251"/>
            <a:ext cx="5155819" cy="1366800"/>
            <a:chOff x="2398894" y="4215251"/>
            <a:chExt cx="5155819" cy="13668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139822-FF3F-7B48-A223-21621A31F92C}"/>
                </a:ext>
              </a:extLst>
            </p:cNvPr>
            <p:cNvSpPr/>
            <p:nvPr/>
          </p:nvSpPr>
          <p:spPr>
            <a:xfrm>
              <a:off x="2398894" y="4588937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463547-B491-7C47-AB70-1DCB577404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1" y="4679950"/>
              <a:ext cx="812800" cy="6712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62D30B-5C3A-DC49-B27E-333BCFBE8C78}"/>
                </a:ext>
              </a:extLst>
            </p:cNvPr>
            <p:cNvSpPr txBox="1"/>
            <p:nvPr/>
          </p:nvSpPr>
          <p:spPr>
            <a:xfrm>
              <a:off x="3384550" y="5120386"/>
              <a:ext cx="1684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Valor inicial 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B22D6B-73F8-594C-8309-A32AC1A2492C}"/>
                </a:ext>
              </a:extLst>
            </p:cNvPr>
            <p:cNvSpPr/>
            <p:nvPr/>
          </p:nvSpPr>
          <p:spPr>
            <a:xfrm>
              <a:off x="7482713" y="4215251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D39AA-F5FE-804B-A4B7-CF782B2EF8C5}"/>
              </a:ext>
            </a:extLst>
          </p:cNvPr>
          <p:cNvGrpSpPr/>
          <p:nvPr/>
        </p:nvGrpSpPr>
        <p:grpSpPr>
          <a:xfrm>
            <a:off x="3242810" y="2556902"/>
            <a:ext cx="5808959" cy="2599548"/>
            <a:chOff x="1718809" y="2556902"/>
            <a:chExt cx="5808959" cy="2599548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1D9D1E-AFD3-2B45-A3FB-FC006FD245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9692" y="4158803"/>
              <a:ext cx="868076" cy="8396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FB14DA-0DF5-6442-B076-B29DD4431162}"/>
                </a:ext>
              </a:extLst>
            </p:cNvPr>
            <p:cNvGrpSpPr/>
            <p:nvPr/>
          </p:nvGrpSpPr>
          <p:grpSpPr>
            <a:xfrm>
              <a:off x="1718809" y="2556902"/>
              <a:ext cx="5808959" cy="2599548"/>
              <a:chOff x="1718809" y="2556902"/>
              <a:chExt cx="5808959" cy="259954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EB82139-A8BA-E74E-8CC1-C5CDB8267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21584" y="2556902"/>
                <a:ext cx="606184" cy="1139171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885B2C3-4A02-CC40-A265-CBA86393CD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3949" y="4616450"/>
                <a:ext cx="540000" cy="54000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71841BC-C5E4-C843-9B82-4D14F7997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18809" y="4556212"/>
                <a:ext cx="415557" cy="3998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FAF67F-4C4B-B44D-AAE3-955DC22C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83571" y="2737828"/>
                <a:ext cx="415557" cy="399876"/>
              </a:xfrm>
              <a:prstGeom prst="rect">
                <a:avLst/>
              </a:prstGeom>
            </p:spPr>
          </p:pic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3BAE9F4-C0D6-7048-B4F9-785E98D38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7768" y="2581126"/>
                <a:ext cx="0" cy="1656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55E6A8-AECE-1E4C-B6CD-47538E6527E5}"/>
              </a:ext>
            </a:extLst>
          </p:cNvPr>
          <p:cNvGrpSpPr/>
          <p:nvPr/>
        </p:nvGrpSpPr>
        <p:grpSpPr>
          <a:xfrm>
            <a:off x="3681670" y="3011838"/>
            <a:ext cx="5155819" cy="3092954"/>
            <a:chOff x="2157669" y="3011838"/>
            <a:chExt cx="5155819" cy="30929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12CE44-F1CE-C947-886F-D6C626CE5C49}"/>
                </a:ext>
              </a:extLst>
            </p:cNvPr>
            <p:cNvSpPr/>
            <p:nvPr/>
          </p:nvSpPr>
          <p:spPr>
            <a:xfrm>
              <a:off x="2157669" y="4832176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ADA448-0DC7-3042-94D5-9F3DEEE5C129}"/>
                </a:ext>
              </a:extLst>
            </p:cNvPr>
            <p:cNvGrpSpPr/>
            <p:nvPr/>
          </p:nvGrpSpPr>
          <p:grpSpPr>
            <a:xfrm>
              <a:off x="2199178" y="3011838"/>
              <a:ext cx="5114310" cy="3092954"/>
              <a:chOff x="2199178" y="3011838"/>
              <a:chExt cx="5114310" cy="309295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874E13-9D6B-774D-A245-7DFFA9646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9178" y="4886450"/>
                <a:ext cx="1164062" cy="98751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2F5E78-330B-AE42-9A33-4EF0E61C40D5}"/>
                  </a:ext>
                </a:extLst>
              </p:cNvPr>
              <p:cNvSpPr txBox="1"/>
              <p:nvPr/>
            </p:nvSpPr>
            <p:spPr>
              <a:xfrm>
                <a:off x="3393444" y="5643127"/>
                <a:ext cx="2153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Valor siguiente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E65FAEC-C8B3-E64E-8D14-4FE6A3CDE923}"/>
                  </a:ext>
                </a:extLst>
              </p:cNvPr>
              <p:cNvSpPr/>
              <p:nvPr/>
            </p:nvSpPr>
            <p:spPr>
              <a:xfrm>
                <a:off x="7241488" y="4185985"/>
                <a:ext cx="72000" cy="72000"/>
              </a:xfrm>
              <a:prstGeom prst="ellipse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8071156-4D67-914C-B531-69EB833D4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3208" y="3011838"/>
                <a:ext cx="0" cy="1188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0C63F65-DD64-B74F-83A2-875845DD73E7}"/>
              </a:ext>
            </a:extLst>
          </p:cNvPr>
          <p:cNvSpPr txBox="1"/>
          <p:nvPr/>
        </p:nvSpPr>
        <p:spPr>
          <a:xfrm>
            <a:off x="6992951" y="6303555"/>
            <a:ext cx="32495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… iterar hasta converger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1BC01C-698E-FA46-9493-3A2865B4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43</a:t>
            </a:fld>
            <a:endParaRPr lang="es-E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9455FCA-DAE4-07EA-232A-20C37C3B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3623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BCBA81-514F-DA47-BFD9-78CE2CA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95" y="400050"/>
            <a:ext cx="4897855" cy="436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586334" y="271108"/>
            <a:ext cx="33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Minimización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usando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métodos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de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Gradiente</a:t>
            </a:r>
            <a:endParaRPr lang="en-US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36FD7-7054-9F4C-B9A9-362B5E1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56" y="149505"/>
            <a:ext cx="7620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68E9B-508D-B445-9231-4B365AF93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00" y="4679950"/>
            <a:ext cx="241300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2EA0F-11D2-404E-A17A-30FD8A4D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150" y="4476750"/>
            <a:ext cx="2413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93542-4C51-3D4C-946A-88E6444D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506" y="4009370"/>
            <a:ext cx="2955660" cy="284863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DC2C50D-8A93-6F40-9435-6EAFE178A3D9}"/>
              </a:ext>
            </a:extLst>
          </p:cNvPr>
          <p:cNvGrpSpPr/>
          <p:nvPr/>
        </p:nvGrpSpPr>
        <p:grpSpPr>
          <a:xfrm>
            <a:off x="3922895" y="4215251"/>
            <a:ext cx="5155819" cy="1366800"/>
            <a:chOff x="2398894" y="4215251"/>
            <a:chExt cx="5155819" cy="13668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139822-FF3F-7B48-A223-21621A31F92C}"/>
                </a:ext>
              </a:extLst>
            </p:cNvPr>
            <p:cNvSpPr/>
            <p:nvPr/>
          </p:nvSpPr>
          <p:spPr>
            <a:xfrm>
              <a:off x="2398894" y="4588937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463547-B491-7C47-AB70-1DCB577404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1" y="4679950"/>
              <a:ext cx="812800" cy="6712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62D30B-5C3A-DC49-B27E-333BCFBE8C78}"/>
                </a:ext>
              </a:extLst>
            </p:cNvPr>
            <p:cNvSpPr txBox="1"/>
            <p:nvPr/>
          </p:nvSpPr>
          <p:spPr>
            <a:xfrm>
              <a:off x="3384550" y="5120386"/>
              <a:ext cx="1684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Valor inicial 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B22D6B-73F8-594C-8309-A32AC1A2492C}"/>
                </a:ext>
              </a:extLst>
            </p:cNvPr>
            <p:cNvSpPr/>
            <p:nvPr/>
          </p:nvSpPr>
          <p:spPr>
            <a:xfrm>
              <a:off x="7482713" y="4215251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D39AA-F5FE-804B-A4B7-CF782B2EF8C5}"/>
              </a:ext>
            </a:extLst>
          </p:cNvPr>
          <p:cNvGrpSpPr/>
          <p:nvPr/>
        </p:nvGrpSpPr>
        <p:grpSpPr>
          <a:xfrm>
            <a:off x="3242810" y="2556902"/>
            <a:ext cx="5808959" cy="2399186"/>
            <a:chOff x="1718809" y="2556902"/>
            <a:chExt cx="5808959" cy="2399186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1D9D1E-AFD3-2B45-A3FB-FC006FD24592}"/>
                </a:ext>
              </a:extLst>
            </p:cNvPr>
            <p:cNvCxnSpPr>
              <a:cxnSpLocks/>
              <a:endCxn id="45" idx="6"/>
            </p:cNvCxnSpPr>
            <p:nvPr/>
          </p:nvCxnSpPr>
          <p:spPr>
            <a:xfrm flipH="1" flipV="1">
              <a:off x="7313488" y="4221985"/>
              <a:ext cx="214280" cy="2078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FB14DA-0DF5-6442-B076-B29DD4431162}"/>
                </a:ext>
              </a:extLst>
            </p:cNvPr>
            <p:cNvGrpSpPr/>
            <p:nvPr/>
          </p:nvGrpSpPr>
          <p:grpSpPr>
            <a:xfrm>
              <a:off x="1718809" y="2556902"/>
              <a:ext cx="5808959" cy="2399186"/>
              <a:chOff x="1718809" y="2556902"/>
              <a:chExt cx="5808959" cy="2399186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EB82139-A8BA-E74E-8CC1-C5CDB8267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83208" y="2556902"/>
                <a:ext cx="244560" cy="454936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885B2C3-4A02-CC40-A265-CBA86393CD3D}"/>
                  </a:ext>
                </a:extLst>
              </p:cNvPr>
              <p:cNvCxnSpPr>
                <a:cxnSpLocks/>
                <a:endCxn id="34" idx="7"/>
              </p:cNvCxnSpPr>
              <p:nvPr/>
            </p:nvCxnSpPr>
            <p:spPr>
              <a:xfrm flipH="1">
                <a:off x="2219125" y="4616450"/>
                <a:ext cx="224824" cy="22627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71841BC-C5E4-C843-9B82-4D14F7997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18809" y="4556212"/>
                <a:ext cx="415557" cy="3998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FAF67F-4C4B-B44D-AAE3-955DC22C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83571" y="2737828"/>
                <a:ext cx="415557" cy="399876"/>
              </a:xfrm>
              <a:prstGeom prst="rect">
                <a:avLst/>
              </a:prstGeom>
            </p:spPr>
          </p:pic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3BAE9F4-C0D6-7048-B4F9-785E98D38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7768" y="2581126"/>
                <a:ext cx="0" cy="1656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55E6A8-AECE-1E4C-B6CD-47538E6527E5}"/>
              </a:ext>
            </a:extLst>
          </p:cNvPr>
          <p:cNvGrpSpPr/>
          <p:nvPr/>
        </p:nvGrpSpPr>
        <p:grpSpPr>
          <a:xfrm>
            <a:off x="3681670" y="3011838"/>
            <a:ext cx="5155819" cy="3092954"/>
            <a:chOff x="2157669" y="3011838"/>
            <a:chExt cx="5155819" cy="30929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12CE44-F1CE-C947-886F-D6C626CE5C49}"/>
                </a:ext>
              </a:extLst>
            </p:cNvPr>
            <p:cNvSpPr/>
            <p:nvPr/>
          </p:nvSpPr>
          <p:spPr>
            <a:xfrm>
              <a:off x="2157669" y="4832176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ADA448-0DC7-3042-94D5-9F3DEEE5C129}"/>
                </a:ext>
              </a:extLst>
            </p:cNvPr>
            <p:cNvGrpSpPr/>
            <p:nvPr/>
          </p:nvGrpSpPr>
          <p:grpSpPr>
            <a:xfrm>
              <a:off x="2199178" y="3011838"/>
              <a:ext cx="5114310" cy="3092954"/>
              <a:chOff x="2199178" y="3011838"/>
              <a:chExt cx="5114310" cy="309295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874E13-9D6B-774D-A245-7DFFA9646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9178" y="4886450"/>
                <a:ext cx="1164062" cy="98751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2F5E78-330B-AE42-9A33-4EF0E61C40D5}"/>
                  </a:ext>
                </a:extLst>
              </p:cNvPr>
              <p:cNvSpPr txBox="1"/>
              <p:nvPr/>
            </p:nvSpPr>
            <p:spPr>
              <a:xfrm>
                <a:off x="3393444" y="5643127"/>
                <a:ext cx="2153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Valor siguiente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E65FAEC-C8B3-E64E-8D14-4FE6A3CDE923}"/>
                  </a:ext>
                </a:extLst>
              </p:cNvPr>
              <p:cNvSpPr/>
              <p:nvPr/>
            </p:nvSpPr>
            <p:spPr>
              <a:xfrm>
                <a:off x="7241488" y="4185985"/>
                <a:ext cx="72000" cy="72000"/>
              </a:xfrm>
              <a:prstGeom prst="ellipse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8071156-4D67-914C-B531-69EB833D4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3208" y="3011838"/>
                <a:ext cx="0" cy="1188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2776930-E2B8-DC13-0E66-2EED2B75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4D132A-6D96-C13E-AEEA-33EC6110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8265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53BCBA81-514F-DA47-BFD9-78CE2CA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095" y="400050"/>
            <a:ext cx="4897855" cy="43621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586334" y="271108"/>
            <a:ext cx="334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Minimización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usando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métodos</a:t>
            </a:r>
            <a:r>
              <a:rPr lang="en-US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 de </a:t>
            </a:r>
            <a:r>
              <a:rPr lang="en-US" sz="24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Gradiente</a:t>
            </a:r>
            <a:endParaRPr lang="en-US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BE36FD7-7054-9F4C-B9A9-362B5E114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56" y="149505"/>
            <a:ext cx="7620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C68E9B-508D-B445-9231-4B365AF93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00" y="4679950"/>
            <a:ext cx="241300" cy="27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F2EA0F-11D2-404E-A17A-30FD8A4D5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150" y="4476750"/>
            <a:ext cx="241300" cy="2794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A93542-4C51-3D4C-946A-88E6444D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2506" y="4009370"/>
            <a:ext cx="2955660" cy="284863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DC2C50D-8A93-6F40-9435-6EAFE178A3D9}"/>
              </a:ext>
            </a:extLst>
          </p:cNvPr>
          <p:cNvGrpSpPr/>
          <p:nvPr/>
        </p:nvGrpSpPr>
        <p:grpSpPr>
          <a:xfrm>
            <a:off x="3922895" y="4215251"/>
            <a:ext cx="5155819" cy="1366800"/>
            <a:chOff x="2398894" y="4215251"/>
            <a:chExt cx="5155819" cy="13668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139822-FF3F-7B48-A223-21621A31F92C}"/>
                </a:ext>
              </a:extLst>
            </p:cNvPr>
            <p:cNvSpPr/>
            <p:nvPr/>
          </p:nvSpPr>
          <p:spPr>
            <a:xfrm>
              <a:off x="2398894" y="4588937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463547-B491-7C47-AB70-1DCB577404D0}"/>
                </a:ext>
              </a:extLst>
            </p:cNvPr>
            <p:cNvCxnSpPr>
              <a:cxnSpLocks/>
            </p:cNvCxnSpPr>
            <p:nvPr/>
          </p:nvCxnSpPr>
          <p:spPr>
            <a:xfrm>
              <a:off x="2457591" y="4679950"/>
              <a:ext cx="812800" cy="671269"/>
            </a:xfrm>
            <a:prstGeom prst="line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362D30B-5C3A-DC49-B27E-333BCFBE8C78}"/>
                </a:ext>
              </a:extLst>
            </p:cNvPr>
            <p:cNvSpPr txBox="1"/>
            <p:nvPr/>
          </p:nvSpPr>
          <p:spPr>
            <a:xfrm>
              <a:off x="3384550" y="5120386"/>
              <a:ext cx="16840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Valor inicial 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B22D6B-73F8-594C-8309-A32AC1A2492C}"/>
                </a:ext>
              </a:extLst>
            </p:cNvPr>
            <p:cNvSpPr/>
            <p:nvPr/>
          </p:nvSpPr>
          <p:spPr>
            <a:xfrm>
              <a:off x="7482713" y="4215251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D39AA-F5FE-804B-A4B7-CF782B2EF8C5}"/>
              </a:ext>
            </a:extLst>
          </p:cNvPr>
          <p:cNvGrpSpPr/>
          <p:nvPr/>
        </p:nvGrpSpPr>
        <p:grpSpPr>
          <a:xfrm>
            <a:off x="3079142" y="2556902"/>
            <a:ext cx="5972627" cy="2431208"/>
            <a:chOff x="1555141" y="2556902"/>
            <a:chExt cx="5972627" cy="2431208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81D9D1E-AFD3-2B45-A3FB-FC006FD24592}"/>
                </a:ext>
              </a:extLst>
            </p:cNvPr>
            <p:cNvCxnSpPr>
              <a:cxnSpLocks/>
              <a:endCxn id="45" idx="6"/>
            </p:cNvCxnSpPr>
            <p:nvPr/>
          </p:nvCxnSpPr>
          <p:spPr>
            <a:xfrm flipH="1" flipV="1">
              <a:off x="7313488" y="4221985"/>
              <a:ext cx="214280" cy="2078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FB14DA-0DF5-6442-B076-B29DD4431162}"/>
                </a:ext>
              </a:extLst>
            </p:cNvPr>
            <p:cNvGrpSpPr/>
            <p:nvPr/>
          </p:nvGrpSpPr>
          <p:grpSpPr>
            <a:xfrm>
              <a:off x="1555141" y="2556902"/>
              <a:ext cx="5972627" cy="2431208"/>
              <a:chOff x="1555141" y="2556902"/>
              <a:chExt cx="5972627" cy="2431208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EB82139-A8BA-E74E-8CC1-C5CDB8267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83208" y="2556902"/>
                <a:ext cx="244560" cy="454936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885B2C3-4A02-CC40-A265-CBA86393CD3D}"/>
                  </a:ext>
                </a:extLst>
              </p:cNvPr>
              <p:cNvCxnSpPr>
                <a:cxnSpLocks/>
                <a:endCxn id="34" idx="7"/>
              </p:cNvCxnSpPr>
              <p:nvPr/>
            </p:nvCxnSpPr>
            <p:spPr>
              <a:xfrm flipH="1">
                <a:off x="2219125" y="4616450"/>
                <a:ext cx="224824" cy="226270"/>
              </a:xfrm>
              <a:prstGeom prst="straightConnector1">
                <a:avLst/>
              </a:prstGeom>
              <a:ln w="19050"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871841BC-C5E4-C843-9B82-4D14F7997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5141" y="4588234"/>
                <a:ext cx="415557" cy="399876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D1FAF67F-4C4B-B44D-AAE3-955DC22CD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0201" y="2880148"/>
                <a:ext cx="415557" cy="399876"/>
              </a:xfrm>
              <a:prstGeom prst="rect">
                <a:avLst/>
              </a:prstGeom>
            </p:spPr>
          </p:pic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3BAE9F4-C0D6-7048-B4F9-785E98D381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7768" y="2581126"/>
                <a:ext cx="0" cy="1656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55E6A8-AECE-1E4C-B6CD-47538E6527E5}"/>
              </a:ext>
            </a:extLst>
          </p:cNvPr>
          <p:cNvGrpSpPr/>
          <p:nvPr/>
        </p:nvGrpSpPr>
        <p:grpSpPr>
          <a:xfrm>
            <a:off x="3681670" y="3011838"/>
            <a:ext cx="5155819" cy="3092954"/>
            <a:chOff x="2157669" y="3011838"/>
            <a:chExt cx="5155819" cy="309295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712CE44-F1CE-C947-886F-D6C626CE5C49}"/>
                </a:ext>
              </a:extLst>
            </p:cNvPr>
            <p:cNvSpPr/>
            <p:nvPr/>
          </p:nvSpPr>
          <p:spPr>
            <a:xfrm>
              <a:off x="2157669" y="4832176"/>
              <a:ext cx="72000" cy="72000"/>
            </a:xfrm>
            <a:prstGeom prst="ellipse">
              <a:avLst/>
            </a:prstGeom>
            <a:solidFill>
              <a:srgbClr val="FF93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FADA448-0DC7-3042-94D5-9F3DEEE5C129}"/>
                </a:ext>
              </a:extLst>
            </p:cNvPr>
            <p:cNvGrpSpPr/>
            <p:nvPr/>
          </p:nvGrpSpPr>
          <p:grpSpPr>
            <a:xfrm>
              <a:off x="2199178" y="3011838"/>
              <a:ext cx="5114310" cy="3092954"/>
              <a:chOff x="2199178" y="3011838"/>
              <a:chExt cx="5114310" cy="309295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874E13-9D6B-774D-A245-7DFFA9646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99178" y="4886450"/>
                <a:ext cx="1164062" cy="98751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F2F5E78-330B-AE42-9A33-4EF0E61C40D5}"/>
                  </a:ext>
                </a:extLst>
              </p:cNvPr>
              <p:cNvSpPr txBox="1"/>
              <p:nvPr/>
            </p:nvSpPr>
            <p:spPr>
              <a:xfrm>
                <a:off x="3393444" y="5643127"/>
                <a:ext cx="2153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2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ill Sans MT" panose="020B0502020104020203" pitchFamily="34" charset="77"/>
                    <a:cs typeface="Calibri" panose="020F0502020204030204" pitchFamily="34" charset="0"/>
                  </a:rPr>
                  <a:t>Valor siguiente 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E65FAEC-C8B3-E64E-8D14-4FE6A3CDE923}"/>
                  </a:ext>
                </a:extLst>
              </p:cNvPr>
              <p:cNvSpPr/>
              <p:nvPr/>
            </p:nvSpPr>
            <p:spPr>
              <a:xfrm>
                <a:off x="7241488" y="4185985"/>
                <a:ext cx="72000" cy="72000"/>
              </a:xfrm>
              <a:prstGeom prst="ellipse">
                <a:avLst/>
              </a:prstGeom>
              <a:solidFill>
                <a:srgbClr val="FF93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8071156-4D67-914C-B531-69EB833D4D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83208" y="3011838"/>
                <a:ext cx="0" cy="1188000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64F319F-9099-1A41-A29E-F28A3B64423A}"/>
              </a:ext>
            </a:extLst>
          </p:cNvPr>
          <p:cNvCxnSpPr>
            <a:cxnSpLocks/>
          </p:cNvCxnSpPr>
          <p:nvPr/>
        </p:nvCxnSpPr>
        <p:spPr>
          <a:xfrm flipH="1">
            <a:off x="8556928" y="3011838"/>
            <a:ext cx="244560" cy="45493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66D2A21A-C7CE-AF4F-B419-4E5D334CBD65}"/>
              </a:ext>
            </a:extLst>
          </p:cNvPr>
          <p:cNvSpPr/>
          <p:nvPr/>
        </p:nvSpPr>
        <p:spPr>
          <a:xfrm>
            <a:off x="8523581" y="4179251"/>
            <a:ext cx="72000" cy="72000"/>
          </a:xfrm>
          <a:prstGeom prst="ellipse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3714B8-F6EE-8148-83F0-BAAFCE7A4895}"/>
              </a:ext>
            </a:extLst>
          </p:cNvPr>
          <p:cNvCxnSpPr>
            <a:cxnSpLocks/>
          </p:cNvCxnSpPr>
          <p:nvPr/>
        </p:nvCxnSpPr>
        <p:spPr>
          <a:xfrm flipV="1">
            <a:off x="8560486" y="3429000"/>
            <a:ext cx="0" cy="7920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7935BA2-91C4-F94E-A877-7AB945EAAE47}"/>
              </a:ext>
            </a:extLst>
          </p:cNvPr>
          <p:cNvCxnSpPr>
            <a:cxnSpLocks/>
            <a:stCxn id="45" idx="2"/>
          </p:cNvCxnSpPr>
          <p:nvPr/>
        </p:nvCxnSpPr>
        <p:spPr>
          <a:xfrm flipH="1" flipV="1">
            <a:off x="8587208" y="4215251"/>
            <a:ext cx="178280" cy="6734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4E32A6E-9443-5D41-B366-7256CF91E652}"/>
              </a:ext>
            </a:extLst>
          </p:cNvPr>
          <p:cNvCxnSpPr>
            <a:cxnSpLocks/>
          </p:cNvCxnSpPr>
          <p:nvPr/>
        </p:nvCxnSpPr>
        <p:spPr>
          <a:xfrm flipH="1">
            <a:off x="3495256" y="4893632"/>
            <a:ext cx="211162" cy="22627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CF598884-D2DA-9B49-8867-377384F01340}"/>
              </a:ext>
            </a:extLst>
          </p:cNvPr>
          <p:cNvSpPr/>
          <p:nvPr/>
        </p:nvSpPr>
        <p:spPr>
          <a:xfrm>
            <a:off x="3453363" y="5109106"/>
            <a:ext cx="72000" cy="72000"/>
          </a:xfrm>
          <a:prstGeom prst="ellipse">
            <a:avLst/>
          </a:prstGeom>
          <a:solidFill>
            <a:srgbClr val="FF93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7908CF4-E1EB-7642-A527-BF33D283B960}"/>
              </a:ext>
            </a:extLst>
          </p:cNvPr>
          <p:cNvCxnSpPr>
            <a:cxnSpLocks/>
          </p:cNvCxnSpPr>
          <p:nvPr/>
        </p:nvCxnSpPr>
        <p:spPr>
          <a:xfrm>
            <a:off x="3525363" y="5181106"/>
            <a:ext cx="1373182" cy="1150668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80E3D39F-0AEF-FF48-B440-9F128FB68145}"/>
              </a:ext>
            </a:extLst>
          </p:cNvPr>
          <p:cNvSpPr txBox="1"/>
          <p:nvPr/>
        </p:nvSpPr>
        <p:spPr>
          <a:xfrm>
            <a:off x="4928749" y="6100942"/>
            <a:ext cx="2153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Valor siguiente 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C7E4A43-06E2-3745-8882-48FEFAC30CB3}"/>
              </a:ext>
            </a:extLst>
          </p:cNvPr>
          <p:cNvGrpSpPr/>
          <p:nvPr/>
        </p:nvGrpSpPr>
        <p:grpSpPr>
          <a:xfrm>
            <a:off x="7320234" y="5236983"/>
            <a:ext cx="2463800" cy="1053844"/>
            <a:chOff x="5796234" y="5236983"/>
            <a:chExt cx="2463800" cy="1053844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19F2EB5-1C2A-124D-9533-3099E2CB4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13992" y="5236983"/>
              <a:ext cx="1803400" cy="317500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AF603729-9997-4240-BB21-5F8C34427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796234" y="5643127"/>
              <a:ext cx="2463800" cy="6477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6CCCDF5-595D-EB43-A138-1B2BC1C2F6C4}"/>
              </a:ext>
            </a:extLst>
          </p:cNvPr>
          <p:cNvSpPr txBox="1"/>
          <p:nvPr/>
        </p:nvSpPr>
        <p:spPr>
          <a:xfrm>
            <a:off x="6992951" y="6303555"/>
            <a:ext cx="4235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… iterar hasta converger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E0F6B-C747-8246-B6B2-2DD0C7CEEF8F}"/>
              </a:ext>
            </a:extLst>
          </p:cNvPr>
          <p:cNvGrpSpPr/>
          <p:nvPr/>
        </p:nvGrpSpPr>
        <p:grpSpPr>
          <a:xfrm>
            <a:off x="3132435" y="4215251"/>
            <a:ext cx="5391146" cy="1235058"/>
            <a:chOff x="1608435" y="4215251"/>
            <a:chExt cx="5391146" cy="1235058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C9E88872-00CA-B74F-A7B8-D9AC2131AB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8435" y="5153935"/>
              <a:ext cx="333660" cy="296374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74196E1-4F2E-104B-BCBB-D4306E9E934B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 flipH="1">
              <a:off x="5914021" y="4215251"/>
              <a:ext cx="1085560" cy="6734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746A543-9FF5-DA6D-781D-2CAE7F79B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05284F-DDF7-C612-D8F5-ED53100F5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173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620DDA-D05B-DF48-9404-ECB46CF89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28643"/>
            <a:ext cx="2286000" cy="5781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16842E-B522-384E-AE55-4D8A09851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206068"/>
            <a:ext cx="2171700" cy="5846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9C4FBB-30FB-0244-9774-5E8B6E5CA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050" y="3429000"/>
            <a:ext cx="4533900" cy="73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E1499C-777E-D84E-811E-CF979B00FB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9050" y="4241800"/>
            <a:ext cx="3949700" cy="6858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9BE4A46-1D62-5542-A60A-79D13A527F57}"/>
              </a:ext>
            </a:extLst>
          </p:cNvPr>
          <p:cNvSpPr txBox="1"/>
          <p:nvPr/>
        </p:nvSpPr>
        <p:spPr>
          <a:xfrm>
            <a:off x="2787650" y="1571695"/>
            <a:ext cx="4025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1. Inicio de los parámetros con valores aleatorios: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E838566-E669-9843-9D1B-9B07C5D97D95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C336A-3E20-EE4D-98E0-AFF673A5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46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9D14C-5DB0-3C8A-B848-28675387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068583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6ECE29-3119-3647-BCA3-7D6B08219B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37"/>
          <a:stretch/>
        </p:blipFill>
        <p:spPr>
          <a:xfrm>
            <a:off x="3613150" y="3983164"/>
            <a:ext cx="4965700" cy="265548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4F4221B-CF33-AD44-8C9F-F925348FB0AC}"/>
              </a:ext>
            </a:extLst>
          </p:cNvPr>
          <p:cNvGrpSpPr/>
          <p:nvPr/>
        </p:nvGrpSpPr>
        <p:grpSpPr>
          <a:xfrm>
            <a:off x="2790442" y="1586584"/>
            <a:ext cx="5572019" cy="2396581"/>
            <a:chOff x="1723641" y="4052421"/>
            <a:chExt cx="5572019" cy="239658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16B0599-C469-2B49-9EE2-394D17E8F714}"/>
                </a:ext>
              </a:extLst>
            </p:cNvPr>
            <p:cNvSpPr txBox="1"/>
            <p:nvPr/>
          </p:nvSpPr>
          <p:spPr>
            <a:xfrm>
              <a:off x="1723641" y="4052421"/>
              <a:ext cx="55720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2. Forward </a:t>
              </a:r>
              <a:r>
                <a:rPr lang="es-ES_tradnl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Propagation</a:t>
              </a:r>
              <a:r>
                <a:rPr lang="es-ES_tradnl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 para cada muestra: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06E036C-206A-B847-8094-51356228F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69311" y="4454277"/>
              <a:ext cx="3675185" cy="10477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EE174C-B6D8-D74B-BE96-8BA1DE169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60026" y="5390802"/>
              <a:ext cx="1816100" cy="6985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D347390-FEE7-184E-BB60-5D0CD13A3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53463" y="6283902"/>
              <a:ext cx="914400" cy="165100"/>
            </a:xfrm>
            <a:prstGeom prst="rect">
              <a:avLst/>
            </a:prstGeom>
          </p:spPr>
        </p:pic>
      </p:grpSp>
      <p:sp>
        <p:nvSpPr>
          <p:cNvPr id="11" name="Striped Right Arrow 10">
            <a:extLst>
              <a:ext uri="{FF2B5EF4-FFF2-40B4-BE49-F238E27FC236}">
                <a16:creationId xmlns:a16="http://schemas.microsoft.com/office/drawing/2014/main" id="{B323B5F7-2FC3-E34A-A453-88023665ED8F}"/>
              </a:ext>
            </a:extLst>
          </p:cNvPr>
          <p:cNvSpPr/>
          <p:nvPr/>
        </p:nvSpPr>
        <p:spPr>
          <a:xfrm>
            <a:off x="5339514" y="4920380"/>
            <a:ext cx="1785187" cy="781050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70EAB8-2B7B-5544-9988-B6EBCC3EFA01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48C3AD-7DC6-6644-B4EB-43FA6511FB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0300" y="4165600"/>
            <a:ext cx="1003300" cy="1651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EC77C-E144-5041-B7EB-CA9DA1C1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47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CFFF5-E854-39C7-0CFF-94545BCC7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364966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B0599-C469-2B49-9EE2-394D17E8F714}"/>
              </a:ext>
            </a:extLst>
          </p:cNvPr>
          <p:cNvSpPr txBox="1"/>
          <p:nvPr/>
        </p:nvSpPr>
        <p:spPr>
          <a:xfrm>
            <a:off x="2790442" y="1586584"/>
            <a:ext cx="5572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3. Cálculo de las derivadas parciales: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F95CF8-59B2-0F4F-8379-4007CC3CC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536" y="2604790"/>
            <a:ext cx="5290736" cy="141605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503A7-2ECE-11A3-582A-F2239A60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840FF2-186B-B290-D85D-97D491C3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427558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B0599-C469-2B49-9EE2-394D17E8F714}"/>
              </a:ext>
            </a:extLst>
          </p:cNvPr>
          <p:cNvSpPr txBox="1"/>
          <p:nvPr/>
        </p:nvSpPr>
        <p:spPr>
          <a:xfrm>
            <a:off x="2790442" y="1586584"/>
            <a:ext cx="5572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4. Actualización de los parámetros usando un ‘</a:t>
            </a:r>
            <a:r>
              <a:rPr lang="es-ES_tradn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learning</a:t>
            </a:r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 </a:t>
            </a:r>
            <a:r>
              <a:rPr lang="es-ES_tradn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rate</a:t>
            </a:r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’   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6A1A91-D22D-E745-A0A7-CB5EA6638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3060700"/>
            <a:ext cx="5753100" cy="736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78FC21-B989-AA47-9B9F-F3771D625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2139950"/>
            <a:ext cx="190500" cy="1397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8BD15D4-C897-D94F-9374-120E595BA87D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398CD5-2D45-69F9-44C7-FCF60E69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2207C-CC77-6CCB-0695-C26F7171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179499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6" y="408999"/>
            <a:ext cx="37662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Algoritmo de Entrenamiento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6B0599-C469-2B49-9EE2-394D17E8F714}"/>
              </a:ext>
            </a:extLst>
          </p:cNvPr>
          <p:cNvSpPr txBox="1"/>
          <p:nvPr/>
        </p:nvSpPr>
        <p:spPr>
          <a:xfrm>
            <a:off x="2790442" y="1586584"/>
            <a:ext cx="6067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5. Repetir desde el paso  2  hasta converger: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21E1BC-1B33-6441-9163-005C2179A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3028950"/>
            <a:ext cx="4381500" cy="8001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14AB396-F7CA-5F40-B573-DDA551018CD1}"/>
              </a:ext>
            </a:extLst>
          </p:cNvPr>
          <p:cNvSpPr/>
          <p:nvPr/>
        </p:nvSpPr>
        <p:spPr>
          <a:xfrm>
            <a:off x="2743200" y="160563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471EAD-C0A6-9646-A4A1-EAEA39E69421}"/>
              </a:ext>
            </a:extLst>
          </p:cNvPr>
          <p:cNvSpPr/>
          <p:nvPr/>
        </p:nvSpPr>
        <p:spPr>
          <a:xfrm>
            <a:off x="5848350" y="16246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AC56AF-418C-8D4A-A80B-0854FFE29C64}"/>
              </a:ext>
            </a:extLst>
          </p:cNvPr>
          <p:cNvSpPr txBox="1"/>
          <p:nvPr/>
        </p:nvSpPr>
        <p:spPr>
          <a:xfrm>
            <a:off x="1765300" y="5219052"/>
            <a:ext cx="325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dirty="0">
                <a:solidFill>
                  <a:srgbClr val="FF9300"/>
                </a:solidFill>
                <a:latin typeface="Gill Sans MT" panose="020B0502020104020203" pitchFamily="34" charset="77"/>
                <a:cs typeface="Calibri" panose="020F0502020204030204" pitchFamily="34" charset="0"/>
              </a:rPr>
              <a:t>Eso es “todo” !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7F4B8-5CA1-5A99-6684-4CA01439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FB614C-455A-205A-CCC1-573FCADC5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40254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5" y="408999"/>
            <a:ext cx="6847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¿Cómo se calculan las derivadas parciales? </a:t>
            </a:r>
            <a:r>
              <a:rPr lang="es-ES_tradnl" sz="2400" dirty="0">
                <a:latin typeface="Gill Sans MT" panose="020B0502020104020203" pitchFamily="34" charset="77"/>
              </a:rPr>
              <a:t>del paso 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5079F-4901-6A4B-9968-1B062EBA2A2A}"/>
              </a:ext>
            </a:extLst>
          </p:cNvPr>
          <p:cNvSpPr/>
          <p:nvPr/>
        </p:nvSpPr>
        <p:spPr>
          <a:xfrm>
            <a:off x="8159596" y="4435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CB6C9-BB9E-9F45-A0AF-3106AA1FB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017" y="1132804"/>
            <a:ext cx="5201565" cy="274404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C5A0779-9588-9844-B545-D99D471C8587}"/>
              </a:ext>
            </a:extLst>
          </p:cNvPr>
          <p:cNvGrpSpPr/>
          <p:nvPr/>
        </p:nvGrpSpPr>
        <p:grpSpPr>
          <a:xfrm>
            <a:off x="2790441" y="3793388"/>
            <a:ext cx="7709740" cy="1489680"/>
            <a:chOff x="1266441" y="4917338"/>
            <a:chExt cx="7709740" cy="148968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6797654-4F3E-F147-8EF8-3E06EC541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441" y="4917338"/>
              <a:ext cx="3991433" cy="148968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D163B65-C582-D24A-8786-EE7E651BA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53581" y="5924418"/>
              <a:ext cx="2260600" cy="482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4A18EF4-F6B8-324B-93F4-3B7AB4706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53581" y="5155095"/>
              <a:ext cx="3022600" cy="5207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A6AAA18-7586-C24D-9DCA-75A0DED4F07A}"/>
              </a:ext>
            </a:extLst>
          </p:cNvPr>
          <p:cNvGrpSpPr/>
          <p:nvPr/>
        </p:nvGrpSpPr>
        <p:grpSpPr>
          <a:xfrm>
            <a:off x="4405158" y="3910683"/>
            <a:ext cx="1652743" cy="1837935"/>
            <a:chOff x="2881157" y="5034632"/>
            <a:chExt cx="1652743" cy="183793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A0CF67-AEF3-E746-AB62-5CC41967C4B2}"/>
                </a:ext>
              </a:extLst>
            </p:cNvPr>
            <p:cNvSpPr/>
            <p:nvPr/>
          </p:nvSpPr>
          <p:spPr>
            <a:xfrm>
              <a:off x="3448050" y="5034632"/>
              <a:ext cx="533400" cy="1061367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B57F82-3438-BA46-AC5E-41E09FC191FD}"/>
                </a:ext>
              </a:extLst>
            </p:cNvPr>
            <p:cNvSpPr/>
            <p:nvPr/>
          </p:nvSpPr>
          <p:spPr>
            <a:xfrm>
              <a:off x="2881157" y="6226236"/>
              <a:ext cx="165274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rgbClr val="00B0F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Necesario para los cálculos</a:t>
              </a:r>
              <a:endParaRPr lang="en-US" dirty="0">
                <a:solidFill>
                  <a:srgbClr val="00B0F0"/>
                </a:solidFill>
                <a:latin typeface="Gill Sans MT" panose="020B0502020104020203" pitchFamily="34" charset="77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EA8DECD-75F2-3091-C303-1AA038E10A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493" y="1401624"/>
            <a:ext cx="2292815" cy="118855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6EBBA7-63D8-3B83-9560-0A779163CEA9}"/>
              </a:ext>
            </a:extLst>
          </p:cNvPr>
          <p:cNvSpPr txBox="1"/>
          <p:nvPr/>
        </p:nvSpPr>
        <p:spPr>
          <a:xfrm>
            <a:off x="7841535" y="1070013"/>
            <a:ext cx="12869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NO OLVIDAR: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6BE113-4803-E9A5-0A3B-3E7F3FE8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DF89E7-BF3E-0A9E-3AE7-46856E7A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0752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30E7C90-F449-1443-83EE-ECF30AB89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328" y="1374705"/>
            <a:ext cx="609600" cy="1041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5" y="408999"/>
            <a:ext cx="6847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¿Cómo se calculan las derivadas parciales? </a:t>
            </a:r>
            <a:r>
              <a:rPr lang="es-ES_tradnl" sz="2400" dirty="0">
                <a:latin typeface="Gill Sans MT" panose="020B0502020104020203" pitchFamily="34" charset="77"/>
              </a:rPr>
              <a:t>del paso 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6AAA18-7586-C24D-9DCA-75A0DED4F07A}"/>
              </a:ext>
            </a:extLst>
          </p:cNvPr>
          <p:cNvGrpSpPr/>
          <p:nvPr/>
        </p:nvGrpSpPr>
        <p:grpSpPr>
          <a:xfrm>
            <a:off x="2642429" y="1325903"/>
            <a:ext cx="2420265" cy="1061367"/>
            <a:chOff x="3448050" y="5034632"/>
            <a:chExt cx="2420265" cy="106136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A0CF67-AEF3-E746-AB62-5CC41967C4B2}"/>
                </a:ext>
              </a:extLst>
            </p:cNvPr>
            <p:cNvSpPr/>
            <p:nvPr/>
          </p:nvSpPr>
          <p:spPr>
            <a:xfrm>
              <a:off x="3448050" y="5034632"/>
              <a:ext cx="533400" cy="1061367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B57F82-3438-BA46-AC5E-41E09FC191FD}"/>
                </a:ext>
              </a:extLst>
            </p:cNvPr>
            <p:cNvSpPr/>
            <p:nvPr/>
          </p:nvSpPr>
          <p:spPr>
            <a:xfrm>
              <a:off x="4215572" y="5280969"/>
              <a:ext cx="165274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_tradnl" dirty="0">
                  <a:solidFill>
                    <a:srgbClr val="00B0F0"/>
                  </a:solidFill>
                  <a:latin typeface="Gill Sans MT" panose="020B0502020104020203" pitchFamily="34" charset="77"/>
                  <a:cs typeface="Calibri" panose="020F0502020204030204" pitchFamily="34" charset="0"/>
                </a:rPr>
                <a:t>Necesario para los cálculos</a:t>
              </a:r>
              <a:endParaRPr lang="en-US" dirty="0">
                <a:solidFill>
                  <a:srgbClr val="00B0F0"/>
                </a:solidFill>
                <a:latin typeface="Gill Sans MT" panose="020B0502020104020203" pitchFamily="34" charset="77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764B16-8FFF-1046-9B6D-2C5073A8F662}"/>
              </a:ext>
            </a:extLst>
          </p:cNvPr>
          <p:cNvGrpSpPr/>
          <p:nvPr/>
        </p:nvGrpSpPr>
        <p:grpSpPr>
          <a:xfrm>
            <a:off x="2476500" y="2710533"/>
            <a:ext cx="7200900" cy="1264321"/>
            <a:chOff x="933450" y="3091532"/>
            <a:chExt cx="7200900" cy="1264321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D4F49E-71DF-384A-B05B-9C148485E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0" y="3098553"/>
              <a:ext cx="7124700" cy="1257300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7D7F594-9512-7740-B31F-7BEC5882AFBC}"/>
                </a:ext>
              </a:extLst>
            </p:cNvPr>
            <p:cNvSpPr/>
            <p:nvPr/>
          </p:nvSpPr>
          <p:spPr>
            <a:xfrm>
              <a:off x="933450" y="3091532"/>
              <a:ext cx="838200" cy="125730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4DAF39-65B6-3E41-B896-ED2C79C102B3}"/>
              </a:ext>
            </a:extLst>
          </p:cNvPr>
          <p:cNvGrpSpPr/>
          <p:nvPr/>
        </p:nvGrpSpPr>
        <p:grpSpPr>
          <a:xfrm>
            <a:off x="2314191" y="4011747"/>
            <a:ext cx="4978400" cy="2377270"/>
            <a:chOff x="790191" y="4126047"/>
            <a:chExt cx="4978400" cy="23772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AC10686-38B4-2140-AA3C-640E18D15A78}"/>
                </a:ext>
              </a:extLst>
            </p:cNvPr>
            <p:cNvGrpSpPr/>
            <p:nvPr/>
          </p:nvGrpSpPr>
          <p:grpSpPr>
            <a:xfrm>
              <a:off x="790191" y="4762500"/>
              <a:ext cx="4978400" cy="1740817"/>
              <a:chOff x="828291" y="5086350"/>
              <a:chExt cx="4978400" cy="1740817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5BE3BB4-B9AE-6A45-8404-8A48498B0B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291" y="5277767"/>
                <a:ext cx="4978400" cy="1549400"/>
              </a:xfrm>
              <a:prstGeom prst="rect">
                <a:avLst/>
              </a:prstGeom>
            </p:spPr>
          </p:pic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151992D-EDC1-564A-822E-3CC84725C63B}"/>
                  </a:ext>
                </a:extLst>
              </p:cNvPr>
              <p:cNvSpPr/>
              <p:nvPr/>
            </p:nvSpPr>
            <p:spPr>
              <a:xfrm>
                <a:off x="853200" y="5086350"/>
                <a:ext cx="1032750" cy="1416049"/>
              </a:xfrm>
              <a:prstGeom prst="ellipse">
                <a:avLst/>
              </a:prstGeom>
              <a:noFill/>
              <a:ln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17ABEB4-53B9-0348-91E5-386DB9CF8E83}"/>
                </a:ext>
              </a:extLst>
            </p:cNvPr>
            <p:cNvCxnSpPr>
              <a:cxnSpLocks/>
            </p:cNvCxnSpPr>
            <p:nvPr/>
          </p:nvCxnSpPr>
          <p:spPr>
            <a:xfrm>
              <a:off x="1353404" y="4126047"/>
              <a:ext cx="0" cy="61200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566FFB-E2E4-0144-B4D0-08CA60E97291}"/>
              </a:ext>
            </a:extLst>
          </p:cNvPr>
          <p:cNvCxnSpPr>
            <a:cxnSpLocks/>
          </p:cNvCxnSpPr>
          <p:nvPr/>
        </p:nvCxnSpPr>
        <p:spPr>
          <a:xfrm>
            <a:off x="2877404" y="6031047"/>
            <a:ext cx="0" cy="612000"/>
          </a:xfrm>
          <a:prstGeom prst="straightConnector1">
            <a:avLst/>
          </a:prstGeom>
          <a:ln w="19050"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0EF50F4C-CAEE-F5E0-39D5-69F2016CCC66}"/>
              </a:ext>
            </a:extLst>
          </p:cNvPr>
          <p:cNvSpPr/>
          <p:nvPr/>
        </p:nvSpPr>
        <p:spPr>
          <a:xfrm>
            <a:off x="8159596" y="4435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DDEA7-BDD6-21FB-51C1-7251E6DD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E70E2-FB57-3029-FF7B-0B996E1B8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2300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1827885" y="408999"/>
            <a:ext cx="6847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¿Cómo se calculan las derivadas parciales? </a:t>
            </a:r>
            <a:r>
              <a:rPr lang="es-ES_tradnl" sz="2400" dirty="0">
                <a:latin typeface="Gill Sans MT" panose="020B0502020104020203" pitchFamily="34" charset="77"/>
              </a:rPr>
              <a:t>del paso 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B1E2E3-AFD7-D046-9A89-D497F29B0263}"/>
              </a:ext>
            </a:extLst>
          </p:cNvPr>
          <p:cNvGrpSpPr/>
          <p:nvPr/>
        </p:nvGrpSpPr>
        <p:grpSpPr>
          <a:xfrm>
            <a:off x="2799633" y="2058982"/>
            <a:ext cx="6635648" cy="1692000"/>
            <a:chOff x="1275633" y="2058982"/>
            <a:chExt cx="6635648" cy="1692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82D619E-BB64-BD40-9A4F-5D0DD7CA7F15}"/>
                </a:ext>
              </a:extLst>
            </p:cNvPr>
            <p:cNvSpPr/>
            <p:nvPr/>
          </p:nvSpPr>
          <p:spPr>
            <a:xfrm>
              <a:off x="3785100" y="2058982"/>
              <a:ext cx="1692000" cy="169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2043670-C9BD-5B42-B369-62930C803A28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 flipV="1">
              <a:off x="2886834" y="2904982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A832E96-62EE-AB41-8B73-9636EBC99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1497" y="2906909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733248FB-D06F-AC47-94C9-63A9C3A85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84629" y="2838693"/>
              <a:ext cx="215900" cy="1524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8DF99481-7C07-BD43-A763-320F1FDF5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49735" y="2827118"/>
              <a:ext cx="444500" cy="1524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B9F00F6-85BC-274A-B3BA-570939DDE725}"/>
                </a:ext>
              </a:extLst>
            </p:cNvPr>
            <p:cNvSpPr txBox="1"/>
            <p:nvPr/>
          </p:nvSpPr>
          <p:spPr>
            <a:xfrm>
              <a:off x="3967646" y="2233166"/>
              <a:ext cx="1292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cs typeface="Arial" panose="020B0604020202020204" pitchFamily="34" charset="0"/>
                </a:rPr>
                <a:t>Forward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  <a:cs typeface="Arial" panose="020B0604020202020204" pitchFamily="34" charset="0"/>
                </a:rPr>
                <a:t>Propagation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BC05F3A-5E1D-E042-8934-EE4CD9609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08066" y="3078499"/>
              <a:ext cx="368300" cy="2032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74AE22BA-C0A9-BB48-AB6C-57ABD2733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4057" y="3078499"/>
              <a:ext cx="241300" cy="203200"/>
            </a:xfrm>
            <a:prstGeom prst="rect">
              <a:avLst/>
            </a:prstGeom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D12E23B-7A54-BB4A-98DD-916CDC329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1281" y="2908834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203580F-A075-084E-9BAF-FEBE8155F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5633" y="2904979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E9F4284-F540-A448-AC93-D0D6B20F54BF}"/>
              </a:ext>
            </a:extLst>
          </p:cNvPr>
          <p:cNvGrpSpPr/>
          <p:nvPr/>
        </p:nvGrpSpPr>
        <p:grpSpPr>
          <a:xfrm>
            <a:off x="2616365" y="4467143"/>
            <a:ext cx="6809273" cy="1692000"/>
            <a:chOff x="1092364" y="4467143"/>
            <a:chExt cx="6809273" cy="1692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4DD27E0-D118-F044-9FFD-A6753762465E}"/>
                </a:ext>
              </a:extLst>
            </p:cNvPr>
            <p:cNvSpPr/>
            <p:nvPr/>
          </p:nvSpPr>
          <p:spPr>
            <a:xfrm>
              <a:off x="3785100" y="4467143"/>
              <a:ext cx="1692000" cy="1692000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BFCAEFC-F6B9-B045-9BA9-D8A3B476F5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86834" y="5313143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4642C65-D180-4542-81BB-D97285A19F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1497" y="5315070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FDDE560-E5D5-DA44-88EE-AE00B6F8C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00272" y="5036257"/>
              <a:ext cx="393700" cy="520700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3B6B97B-F9F6-994B-84E4-450C4B8EA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98800" y="5047608"/>
              <a:ext cx="622300" cy="520700"/>
            </a:xfrm>
            <a:prstGeom prst="rect">
              <a:avLst/>
            </a:prstGeom>
          </p:spPr>
        </p:pic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BBE4070-4243-AC4E-AC62-9DD3D13BB7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01637" y="5321193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B36622F-0CE1-7F4A-BE8A-5FEFAB9AB6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2364" y="5317338"/>
              <a:ext cx="900000" cy="0"/>
            </a:xfrm>
            <a:prstGeom prst="straightConnector1">
              <a:avLst/>
            </a:prstGeom>
            <a:ln w="19050">
              <a:solidFill>
                <a:srgbClr val="0000FF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291968E-B1AC-7F4D-9BF2-BDC4BE60B214}"/>
              </a:ext>
            </a:extLst>
          </p:cNvPr>
          <p:cNvGrpSpPr/>
          <p:nvPr/>
        </p:nvGrpSpPr>
        <p:grpSpPr>
          <a:xfrm>
            <a:off x="5587433" y="1549446"/>
            <a:ext cx="945992" cy="369332"/>
            <a:chOff x="4063433" y="1549446"/>
            <a:chExt cx="945992" cy="36933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14D2C0-5D83-EF42-9292-21EF60D1A731}"/>
                </a:ext>
              </a:extLst>
            </p:cNvPr>
            <p:cNvSpPr txBox="1"/>
            <p:nvPr/>
          </p:nvSpPr>
          <p:spPr>
            <a:xfrm>
              <a:off x="4063433" y="1549446"/>
              <a:ext cx="749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cs typeface="Arial" panose="020B0604020202020204" pitchFamily="34" charset="0"/>
                </a:rPr>
                <a:t>Layer 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7641708D-E73F-6F44-A1C7-37B78EF75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57025" y="1631380"/>
              <a:ext cx="152400" cy="2286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F2C0ED7-2178-7142-B964-542AE6F4A8E4}"/>
              </a:ext>
            </a:extLst>
          </p:cNvPr>
          <p:cNvGrpSpPr/>
          <p:nvPr/>
        </p:nvGrpSpPr>
        <p:grpSpPr>
          <a:xfrm>
            <a:off x="5150774" y="3707758"/>
            <a:ext cx="1960544" cy="828004"/>
            <a:chOff x="3626774" y="3707758"/>
            <a:chExt cx="1960544" cy="828004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ECDF8BF-4CFB-EA40-9F28-AC6D865C0B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7725" y="3707758"/>
              <a:ext cx="0" cy="82800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F7BEE794-084D-BD4F-8C12-7162342A33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0829" y="3707762"/>
              <a:ext cx="0" cy="82800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F75BB62-1AB9-B044-9CC1-A176AFED0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26774" y="4125375"/>
              <a:ext cx="558800" cy="2159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869C51B-9423-704D-9B80-27E29639E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55518" y="4095223"/>
              <a:ext cx="431800" cy="215900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DA7F212-380C-4E46-8E7C-254C7A65F993}"/>
              </a:ext>
            </a:extLst>
          </p:cNvPr>
          <p:cNvSpPr txBox="1"/>
          <p:nvPr/>
        </p:nvSpPr>
        <p:spPr>
          <a:xfrm>
            <a:off x="5518641" y="4973442"/>
            <a:ext cx="1292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Backward</a:t>
            </a:r>
          </a:p>
          <a:p>
            <a:pPr algn="ctr"/>
            <a:r>
              <a:rPr lang="en-US" dirty="0">
                <a:latin typeface="Gill Sans MT" panose="020B0502020104020203" pitchFamily="34" charset="77"/>
                <a:cs typeface="Arial" panose="020B0604020202020204" pitchFamily="34" charset="0"/>
              </a:rPr>
              <a:t>Propagation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1D33F75-0AF9-2B24-7988-B82C0FE5EF88}"/>
              </a:ext>
            </a:extLst>
          </p:cNvPr>
          <p:cNvSpPr/>
          <p:nvPr/>
        </p:nvSpPr>
        <p:spPr>
          <a:xfrm>
            <a:off x="8159596" y="443583"/>
            <a:ext cx="396000" cy="396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410F9635-CD03-9611-E10F-9D98BF6236EC}"/>
              </a:ext>
            </a:extLst>
          </p:cNvPr>
          <p:cNvSpPr/>
          <p:nvPr/>
        </p:nvSpPr>
        <p:spPr>
          <a:xfrm>
            <a:off x="9425638" y="2903318"/>
            <a:ext cx="1984478" cy="2417870"/>
          </a:xfrm>
          <a:prstGeom prst="arc">
            <a:avLst>
              <a:gd name="adj1" fmla="val 16200000"/>
              <a:gd name="adj2" fmla="val 5239687"/>
            </a:avLst>
          </a:prstGeom>
          <a:ln>
            <a:solidFill>
              <a:srgbClr val="0432FF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16A7FFFE-7772-8B13-BDD3-948448E89F4B}"/>
              </a:ext>
            </a:extLst>
          </p:cNvPr>
          <p:cNvSpPr/>
          <p:nvPr/>
        </p:nvSpPr>
        <p:spPr>
          <a:xfrm rot="10800000">
            <a:off x="599683" y="2914893"/>
            <a:ext cx="1984478" cy="2417870"/>
          </a:xfrm>
          <a:prstGeom prst="arc">
            <a:avLst>
              <a:gd name="adj1" fmla="val 16200000"/>
              <a:gd name="adj2" fmla="val 5239687"/>
            </a:avLst>
          </a:prstGeom>
          <a:ln>
            <a:solidFill>
              <a:srgbClr val="0432FF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EEF4FFD-BEED-8C9F-351C-9B99BF03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820437-1732-781A-1D0E-3AFCAE3CC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6628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97EDD57-6286-3A49-B7A0-4DF495AE15E5}"/>
              </a:ext>
            </a:extLst>
          </p:cNvPr>
          <p:cNvSpPr txBox="1"/>
          <p:nvPr/>
        </p:nvSpPr>
        <p:spPr>
          <a:xfrm>
            <a:off x="4697210" y="3198168"/>
            <a:ext cx="24502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Eso es “TODO” !!</a:t>
            </a:r>
          </a:p>
          <a:p>
            <a:pPr algn="ctr"/>
            <a:endParaRPr lang="es-ES_tradnl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  <a:p>
            <a:pPr algn="ctr"/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Ahora sí </a:t>
            </a:r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  <a:sym typeface="Wingdings" pitchFamily="2" charset="2"/>
              </a:rPr>
              <a:t></a:t>
            </a:r>
            <a:endParaRPr lang="es-ES_tradnl" sz="24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FC47C-3FA3-A74C-8F44-38F5BDBC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54</a:t>
            </a:fld>
            <a:endParaRPr lang="es-E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E9B583-490D-19FC-559B-DDC73496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364927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5CBA-7049-19A3-B392-5F6830F7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857500"/>
            <a:ext cx="8229600" cy="1143000"/>
          </a:xfrm>
        </p:spPr>
        <p:txBody>
          <a:bodyPr/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EJEMPLOS &gt; GitHub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85DA5-B5A7-E291-34E3-0163AF111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55</a:t>
            </a:fld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8B8EC9-81AC-13CB-5213-0F7DF698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PR04B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408639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ural_network.mp4" descr="neural_network.mp4">
            <a:hlinkClick r:id="" action="ppaction://media"/>
            <a:extLst>
              <a:ext uri="{FF2B5EF4-FFF2-40B4-BE49-F238E27FC236}">
                <a16:creationId xmlns:a16="http://schemas.microsoft.com/office/drawing/2014/main" id="{224E6A6A-1B9C-FE2F-5602-B889C03B076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88559" y="846161"/>
            <a:ext cx="9202743" cy="51725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7F2BD-216E-E09B-5EB6-BC7D8DDA0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997E989-D798-4C62-8E93-3D2D613C2488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31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57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1267</Words>
  <Application>Microsoft Macintosh PowerPoint</Application>
  <PresentationFormat>Widescreen</PresentationFormat>
  <Paragraphs>294</Paragraphs>
  <Slides>56</Slides>
  <Notes>1</Notes>
  <HiddenSlides>2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Aptos Display</vt:lpstr>
      <vt:lpstr>Arial</vt:lpstr>
      <vt:lpstr>Courier</vt:lpstr>
      <vt:lpstr>Gill Sans MT</vt:lpstr>
      <vt:lpstr>Segoe UI Black</vt:lpstr>
      <vt:lpstr>Segoe UI Semibold</vt:lpstr>
      <vt:lpstr>Segoe UI Semilight</vt:lpstr>
      <vt:lpstr>Office Theme</vt:lpstr>
      <vt:lpstr>PowerPoint Presentation</vt:lpstr>
      <vt:lpstr>INTRODUCCIÓN</vt:lpstr>
      <vt:lpstr>INTRODUCCIÓN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LOGISTIC REGRESSION (creando funciones)</vt:lpstr>
      <vt:lpstr>PowerPoint Presentation</vt:lpstr>
      <vt:lpstr>PowerPoint Presentation</vt:lpstr>
      <vt:lpstr>ESTRUCTURA DE  UNA RED NEURONAL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FORWARD PROPAGATION</vt:lpstr>
      <vt:lpstr>PowerPoint Presentation</vt:lpstr>
      <vt:lpstr>PowerPoint Presentation</vt:lpstr>
      <vt:lpstr>PowerPoint Presentation</vt:lpstr>
      <vt:lpstr>PowerPoint Presentation</vt:lpstr>
      <vt:lpstr>TRAINING (BACK-PROPAGATION)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EJEMPLOS &gt; GitHub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20</cp:revision>
  <dcterms:created xsi:type="dcterms:W3CDTF">2026-03-08T16:41:49Z</dcterms:created>
  <dcterms:modified xsi:type="dcterms:W3CDTF">2026-10-18T23:40:43Z</dcterms:modified>
</cp:coreProperties>
</file>